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1aa12451e746d2" /><Relationship Type="http://schemas.openxmlformats.org/officeDocument/2006/relationships/extended-properties" Target="/docProps/app.xml" Id="R869fc90805c84a22" /><Relationship Type="http://schemas.openxmlformats.org/officeDocument/2006/relationships/officeDocument" Target="/ppt/presentation.xml" Id="Rdedd003eeced4fff" /></Relationships>
</file>

<file path=ppt/presentation.xml><?xml version="1.0" encoding="utf-8"?>
<p:presentation xmlns:p="http://schemas.openxmlformats.org/presentationml/2006/main">
  <p:sldMasterIdLst>
    <p:sldMasterId xmlns:r="http://schemas.openxmlformats.org/officeDocument/2006/relationships" id="2147483648" r:id="Rdde57a7945424f7f"/>
  </p:sldMasterIdLst>
  <p:notesMasterIdLst>
    <p:notesMasterId xmlns:r="http://schemas.openxmlformats.org/officeDocument/2006/relationships" r:id="R923eacf128004620"/>
  </p:notesMasterIdLst>
  <p:sldIdLst>
    <p:sldId xmlns:r="http://schemas.openxmlformats.org/officeDocument/2006/relationships" id="256" r:id="R93f566ab15db42be"/>
    <p:sldId xmlns:r="http://schemas.openxmlformats.org/officeDocument/2006/relationships" id="257" r:id="R86506fb0069c41d9"/>
    <p:sldId xmlns:r="http://schemas.openxmlformats.org/officeDocument/2006/relationships" id="258" r:id="R3394e9f9e6464f88"/>
    <p:sldId xmlns:r="http://schemas.openxmlformats.org/officeDocument/2006/relationships" id="259" r:id="R7d0a1fd1d55942e5"/>
    <p:sldId xmlns:r="http://schemas.openxmlformats.org/officeDocument/2006/relationships" id="260" r:id="Rddf5009658d246cb"/>
    <p:sldId xmlns:r="http://schemas.openxmlformats.org/officeDocument/2006/relationships" id="261" r:id="R1d28e0d5b8894291"/>
    <p:sldId xmlns:r="http://schemas.openxmlformats.org/officeDocument/2006/relationships" id="262" r:id="R009b66b562ef46de"/>
    <p:sldId xmlns:r="http://schemas.openxmlformats.org/officeDocument/2006/relationships" id="263" r:id="R7aab8f96e0ad40f9"/>
    <p:sldId xmlns:r="http://schemas.openxmlformats.org/officeDocument/2006/relationships" id="264" r:id="R9b7995f29698400e"/>
    <p:sldId xmlns:r="http://schemas.openxmlformats.org/officeDocument/2006/relationships" id="265" r:id="R4c859816b0f549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3ff9e0592437b" /><Relationship Type="http://schemas.openxmlformats.org/officeDocument/2006/relationships/slideMaster" Target="/ppt/slideMasters/slideMaster1.xml" Id="Rdde57a7945424f7f" /><Relationship Type="http://schemas.openxmlformats.org/officeDocument/2006/relationships/notesMaster" Target="/ppt/notesMasters/notesMaster1.xml" Id="R923eacf128004620" /><Relationship Type="http://schemas.openxmlformats.org/officeDocument/2006/relationships/presProps" Target="/ppt/presProps.xml" Id="R88cff5bac33c4518" /><Relationship Type="http://schemas.openxmlformats.org/officeDocument/2006/relationships/tableStyles" Target="/ppt/tableStyles.xml" Id="Rf6f2ecc8c05747d2" /><Relationship Type="http://schemas.openxmlformats.org/officeDocument/2006/relationships/slide" Target="/ppt/slides/slide1.xml" Id="R93f566ab15db42be" /><Relationship Type="http://schemas.openxmlformats.org/officeDocument/2006/relationships/slide" Target="/ppt/slides/slide2.xml" Id="R86506fb0069c41d9" /><Relationship Type="http://schemas.openxmlformats.org/officeDocument/2006/relationships/slide" Target="/ppt/slides/slide3.xml" Id="R3394e9f9e6464f88" /><Relationship Type="http://schemas.openxmlformats.org/officeDocument/2006/relationships/slide" Target="/ppt/slides/slide4.xml" Id="R7d0a1fd1d55942e5" /><Relationship Type="http://schemas.openxmlformats.org/officeDocument/2006/relationships/slide" Target="/ppt/slides/slide5.xml" Id="Rddf5009658d246cb" /><Relationship Type="http://schemas.openxmlformats.org/officeDocument/2006/relationships/slide" Target="/ppt/slides/slide6.xml" Id="R1d28e0d5b8894291" /><Relationship Type="http://schemas.openxmlformats.org/officeDocument/2006/relationships/slide" Target="/ppt/slides/slide7.xml" Id="R009b66b562ef46de" /><Relationship Type="http://schemas.openxmlformats.org/officeDocument/2006/relationships/slide" Target="/ppt/slides/slide8.xml" Id="R7aab8f96e0ad40f9" /><Relationship Type="http://schemas.openxmlformats.org/officeDocument/2006/relationships/slide" Target="/ppt/slides/slide9.xml" Id="R9b7995f29698400e" /><Relationship Type="http://schemas.openxmlformats.org/officeDocument/2006/relationships/slide" Target="/ppt/slides/slide10.xml" Id="R4c859816b0f549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8c86354dd442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288b02081b4008" /><Relationship Type="http://schemas.openxmlformats.org/officeDocument/2006/relationships/notesMaster" Target="/ppt/notesMasters/notesMaster1.xml" Id="Rc193e95124f940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524afb1c4247e9" /><Relationship Type="http://schemas.openxmlformats.org/officeDocument/2006/relationships/notesMaster" Target="/ppt/notesMasters/notesMaster1.xml" Id="R910c6fc80f8749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2e7f45b4ea4011" /><Relationship Type="http://schemas.openxmlformats.org/officeDocument/2006/relationships/notesMaster" Target="/ppt/notesMasters/notesMaster1.xml" Id="R8d8d8eb29caa42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7a9f1da0254eeb" /><Relationship Type="http://schemas.openxmlformats.org/officeDocument/2006/relationships/notesMaster" Target="/ppt/notesMasters/notesMaster1.xml" Id="R1a72c587fe024b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22171441454883" /><Relationship Type="http://schemas.openxmlformats.org/officeDocument/2006/relationships/notesMaster" Target="/ppt/notesMasters/notesMaster1.xml" Id="Rbbbf786a55f14f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44341f35754020" /><Relationship Type="http://schemas.openxmlformats.org/officeDocument/2006/relationships/notesMaster" Target="/ppt/notesMasters/notesMaster1.xml" Id="R1113273e85c04c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f148ff288c4bec" /><Relationship Type="http://schemas.openxmlformats.org/officeDocument/2006/relationships/notesMaster" Target="/ppt/notesMasters/notesMaster1.xml" Id="R8925450163414c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81923103354378" /><Relationship Type="http://schemas.openxmlformats.org/officeDocument/2006/relationships/notesMaster" Target="/ppt/notesMasters/notesMaster1.xml" Id="R9110d65d9d1048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eca1d881f148f4" /><Relationship Type="http://schemas.openxmlformats.org/officeDocument/2006/relationships/notesMaster" Target="/ppt/notesMasters/notesMaster1.xml" Id="Ra0d1493ec3a44e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9defa4fcb04eea" /><Relationship Type="http://schemas.openxmlformats.org/officeDocument/2006/relationships/notesMaster" Target="/ppt/notesMasters/notesMaster1.xml" Id="R6ce85a49680d43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present a reproducible Python workflow that extracts and validates a public dataset, trains and evaluates classifiers, and exposes results through a Streamlit app with a separate Kenyan-campus support prototype. The project is decision support for a class demonstration, not a deployed student-risk service.</a:t>
            </a:r>
          </a:p>
          <a:p xmlns:a="http://schemas.openxmlformats.org/drawingml/2006/main">
            <a:r>
              <a:t/>
            </a:r>
          </a:p>
          <a:p xmlns:a="http://schemas.openxmlformats.org/drawingml/2006/main">
            <a:r>
              <a:t>Screenshot / audience focus: The visual links data engineering, prediction, review and student support as connected but distinct components.</a:t>
            </a:r>
          </a:p>
          <a:p xmlns:a="http://schemas.openxmlformats.org/drawingml/2006/main">
            <a:r>
              <a:t/>
            </a:r>
          </a:p>
          <a:p xmlns:a="http://schemas.openxmlformats.org/drawingml/2006/main">
            <a:r>
              <a:t>Advanced Python concept: Modular Python design connects ETL, model and application modules; no single component makes a consequential student decision.</a:t>
            </a:r>
          </a:p>
          <a:p xmlns:a="http://schemas.openxmlformats.org/drawingml/2006/main">
            <a:r>
              <a:t/>
            </a:r>
          </a:p>
          <a:p xmlns:a="http://schemas.openxmlformats.org/drawingml/2006/main">
            <a:r>
              <a:t>Source evidence: Repository structure: src/dropout_pipeline/ modules; Streamlit entry point support_app.py.</a:t>
            </a:r>
          </a:p>
          <a:p xmlns:a="http://schemas.openxmlformats.org/drawingml/2006/main">
            <a:r>
              <a:t/>
            </a:r>
          </a:p>
          <a:p xmlns:a="http://schemas.openxmlformats.org/drawingml/2006/main">
            <a:r>
              <a:t>Design choice: The simple native diagram previews the real system stages without implying an external integration.</a:t>
            </a:r>
          </a:p>
          <a:p xmlns:a="http://schemas.openxmlformats.org/drawingml/2006/main">
            <a:r>
              <a:t/>
            </a:r>
          </a:p>
          <a:p xmlns:a="http://schemas.openxmlformats.org/drawingml/2006/main">
            <a:r>
              <a:t>Transition: First, we will explain the student-support problem and where a careful early-warning prototype might 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withdrawal and interrupted progression can affect students, families and institutions. A possible campus use case is to help authorised advisers organise timely check-ins. It would not decide who receives aid, enrolment access or disciplinary action.</a:t>
            </a:r>
          </a:p>
          <a:p xmlns:a="http://schemas.openxmlformats.org/drawingml/2006/main">
            <a:r>
              <a:t/>
            </a:r>
          </a:p>
          <a:p xmlns:a="http://schemas.openxmlformats.org/drawingml/2006/main">
            <a:r>
              <a:t>Screenshot / audience focus: Notice the dashboard itself calls out the Portuguese source cohort and says the model is not validated in Kenya.</a:t>
            </a:r>
          </a:p>
          <a:p xmlns:a="http://schemas.openxmlformats.org/drawingml/2006/main">
            <a:r>
              <a:t/>
            </a:r>
          </a:p>
          <a:p xmlns:a="http://schemas.openxmlformats.org/drawingml/2006/main">
            <a:r>
              <a:t>Advanced Python concept: Separation of concerns: cohort view, model and support workflow are implemented in distinct functions/modules.</a:t>
            </a:r>
          </a:p>
          <a:p xmlns:a="http://schemas.openxmlformats.org/drawingml/2006/main">
            <a:r>
              <a:t/>
            </a:r>
          </a:p>
          <a:p xmlns:a="http://schemas.openxmlformats.org/drawingml/2006/main">
            <a:r>
              <a:t>Source evidence: src/dropout_pipeline/support_app.py: _render_home and main; project README dataset/domain limitations.</a:t>
            </a:r>
          </a:p>
          <a:p xmlns:a="http://schemas.openxmlformats.org/drawingml/2006/main">
            <a:r>
              <a:t/>
            </a:r>
          </a:p>
          <a:p xmlns:a="http://schemas.openxmlformats.org/drawingml/2006/main">
            <a:r>
              <a:t>Design choice: The Kenyan scenario is explicitly proposed context; the screenshot stays anchored to the actual UCI-based app.</a:t>
            </a:r>
          </a:p>
          <a:p xmlns:a="http://schemas.openxmlformats.org/drawingml/2006/main">
            <a:r>
              <a:t/>
            </a:r>
          </a:p>
          <a:p xmlns:a="http://schemas.openxmlformats.org/drawingml/2006/main">
            <a:r>
              <a:t>Transition: Now we will trace how those components are connected in the implemented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implemented flow. Extraction and validation feed training. Training compares three classifiers with stratified cross-validation on training rows; the selected estimator is evaluated on a held-out test set. Streamlit presents both analytical pages and a separate Kenyan-campus support experience.</a:t>
            </a:r>
          </a:p>
          <a:p xmlns:a="http://schemas.openxmlformats.org/drawingml/2006/main">
            <a:r>
              <a:t/>
            </a:r>
          </a:p>
          <a:p xmlns:a="http://schemas.openxmlformats.org/drawingml/2006/main">
            <a:r>
              <a:t>Screenshot / audience focus: Follow the arrows: the wellbeing chatbot is a prepared-intent module and is not a generative AI interface or model inference endpoint.</a:t>
            </a:r>
          </a:p>
          <a:p xmlns:a="http://schemas.openxmlformats.org/drawingml/2006/main">
            <a:r>
              <a:t/>
            </a:r>
          </a:p>
          <a:p xmlns:a="http://schemas.openxmlformats.org/drawingml/2006/main">
            <a:r>
              <a:t>Advanced Python concept: Python modules and typed interfaces; the model evaluation stage writes structured artifacts used by the app.</a:t>
            </a:r>
          </a:p>
          <a:p xmlns:a="http://schemas.openxmlformats.org/drawingml/2006/main">
            <a:r>
              <a:t/>
            </a:r>
          </a:p>
          <a:p xmlns:a="http://schemas.openxmlformats.org/drawingml/2006/main">
            <a:r>
              <a:t>Source evidence: src/dropout_pipeline/extract.py, validate.py, transform.py, model.py, evaluate.py, support_app.py, support_chatbot.py.</a:t>
            </a:r>
          </a:p>
          <a:p xmlns:a="http://schemas.openxmlformats.org/drawingml/2006/main">
            <a:r>
              <a:t/>
            </a:r>
          </a:p>
          <a:p xmlns:a="http://schemas.openxmlformats.org/drawingml/2006/main">
            <a:r>
              <a:t>Design choice: The architecture separates reproducible retrospective modelling from student-facing signposting.</a:t>
            </a:r>
          </a:p>
          <a:p xmlns:a="http://schemas.openxmlformats.org/drawingml/2006/main">
            <a:r>
              <a:t/>
            </a:r>
          </a:p>
          <a:p xmlns:a="http://schemas.openxmlformats.org/drawingml/2006/main">
            <a:r>
              <a:t>Transition: The next slides look closely at data extraction and validation, then the leakage-safe preprocessing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page shows the current dataset state and administrative controls. The loader expects the UCI semicolon-delimited file and checks its schema before modelling. It checks targets Dropout, Enrolled and Graduate and numeric predictor columns.</a:t>
            </a:r>
          </a:p>
          <a:p xmlns:a="http://schemas.openxmlformats.org/drawingml/2006/main">
            <a:r>
              <a:t/>
            </a:r>
          </a:p>
          <a:p xmlns:a="http://schemas.openxmlformats.org/drawingml/2006/main">
            <a:r>
              <a:t>Screenshot / audience focus: Look at the validated row/column facts and data-quality panel. The screen is generated by the actual validation path.</a:t>
            </a:r>
          </a:p>
          <a:p xmlns:a="http://schemas.openxmlformats.org/drawingml/2006/main">
            <a:r>
              <a:t/>
            </a:r>
          </a:p>
          <a:p xmlns:a="http://schemas.openxmlformats.org/drawingml/2006/main">
            <a:r>
              <a:t>Advanced Python concept: Protocol supports interchangeable validators; generator yields each non-empty source line with a line number; custom exceptions distinguish schema from content errors.</a:t>
            </a:r>
          </a:p>
          <a:p xmlns:a="http://schemas.openxmlformats.org/drawingml/2006/main">
            <a:r>
              <a:t/>
            </a:r>
          </a:p>
          <a:p xmlns:a="http://schemas.openxmlformats.org/drawingml/2006/main">
            <a:r>
              <a:t>Source evidence: src/dropout_pipeline/validate.py: FrameValidator, ValidationFinding, _width_findings, load_and_validate; extract.py: iter_nonempty_lines; exceptions.py.</a:t>
            </a:r>
          </a:p>
          <a:p xmlns:a="http://schemas.openxmlformats.org/drawingml/2006/main">
            <a:r>
              <a:t/>
            </a:r>
          </a:p>
          <a:p xmlns:a="http://schemas.openxmlformats.org/drawingml/2006/main">
            <a:r>
              <a:t>Design choice: A Protocol and generator make the contract and streaming behavior explicit without requiring an elaborate validation framework.</a:t>
            </a:r>
          </a:p>
          <a:p xmlns:a="http://schemas.openxmlformats.org/drawingml/2006/main">
            <a:r>
              <a:t/>
            </a:r>
          </a:p>
          <a:p xmlns:a="http://schemas.openxmlformats.org/drawingml/2006/main">
            <a:r>
              <a:t>Transition: With a validated frame, the next question is how preprocessing avoids learning from held-out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cohort page summarizes observed source-data patterns; it is descriptive rather than causal. For modelling, feature handling is composed with the estimator as a scikit-learn Pipeline, and cross-validation happens within training data. The final test partition remains for evaluation.</a:t>
            </a:r>
          </a:p>
          <a:p xmlns:a="http://schemas.openxmlformats.org/drawingml/2006/main">
            <a:r>
              <a:t/>
            </a:r>
          </a:p>
          <a:p xmlns:a="http://schemas.openxmlformats.org/drawingml/2006/main">
            <a:r>
              <a:t>Screenshot / audience focus: The cohort page shows the real outcome distribution. The transformation design is shown alongside it, not claimed as a UI control on this view.</a:t>
            </a:r>
          </a:p>
          <a:p xmlns:a="http://schemas.openxmlformats.org/drawingml/2006/main">
            <a:r>
              <a:t/>
            </a:r>
          </a:p>
          <a:p xmlns:a="http://schemas.openxmlformats.org/drawingml/2006/main">
            <a:r>
              <a:t>Advanced Python concept: Reusable functions plus scikit-learn Pipeline composition; stratified cross-validation, with preprocessing fitted within each training fold.</a:t>
            </a:r>
          </a:p>
          <a:p xmlns:a="http://schemas.openxmlformats.org/drawingml/2006/main">
            <a:r>
              <a:t/>
            </a:r>
          </a:p>
          <a:p xmlns:a="http://schemas.openxmlformats.org/drawingml/2006/main">
            <a:r>
              <a:t>Source evidence: src/dropout_pipeline/transform.py: make_preprocessor and split_dataset; model.py: compare_models.</a:t>
            </a:r>
          </a:p>
          <a:p xmlns:a="http://schemas.openxmlformats.org/drawingml/2006/main">
            <a:r>
              <a:t/>
            </a:r>
          </a:p>
          <a:p xmlns:a="http://schemas.openxmlformats.org/drawingml/2006/main">
            <a:r>
              <a:t>Design choice: A scikit-learn Pipeline is a machine-learning composition pattern, not a Python language feature.</a:t>
            </a:r>
          </a:p>
          <a:p xmlns:a="http://schemas.openxmlformats.org/drawingml/2006/main">
            <a:r>
              <a:t/>
            </a:r>
          </a:p>
          <a:p xmlns:a="http://schemas.openxmlformats.org/drawingml/2006/main">
            <a:r>
              <a:t>Transition: Once candidates are compared fairly, we can inspect inference and the result the interface displays.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assessment page uses a synthetic profile, and its displayed result comes from the saved model artifact. The model predicts one of the dataset outcome classes—Dropout, Enrolled or Graduate—then returns class probabilities and a provisional review band.</a:t>
            </a:r>
          </a:p>
          <a:p xmlns:a="http://schemas.openxmlformats.org/drawingml/2006/main">
            <a:r>
              <a:t/>
            </a:r>
          </a:p>
          <a:p xmlns:a="http://schemas.openxmlformats.org/drawingml/2006/main">
            <a:r>
              <a:t>Screenshot / audience focus: The screenshot visibly labels the profile synthetic and includes the scope warning. Do not describe its output as a Kenyan student prediction.</a:t>
            </a:r>
          </a:p>
          <a:p xmlns:a="http://schemas.openxmlformats.org/drawingml/2006/main">
            <a:r>
              <a:t/>
            </a:r>
          </a:p>
          <a:p xmlns:a="http://schemas.openxmlformats.org/drawingml/2006/main">
            <a:r>
              <a:t>Advanced Python concept: Frozen dataclass Assessment groups inference outputs; ReviewBand StrEnum constrains review labels; validation checks model feature ordering.</a:t>
            </a:r>
          </a:p>
          <a:p xmlns:a="http://schemas.openxmlformats.org/drawingml/2006/main">
            <a:r>
              <a:t/>
            </a:r>
          </a:p>
          <a:p xmlns:a="http://schemas.openxmlformats.org/drawingml/2006/main">
            <a:r>
              <a:t>Source evidence: src/dropout_pipeline/inference.py: Assessment, ReviewBand, assess_student; support_app.py: _render_assessment.</a:t>
            </a:r>
          </a:p>
          <a:p xmlns:a="http://schemas.openxmlformats.org/drawingml/2006/main">
            <a:r>
              <a:t/>
            </a:r>
          </a:p>
          <a:p xmlns:a="http://schemas.openxmlformats.org/drawingml/2006/main">
            <a:r>
              <a:t>Design choice: Structured return data is easier to test and render than loosely coupled positional values.</a:t>
            </a:r>
          </a:p>
          <a:p xmlns:a="http://schemas.openxmlformats.org/drawingml/2006/main">
            <a:r>
              <a:t/>
            </a:r>
          </a:p>
          <a:p xmlns:a="http://schemas.openxmlformats.org/drawingml/2006/main">
            <a:r>
              <a:t>Transition: A prediction needs evaluation context, especially class-level performance and the source domain.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885-row held-out test partition, the selected Logistic Regression pipeline achieved macro-F1 0.7155 and accuracy 0.7559, displayed rounded to 0.716 and 0.756. Enrolled is the weaker class in the per-class results, so aggregate performance is not enough. The test partition is from the Portuguese UCI cohort.</a:t>
            </a:r>
          </a:p>
          <a:p xmlns:a="http://schemas.openxmlformats.org/drawingml/2006/main">
            <a:r>
              <a:t/>
            </a:r>
          </a:p>
          <a:p xmlns:a="http://schemas.openxmlformats.org/drawingml/2006/main">
            <a:r>
              <a:t>Screenshot / audience focus: The transparency page provides the real metrics and per-class report. The confusion matrix is also preserved as a standalone evidence asset in the deck assets.</a:t>
            </a:r>
          </a:p>
          <a:p xmlns:a="http://schemas.openxmlformats.org/drawingml/2006/main">
            <a:r>
              <a:t/>
            </a:r>
          </a:p>
          <a:p xmlns:a="http://schemas.openxmlformats.org/drawingml/2006/main">
            <a:r>
              <a:t>Advanced Python concept: Reusable evaluation function writes machine-readable results; match/case maps target labels to readable display names.</a:t>
            </a:r>
          </a:p>
          <a:p xmlns:a="http://schemas.openxmlformats.org/drawingml/2006/main">
            <a:r>
              <a:t/>
            </a:r>
          </a:p>
          <a:p xmlns:a="http://schemas.openxmlformats.org/drawingml/2006/main">
            <a:r>
              <a:t>Source evidence: src/dropout_pipeline/evaluate.py: evaluate_selected, _interpret_outcome; outputs/metrics.json and confusion_matrix.png.</a:t>
            </a:r>
          </a:p>
          <a:p xmlns:a="http://schemas.openxmlformats.org/drawingml/2006/main">
            <a:r>
              <a:t/>
            </a:r>
          </a:p>
          <a:p xmlns:a="http://schemas.openxmlformats.org/drawingml/2006/main">
            <a:r>
              <a:t>Design choice: Macro averaging helps reveal uneven class performance; the slide avoids presenting accuracy as proof of real-world effectiveness.</a:t>
            </a:r>
          </a:p>
          <a:p xmlns:a="http://schemas.openxmlformats.org/drawingml/2006/main">
            <a:r>
              <a:t/>
            </a:r>
          </a:p>
          <a:p xmlns:a="http://schemas.openxmlformats.org/drawingml/2006/main">
            <a:r>
              <a:t>Transition: We now move from retrospective prediction to a human-owned support and follow-up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demonstrates the deterministic chatbot using a realistic student message about two CATs and revision. It returns a short study step and points the student toward an academic adviser or student-affairs referral. Other routed concerns include fees/HELB, anxiety, low mood, loneliness and immediate safety. The rules are transparent but may miss context; the chatbot is not a counsellor or diagnostic system. A separate Support Cases view allows a staff member to record and track pseudonymous follow-up, but local JSON has no authentication or production security.</a:t>
            </a:r>
          </a:p>
          <a:p xmlns:a="http://schemas.openxmlformats.org/drawingml/2006/main">
            <a:r>
              <a:t/>
            </a:r>
          </a:p>
          <a:p xmlns:a="http://schemas.openxmlformats.org/drawingml/2006/main">
            <a:r>
              <a:t>Screenshot / audience focus: The captured reply labels the matched intent as academic or exam pressure and shows the prepared next step and contact route. The app states there is no external generative AI and the conversation is session-only.</a:t>
            </a:r>
          </a:p>
          <a:p xmlns:a="http://schemas.openxmlformats.org/drawingml/2006/main">
            <a:r>
              <a:t/>
            </a:r>
          </a:p>
          <a:p xmlns:a="http://schemas.openxmlformats.org/drawingml/2006/main">
            <a:r>
              <a:t>Advanced Python concept: SupportIntent StrEnum, ordered regular-expression patterns and frozen SupportReply dataclass; case tracking separately uses SupportCase and CaseStatus.</a:t>
            </a:r>
          </a:p>
          <a:p xmlns:a="http://schemas.openxmlformats.org/drawingml/2006/main">
            <a:r>
              <a:t/>
            </a:r>
          </a:p>
          <a:p xmlns:a="http://schemas.openxmlformats.org/drawingml/2006/main">
            <a:r>
              <a:t>Source evidence: src/dropout_pipeline/support_chatbot.py: SupportIntent, SupportReply, _PATTERNS, classify_intent, reply_to; case_management.py: SupportCase, CaseStatus, upsert_case.</a:t>
            </a:r>
          </a:p>
          <a:p xmlns:a="http://schemas.openxmlformats.org/drawingml/2006/main">
            <a:r>
              <a:t/>
            </a:r>
          </a:p>
          <a:p xmlns:a="http://schemas.openxmlformats.org/drawingml/2006/main">
            <a:r>
              <a:t>Design choice: Intent rules are explicit and inspectable. Kenyan examples use CATs, HELB, fare, hostel, selected Sheng and Kiswahili phrases in the matching patterns; responses direct students to human support.</a:t>
            </a:r>
          </a:p>
          <a:p xmlns:a="http://schemas.openxmlformats.org/drawingml/2006/main">
            <a:r>
              <a:t/>
            </a:r>
          </a:p>
          <a:p xmlns:a="http://schemas.openxmlformats.org/drawingml/2006/main">
            <a:r>
              <a:t>Transition: The next slide shows the language-level Python techniques supporting these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examples are mapped to real source code. A Protocol describes the validation interface; frozen dataclasses and StrEnums give stable typed records and states; context managers close resources; the retry decorator wraps I/O operations; the generator streams lines; and match/case selects display labels. The Python examples are in the source, with tests elsewhere in the repository.</a:t>
            </a:r>
          </a:p>
          <a:p xmlns:a="http://schemas.openxmlformats.org/drawingml/2006/main">
            <a:r>
              <a:t/>
            </a:r>
          </a:p>
          <a:p xmlns:a="http://schemas.openxmlformats.org/drawingml/2006/main">
            <a:r>
              <a:t>Screenshot / audience focus: Each panel gives a path, symbol and small excerpt so the concepts can be checked against the repository.</a:t>
            </a:r>
          </a:p>
          <a:p xmlns:a="http://schemas.openxmlformats.org/drawingml/2006/main">
            <a:r>
              <a:t/>
            </a:r>
          </a:p>
          <a:p xmlns:a="http://schemas.openxmlformats.org/drawingml/2006/main">
            <a:r>
              <a:t>Advanced Python concept: Structural typing, dataclasses, enumerations, context managers, decorators/ParamSpec, generators and structural pattern matching.</a:t>
            </a:r>
          </a:p>
          <a:p xmlns:a="http://schemas.openxmlformats.org/drawingml/2006/main">
            <a:r>
              <a:t/>
            </a:r>
          </a:p>
          <a:p xmlns:a="http://schemas.openxmlformats.org/drawingml/2006/main">
            <a:r>
              <a:t>Source evidence: validate.py: FrameValidator; config.py: PipelineConfig/RunStage; extract.py: _fetch/bounded_retry/iter_nonempty_lines; evaluate.py: _interpret_outcome.</a:t>
            </a:r>
          </a:p>
          <a:p xmlns:a="http://schemas.openxmlformats.org/drawingml/2006/main">
            <a:r>
              <a:t/>
            </a:r>
          </a:p>
          <a:p xmlns:a="http://schemas.openxmlformats.org/drawingml/2006/main">
            <a:r>
              <a:t>Design choice: Six verified concepts provide meaningful evidence without claiming absent abstractions.</a:t>
            </a:r>
          </a:p>
          <a:p xmlns:a="http://schemas.openxmlformats.org/drawingml/2006/main">
            <a:r>
              <a:t/>
            </a:r>
          </a:p>
          <a:p xmlns:a="http://schemas.openxmlformats.org/drawingml/2006/main">
            <a:r>
              <a:t>Transition: We will close with the short demonstration path and the work required before any Kenyan operational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demonstration sequence is dashboard, model transparency, support chat, then the resources/study reset and pseudonymous follow-up screens if time allows. The app and model tests passed in the repository verification run: 34 pytest tests, Ruff lint and formatting checks, and mypy for 15 source files. Those are software checks, not evidence of Kenyan predictive validity.</a:t>
            </a:r>
          </a:p>
          <a:p xmlns:a="http://schemas.openxmlformats.org/drawingml/2006/main">
            <a:r>
              <a:t/>
            </a:r>
          </a:p>
          <a:p xmlns:a="http://schemas.openxmlformats.org/drawingml/2006/main">
            <a:r>
              <a:t>Screenshot / audience focus: The live demo highlights the actual app pages and keeps support tools separate from the historical prediction model.</a:t>
            </a:r>
          </a:p>
          <a:p xmlns:a="http://schemas.openxmlformats.org/drawingml/2006/main">
            <a:r>
              <a:t/>
            </a:r>
          </a:p>
          <a:p xmlns:a="http://schemas.openxmlformats.org/drawingml/2006/main">
            <a:r>
              <a:t>Advanced Python concept: Test fixtures and module boundaries make behaviors easier to verify; the inference and case workflows remain distinct.</a:t>
            </a:r>
          </a:p>
          <a:p xmlns:a="http://schemas.openxmlformats.org/drawingml/2006/main">
            <a:r>
              <a:t/>
            </a:r>
          </a:p>
          <a:p xmlns:a="http://schemas.openxmlformats.org/drawingml/2006/main">
            <a:r>
              <a:t>Source evidence: Repository tests under tests/; development checks in README.md; application entry point src/dropout_pipeline/support_app.py.</a:t>
            </a:r>
          </a:p>
          <a:p xmlns:a="http://schemas.openxmlformats.org/drawingml/2006/main">
            <a:r>
              <a:t/>
            </a:r>
          </a:p>
          <a:p xmlns:a="http://schemas.openxmlformats.org/drawingml/2006/main">
            <a:r>
              <a:t>Design choice: The conclusion distinguishes software correctness from population validity and operational readiness.</a:t>
            </a:r>
          </a:p>
          <a:p xmlns:a="http://schemas.openxmlformats.org/drawingml/2006/main">
            <a:r>
              <a:t/>
            </a:r>
          </a:p>
          <a:p xmlns:a="http://schemas.openxmlformats.org/drawingml/2006/main">
            <a:r>
              <a:t>Transition: Thank you. We welcome questions about the model, Python implementation and Kenyan adaptation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f6b71259fb43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b18980bf1a42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fc51d1a9024b2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f78dcee89949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50d9855c104c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fd9a825f3d48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CAA78C-4F23-4509-BF57-B47CA292C3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38BF41E-4807-4F97-B3A8-9B30854628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31221F-2955-4963-9F99-9AD090D32D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F20FCB-3AF3-4BFA-9820-B481CB03D1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9B06D4-CCE5-434C-B92C-B565F3220D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E88F2D-AD13-4A95-843B-994EBC8595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25CF67-EC00-4F03-93FE-44A804B813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A440D9-EE7B-4253-B7BA-6C53B54BAAB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CAA70C-6FDA-4001-9FB4-595DDF2581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1CFF94-CE46-4EEE-B333-69916DCECF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f8c9f47c2a4b7f" /><Relationship Type="http://schemas.openxmlformats.org/officeDocument/2006/relationships/slideLayout" Target="/ppt/slideLayouts/slideLayout1.xml" Id="Rc3c63773cc9f47aa" /><Relationship Type="http://schemas.openxmlformats.org/officeDocument/2006/relationships/slideLayout" Target="/ppt/slideLayouts/slideLayout2.xml" Id="R8e0802b388444eaf" /><Relationship Type="http://schemas.openxmlformats.org/officeDocument/2006/relationships/slideLayout" Target="/ppt/slideLayouts/slideLayout3.xml" Id="R0c759a8be60044c6" /><Relationship Type="http://schemas.openxmlformats.org/officeDocument/2006/relationships/slideLayout" Target="/ppt/slideLayouts/slideLayout4.xml" Id="R54f5019558384d74" /><Relationship Type="http://schemas.openxmlformats.org/officeDocument/2006/relationships/slideLayout" Target="/ppt/slideLayouts/slideLayout5.xml" Id="R80319fa99aaf4596" /><Relationship Type="http://schemas.openxmlformats.org/officeDocument/2006/relationships/slideLayout" Target="/ppt/slideLayouts/slideLayout6.xml" Id="Rfe48969a188e47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c63773cc9f47aa"/>
    <p:sldLayoutId xmlns:r="http://schemas.openxmlformats.org/officeDocument/2006/relationships" id="2147483650" r:id="R8e0802b388444eaf"/>
    <p:sldLayoutId xmlns:r="http://schemas.openxmlformats.org/officeDocument/2006/relationships" id="2147483651" r:id="R0c759a8be60044c6"/>
    <p:sldLayoutId xmlns:r="http://schemas.openxmlformats.org/officeDocument/2006/relationships" id="2147483652" r:id="R54f5019558384d74"/>
    <p:sldLayoutId xmlns:r="http://schemas.openxmlformats.org/officeDocument/2006/relationships" id="2147483653" r:id="R80319fa99aaf4596"/>
    <p:sldLayoutId xmlns:r="http://schemas.openxmlformats.org/officeDocument/2006/relationships" id="2147483654" r:id="Rfe48969a188e47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8b19be876594d19" /><Relationship Type="http://schemas.openxmlformats.org/officeDocument/2006/relationships/notesSlide" Target="/ppt/notesSlides/notesSlide1.xml" Id="R98a3ade9b57543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244a90843947c4" /><Relationship Type="http://schemas.openxmlformats.org/officeDocument/2006/relationships/image" Target="/ppt/media/image.png" Id="R8d4450daf34b45ed" /><Relationship Type="http://schemas.openxmlformats.org/officeDocument/2006/relationships/notesSlide" Target="/ppt/notesSlides/notesSlide2.xml" Id="R86adfa33d35542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543a87baa44d2e" /><Relationship Type="http://schemas.openxmlformats.org/officeDocument/2006/relationships/notesSlide" Target="/ppt/notesSlides/notesSlide3.xml" Id="Rf044320e71b943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7b0b40d0de04b11" /><Relationship Type="http://schemas.openxmlformats.org/officeDocument/2006/relationships/image" Target="/ppt/media/image2.png" Id="R656b137377a8439d" /><Relationship Type="http://schemas.openxmlformats.org/officeDocument/2006/relationships/notesSlide" Target="/ppt/notesSlides/notesSlide4.xml" Id="R1e6b4c56655348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7c22cf4a4c48f9" /><Relationship Type="http://schemas.openxmlformats.org/officeDocument/2006/relationships/image" Target="/ppt/media/image3.png" Id="R29a61330efea453d" /><Relationship Type="http://schemas.openxmlformats.org/officeDocument/2006/relationships/notesSlide" Target="/ppt/notesSlides/notesSlide5.xml" Id="R4fdb6235ba4e46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f46fa2975841c5" /><Relationship Type="http://schemas.openxmlformats.org/officeDocument/2006/relationships/image" Target="/ppt/media/image4.png" Id="Ra2c1ff56a6a5441c" /><Relationship Type="http://schemas.openxmlformats.org/officeDocument/2006/relationships/notesSlide" Target="/ppt/notesSlides/notesSlide6.xml" Id="Raee5f4d8b2d945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d771a28e1f453d" /><Relationship Type="http://schemas.openxmlformats.org/officeDocument/2006/relationships/image" Target="/ppt/media/image5.png" Id="Re7f52758e11d46d5" /><Relationship Type="http://schemas.openxmlformats.org/officeDocument/2006/relationships/notesSlide" Target="/ppt/notesSlides/notesSlide7.xml" Id="Rf70ce21a3dee4d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ff351b26df468a" /><Relationship Type="http://schemas.openxmlformats.org/officeDocument/2006/relationships/image" Target="/ppt/media/image6.png" Id="R03b960caf6014d3c" /><Relationship Type="http://schemas.openxmlformats.org/officeDocument/2006/relationships/notesSlide" Target="/ppt/notesSlides/notesSlide8.xml" Id="R6f07afcf0abb43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6926503ed24d87" /><Relationship Type="http://schemas.openxmlformats.org/officeDocument/2006/relationships/notesSlide" Target="/ppt/notesSlides/notesSlide9.xml" Id="Rb860821ff9a14e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6e8519316f4cdc" /><Relationship Type="http://schemas.openxmlformats.org/officeDocument/2006/relationships/notesSlide" Target="/ppt/notesSlides/notesSlide10.xml" Id="R49ebec1d3fac4c54" /></Relationships>
</file>

<file path=ppt/slides/slide1.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24" name="hero-field">
            <a:extLst xmlns:a="http://schemas.openxmlformats.org/drawingml/2006/main">
              <a:ext uri="{FF2B5EF4-FFF2-40B4-BE49-F238E27FC236}">
                <a16:creationId xmlns:a16="http://schemas.microsoft.com/office/drawing/2014/main" id="{8DB1F77A-D321-41B9-9194-CFE9815100D3}"/>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102B3F"/>
          </a:solidFill>
          <a:ln xmlns:a="http://schemas.openxmlformats.org/drawingml/2006/main" w="0">
            <a:noFill/>
            <a:prstDash val="solid"/>
          </a:ln>
        </p:spPr>
      </p:sp>
      <p:sp>
        <p:nvSpPr>
          <p:cNvPr id="2" name="course">
            <a:extLst xmlns:a="http://schemas.openxmlformats.org/drawingml/2006/main">
              <a:ext uri="{FF2B5EF4-FFF2-40B4-BE49-F238E27FC236}">
                <a16:creationId xmlns:a16="http://schemas.microsoft.com/office/drawing/2014/main" id="{B7F1811B-A738-4EFC-BBDD-F08060D1B382}"/>
              </a:ext>
            </a:extLst>
          </p:cNvPr>
          <p:cNvSpPr>
            <a:spLocks xmlns:a="http://schemas.openxmlformats.org/drawingml/2006/main" noGrp="1"/>
          </p:cNvSpPr>
          <p:nvPr/>
        </p:nvSpPr>
        <p:spPr>
          <a:xfrm xmlns:a="http://schemas.openxmlformats.org/drawingml/2006/main">
            <a:off x="609600" y="59055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9FDED2"/>
                </a:solidFill>
                <a:latin typeface="Arial"/>
                <a:ea typeface="Arial"/>
                <a:cs typeface="Arial"/>
              </a:defRPr>
            </a:defPPr>
            <a:lvl1pPr algn="l">
              <a:defRPr sz="1050" b="1">
                <a:solidFill>
                  <a:srgbClr val="9FDED2"/>
                </a:solidFill>
                <a:latin typeface="Arial"/>
                <a:ea typeface="Arial"/>
                <a:cs typeface="Arial"/>
              </a:defRPr>
            </a:lvl1pPr>
            <a:lvl2pPr algn="l">
              <a:defRPr sz="1050" b="1">
                <a:solidFill>
                  <a:srgbClr val="9FDED2"/>
                </a:solidFill>
                <a:latin typeface="Arial"/>
                <a:ea typeface="Arial"/>
                <a:cs typeface="Arial"/>
              </a:defRPr>
            </a:lvl2pPr>
            <a:lvl3pPr algn="l">
              <a:defRPr sz="1050" b="1">
                <a:solidFill>
                  <a:srgbClr val="9FDED2"/>
                </a:solidFill>
                <a:latin typeface="Arial"/>
                <a:ea typeface="Arial"/>
                <a:cs typeface="Arial"/>
              </a:defRPr>
            </a:lvl3pPr>
            <a:lvl4pPr algn="l">
              <a:defRPr sz="1050" b="1">
                <a:solidFill>
                  <a:srgbClr val="9FDED2"/>
                </a:solidFill>
                <a:latin typeface="Arial"/>
                <a:ea typeface="Arial"/>
                <a:cs typeface="Arial"/>
              </a:defRPr>
            </a:lvl4pPr>
            <a:lvl5pPr algn="l">
              <a:defRPr sz="1050" b="1">
                <a:solidFill>
                  <a:srgbClr val="9FDED2"/>
                </a:solidFill>
                <a:latin typeface="Arial"/>
                <a:ea typeface="Arial"/>
                <a:cs typeface="Arial"/>
              </a:defRPr>
            </a:lvl5pPr>
            <a:lvl6pPr algn="l">
              <a:defRPr sz="1050" b="1">
                <a:solidFill>
                  <a:srgbClr val="9FDED2"/>
                </a:solidFill>
                <a:latin typeface="Arial"/>
                <a:ea typeface="Arial"/>
                <a:cs typeface="Arial"/>
              </a:defRPr>
            </a:lvl6pPr>
            <a:lvl7pPr algn="l">
              <a:defRPr sz="1050" b="1">
                <a:solidFill>
                  <a:srgbClr val="9FDED2"/>
                </a:solidFill>
                <a:latin typeface="Arial"/>
                <a:ea typeface="Arial"/>
                <a:cs typeface="Arial"/>
              </a:defRPr>
            </a:lvl7pPr>
            <a:lvl8pPr algn="l">
              <a:defRPr sz="1050" b="1">
                <a:solidFill>
                  <a:srgbClr val="9FDED2"/>
                </a:solidFill>
                <a:latin typeface="Arial"/>
                <a:ea typeface="Arial"/>
                <a:cs typeface="Arial"/>
              </a:defRPr>
            </a:lvl8pPr>
            <a:lvl9pPr algn="l">
              <a:defRPr sz="1050" b="1">
                <a:solidFill>
                  <a:srgbClr val="9FDED2"/>
                </a:solidFill>
                <a:latin typeface="Arial"/>
                <a:ea typeface="Arial"/>
                <a:cs typeface="Arial"/>
              </a:defRPr>
            </a:lvl9pPr>
          </a:lstStyle>
          <a:p xmlns:a="http://schemas.openxmlformats.org/drawingml/2006/main">
            <a:pPr algn="l">
              <a:lnSpc>
                <a:spcPct val="100000"/>
              </a:lnSpc>
              <a:buNone/>
              <a:defRPr sz="1050" b="1">
                <a:solidFill>
                  <a:srgbClr val="9FDED2"/>
                </a:solidFill>
                <a:latin typeface="Arial"/>
                <a:ea typeface="Arial"/>
                <a:cs typeface="Arial"/>
              </a:defRPr>
            </a:pPr>
            <a:r>
              <a:rPr sz="1050" b="1">
                <a:solidFill>
                  <a:srgbClr val="9FDED2"/>
                </a:solidFill>
                <a:latin typeface="Arial"/>
                <a:ea typeface="Arial"/>
                <a:cs typeface="Arial"/>
              </a:rPr>
              <a:t>CPP 4201  |  ADVANCED PYTHON PROGRAMMING</a:t>
            </a:r>
          </a:p>
        </p:txBody>
      </p:sp>
      <p:sp>
        <p:nvSpPr>
          <p:cNvPr id="3" name="title">
            <a:extLst xmlns:a="http://schemas.openxmlformats.org/drawingml/2006/main">
              <a:ext uri="{FF2B5EF4-FFF2-40B4-BE49-F238E27FC236}">
                <a16:creationId xmlns:a16="http://schemas.microsoft.com/office/drawing/2014/main" id="{D0342109-119F-486B-840D-70824E45C26E}"/>
              </a:ext>
            </a:extLst>
          </p:cNvPr>
          <p:cNvSpPr>
            <a:spLocks xmlns:a="http://schemas.openxmlformats.org/drawingml/2006/main" noGrp="1"/>
          </p:cNvSpPr>
          <p:nvPr/>
        </p:nvSpPr>
        <p:spPr>
          <a:xfrm xmlns:a="http://schemas.openxmlformats.org/drawingml/2006/main">
            <a:off x="609600" y="1352550"/>
            <a:ext cx="581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Arial"/>
                <a:ea typeface="Arial"/>
                <a:cs typeface="Arial"/>
              </a:defRPr>
            </a:defPPr>
            <a:lvl1pPr algn="l">
              <a:defRPr sz="3900" b="1">
                <a:solidFill>
                  <a:srgbClr val="FFFFFF"/>
                </a:solidFill>
                <a:latin typeface="Arial"/>
                <a:ea typeface="Arial"/>
                <a:cs typeface="Arial"/>
              </a:defRPr>
            </a:lvl1pPr>
            <a:lvl2pPr algn="l">
              <a:defRPr sz="3900" b="1">
                <a:solidFill>
                  <a:srgbClr val="FFFFFF"/>
                </a:solidFill>
                <a:latin typeface="Arial"/>
                <a:ea typeface="Arial"/>
                <a:cs typeface="Arial"/>
              </a:defRPr>
            </a:lvl2pPr>
            <a:lvl3pPr algn="l">
              <a:defRPr sz="3900" b="1">
                <a:solidFill>
                  <a:srgbClr val="FFFFFF"/>
                </a:solidFill>
                <a:latin typeface="Arial"/>
                <a:ea typeface="Arial"/>
                <a:cs typeface="Arial"/>
              </a:defRPr>
            </a:lvl3pPr>
            <a:lvl4pPr algn="l">
              <a:defRPr sz="3900" b="1">
                <a:solidFill>
                  <a:srgbClr val="FFFFFF"/>
                </a:solidFill>
                <a:latin typeface="Arial"/>
                <a:ea typeface="Arial"/>
                <a:cs typeface="Arial"/>
              </a:defRPr>
            </a:lvl4pPr>
            <a:lvl5pPr algn="l">
              <a:defRPr sz="3900" b="1">
                <a:solidFill>
                  <a:srgbClr val="FFFFFF"/>
                </a:solidFill>
                <a:latin typeface="Arial"/>
                <a:ea typeface="Arial"/>
                <a:cs typeface="Arial"/>
              </a:defRPr>
            </a:lvl5pPr>
            <a:lvl6pPr algn="l">
              <a:defRPr sz="3900" b="1">
                <a:solidFill>
                  <a:srgbClr val="FFFFFF"/>
                </a:solidFill>
                <a:latin typeface="Arial"/>
                <a:ea typeface="Arial"/>
                <a:cs typeface="Arial"/>
              </a:defRPr>
            </a:lvl6pPr>
            <a:lvl7pPr algn="l">
              <a:defRPr sz="3900" b="1">
                <a:solidFill>
                  <a:srgbClr val="FFFFFF"/>
                </a:solidFill>
                <a:latin typeface="Arial"/>
                <a:ea typeface="Arial"/>
                <a:cs typeface="Arial"/>
              </a:defRPr>
            </a:lvl7pPr>
            <a:lvl8pPr algn="l">
              <a:defRPr sz="3900" b="1">
                <a:solidFill>
                  <a:srgbClr val="FFFFFF"/>
                </a:solidFill>
                <a:latin typeface="Arial"/>
                <a:ea typeface="Arial"/>
                <a:cs typeface="Arial"/>
              </a:defRPr>
            </a:lvl8pPr>
            <a:lvl9pPr algn="l">
              <a:defRPr sz="3900" b="1">
                <a:solidFill>
                  <a:srgbClr val="FFFFFF"/>
                </a:solidFill>
                <a:latin typeface="Arial"/>
                <a:ea typeface="Arial"/>
                <a:cs typeface="Arial"/>
              </a:defRPr>
            </a:lvl9pPr>
          </a:lstStyle>
          <a:p xmlns:a="http://schemas.openxmlformats.org/drawingml/2006/main">
            <a:pPr algn="l">
              <a:lnSpc>
                <a:spcPct val="94000"/>
              </a:lnSpc>
              <a:buNone/>
              <a:defRPr sz="3900" b="1">
                <a:solidFill>
                  <a:srgbClr val="FFFFFF"/>
                </a:solidFill>
                <a:latin typeface="Arial"/>
                <a:ea typeface="Arial"/>
                <a:cs typeface="Arial"/>
              </a:defRPr>
            </a:pPr>
            <a:r>
              <a:rPr sz="3900" b="1">
                <a:solidFill>
                  <a:srgbClr val="FFFFFF"/>
                </a:solidFill>
                <a:latin typeface="Arial"/>
                <a:ea typeface="Arial"/>
                <a:cs typeface="Arial"/>
              </a:rPr>
              <a:t>Predicting University</a:t>
            </a:r>
          </a:p>
          <a:p xmlns:a="http://schemas.openxmlformats.org/drawingml/2006/main">
            <a:pPr algn="l">
              <a:lnSpc>
                <a:spcPct val="94000"/>
              </a:lnSpc>
              <a:buNone/>
              <a:defRPr sz="3900" b="1">
                <a:solidFill>
                  <a:srgbClr val="FFFFFF"/>
                </a:solidFill>
                <a:latin typeface="Arial"/>
                <a:ea typeface="Arial"/>
                <a:cs typeface="Arial"/>
              </a:defRPr>
            </a:pPr>
            <a:r>
              <a:rPr sz="3900" b="1">
                <a:solidFill>
                  <a:srgbClr val="FFFFFF"/>
                </a:solidFill>
                <a:latin typeface="Arial"/>
                <a:ea typeface="Arial"/>
                <a:cs typeface="Arial"/>
              </a:rPr>
              <a:t>Dropout</a:t>
            </a:r>
          </a:p>
        </p:txBody>
      </p:sp>
      <p:sp>
        <p:nvSpPr>
          <p:cNvPr id="4" name="subtitle">
            <a:extLst xmlns:a="http://schemas.openxmlformats.org/drawingml/2006/main">
              <a:ext uri="{FF2B5EF4-FFF2-40B4-BE49-F238E27FC236}">
                <a16:creationId xmlns:a16="http://schemas.microsoft.com/office/drawing/2014/main" id="{0434753A-CA2D-42D4-8CB1-F9B9D91E7EA3}"/>
              </a:ext>
            </a:extLst>
          </p:cNvPr>
          <p:cNvSpPr>
            <a:spLocks xmlns:a="http://schemas.openxmlformats.org/drawingml/2006/main" noGrp="1"/>
          </p:cNvSpPr>
          <p:nvPr/>
        </p:nvSpPr>
        <p:spPr>
          <a:xfrm xmlns:a="http://schemas.openxmlformats.org/drawingml/2006/main">
            <a:off x="628650" y="3209925"/>
            <a:ext cx="542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DBE9EC"/>
                </a:solidFill>
                <a:latin typeface="Arial"/>
                <a:ea typeface="Arial"/>
                <a:cs typeface="Arial"/>
              </a:defRPr>
            </a:defPPr>
            <a:lvl1pPr algn="l">
              <a:defRPr sz="1725" b="0">
                <a:solidFill>
                  <a:srgbClr val="DBE9EC"/>
                </a:solidFill>
                <a:latin typeface="Arial"/>
                <a:ea typeface="Arial"/>
                <a:cs typeface="Arial"/>
              </a:defRPr>
            </a:lvl1pPr>
            <a:lvl2pPr algn="l">
              <a:defRPr sz="1725" b="0">
                <a:solidFill>
                  <a:srgbClr val="DBE9EC"/>
                </a:solidFill>
                <a:latin typeface="Arial"/>
                <a:ea typeface="Arial"/>
                <a:cs typeface="Arial"/>
              </a:defRPr>
            </a:lvl2pPr>
            <a:lvl3pPr algn="l">
              <a:defRPr sz="1725" b="0">
                <a:solidFill>
                  <a:srgbClr val="DBE9EC"/>
                </a:solidFill>
                <a:latin typeface="Arial"/>
                <a:ea typeface="Arial"/>
                <a:cs typeface="Arial"/>
              </a:defRPr>
            </a:lvl3pPr>
            <a:lvl4pPr algn="l">
              <a:defRPr sz="1725" b="0">
                <a:solidFill>
                  <a:srgbClr val="DBE9EC"/>
                </a:solidFill>
                <a:latin typeface="Arial"/>
                <a:ea typeface="Arial"/>
                <a:cs typeface="Arial"/>
              </a:defRPr>
            </a:lvl4pPr>
            <a:lvl5pPr algn="l">
              <a:defRPr sz="1725" b="0">
                <a:solidFill>
                  <a:srgbClr val="DBE9EC"/>
                </a:solidFill>
                <a:latin typeface="Arial"/>
                <a:ea typeface="Arial"/>
                <a:cs typeface="Arial"/>
              </a:defRPr>
            </a:lvl5pPr>
            <a:lvl6pPr algn="l">
              <a:defRPr sz="1725" b="0">
                <a:solidFill>
                  <a:srgbClr val="DBE9EC"/>
                </a:solidFill>
                <a:latin typeface="Arial"/>
                <a:ea typeface="Arial"/>
                <a:cs typeface="Arial"/>
              </a:defRPr>
            </a:lvl6pPr>
            <a:lvl7pPr algn="l">
              <a:defRPr sz="1725" b="0">
                <a:solidFill>
                  <a:srgbClr val="DBE9EC"/>
                </a:solidFill>
                <a:latin typeface="Arial"/>
                <a:ea typeface="Arial"/>
                <a:cs typeface="Arial"/>
              </a:defRPr>
            </a:lvl7pPr>
            <a:lvl8pPr algn="l">
              <a:defRPr sz="1725" b="0">
                <a:solidFill>
                  <a:srgbClr val="DBE9EC"/>
                </a:solidFill>
                <a:latin typeface="Arial"/>
                <a:ea typeface="Arial"/>
                <a:cs typeface="Arial"/>
              </a:defRPr>
            </a:lvl8pPr>
            <a:lvl9pPr algn="l">
              <a:defRPr sz="1725" b="0">
                <a:solidFill>
                  <a:srgbClr val="DBE9EC"/>
                </a:solidFill>
                <a:latin typeface="Arial"/>
                <a:ea typeface="Arial"/>
                <a:cs typeface="Arial"/>
              </a:defRPr>
            </a:lvl9pPr>
          </a:lstStyle>
          <a:p xmlns:a="http://schemas.openxmlformats.org/drawingml/2006/main">
            <a:pPr algn="l">
              <a:lnSpc>
                <a:spcPct val="100000"/>
              </a:lnSpc>
              <a:buNone/>
              <a:defRPr sz="1725" b="0">
                <a:solidFill>
                  <a:srgbClr val="DBE9EC"/>
                </a:solidFill>
                <a:latin typeface="Arial"/>
                <a:ea typeface="Arial"/>
                <a:cs typeface="Arial"/>
              </a:defRPr>
            </a:pPr>
            <a:r>
              <a:rPr sz="1725" b="0">
                <a:solidFill>
                  <a:srgbClr val="DBE9EC"/>
                </a:solidFill>
                <a:latin typeface="Arial"/>
                <a:ea typeface="Arial"/>
                <a:cs typeface="Arial"/>
              </a:rPr>
              <a:t>An ETL and machine-learning decision-support prototype</a:t>
            </a:r>
          </a:p>
        </p:txBody>
      </p:sp>
      <p:sp>
        <p:nvSpPr>
          <p:cNvPr id="5" name="">
            <a:extLst xmlns:a="http://schemas.openxmlformats.org/drawingml/2006/main">
              <a:ext uri="{FF2B5EF4-FFF2-40B4-BE49-F238E27FC236}">
                <a16:creationId xmlns:a16="http://schemas.microsoft.com/office/drawing/2014/main" id="{926DC4F0-0067-49C6-845D-BAD2791CC6F5}"/>
              </a:ext>
            </a:extLst>
          </p:cNvPr>
          <p:cNvSpPr>
            <a:spLocks xmlns:a="http://schemas.openxmlformats.org/drawingml/2006/main" noGrp="1"/>
          </p:cNvSpPr>
          <p:nvPr/>
        </p:nvSpPr>
        <p:spPr>
          <a:xfrm xmlns:a="http://schemas.openxmlformats.org/drawingml/2006/main" flipH="0">
            <a:off x="628650" y="4057650"/>
            <a:ext cx="5229225"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6" name="institution">
            <a:extLst xmlns:a="http://schemas.openxmlformats.org/drawingml/2006/main">
              <a:ext uri="{FF2B5EF4-FFF2-40B4-BE49-F238E27FC236}">
                <a16:creationId xmlns:a16="http://schemas.microsoft.com/office/drawing/2014/main" id="{08A861AB-9EAF-4716-BA63-A4BAC1B37ED0}"/>
              </a:ext>
            </a:extLst>
          </p:cNvPr>
          <p:cNvSpPr>
            <a:spLocks xmlns:a="http://schemas.openxmlformats.org/drawingml/2006/main" noGrp="1"/>
          </p:cNvSpPr>
          <p:nvPr/>
        </p:nvSpPr>
        <p:spPr>
          <a:xfrm xmlns:a="http://schemas.openxmlformats.org/drawingml/2006/main">
            <a:off x="628650" y="43053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E4B44C"/>
                </a:solidFill>
                <a:latin typeface="Arial"/>
                <a:ea typeface="Arial"/>
                <a:cs typeface="Arial"/>
              </a:defRPr>
            </a:defPPr>
            <a:lvl1pPr algn="l">
              <a:defRPr sz="1200" b="1">
                <a:solidFill>
                  <a:srgbClr val="E4B44C"/>
                </a:solidFill>
                <a:latin typeface="Arial"/>
                <a:ea typeface="Arial"/>
                <a:cs typeface="Arial"/>
              </a:defRPr>
            </a:lvl1pPr>
            <a:lvl2pPr algn="l">
              <a:defRPr sz="1200" b="1">
                <a:solidFill>
                  <a:srgbClr val="E4B44C"/>
                </a:solidFill>
                <a:latin typeface="Arial"/>
                <a:ea typeface="Arial"/>
                <a:cs typeface="Arial"/>
              </a:defRPr>
            </a:lvl2pPr>
            <a:lvl3pPr algn="l">
              <a:defRPr sz="1200" b="1">
                <a:solidFill>
                  <a:srgbClr val="E4B44C"/>
                </a:solidFill>
                <a:latin typeface="Arial"/>
                <a:ea typeface="Arial"/>
                <a:cs typeface="Arial"/>
              </a:defRPr>
            </a:lvl3pPr>
            <a:lvl4pPr algn="l">
              <a:defRPr sz="1200" b="1">
                <a:solidFill>
                  <a:srgbClr val="E4B44C"/>
                </a:solidFill>
                <a:latin typeface="Arial"/>
                <a:ea typeface="Arial"/>
                <a:cs typeface="Arial"/>
              </a:defRPr>
            </a:lvl4pPr>
            <a:lvl5pPr algn="l">
              <a:defRPr sz="1200" b="1">
                <a:solidFill>
                  <a:srgbClr val="E4B44C"/>
                </a:solidFill>
                <a:latin typeface="Arial"/>
                <a:ea typeface="Arial"/>
                <a:cs typeface="Arial"/>
              </a:defRPr>
            </a:lvl5pPr>
            <a:lvl6pPr algn="l">
              <a:defRPr sz="1200" b="1">
                <a:solidFill>
                  <a:srgbClr val="E4B44C"/>
                </a:solidFill>
                <a:latin typeface="Arial"/>
                <a:ea typeface="Arial"/>
                <a:cs typeface="Arial"/>
              </a:defRPr>
            </a:lvl6pPr>
            <a:lvl7pPr algn="l">
              <a:defRPr sz="1200" b="1">
                <a:solidFill>
                  <a:srgbClr val="E4B44C"/>
                </a:solidFill>
                <a:latin typeface="Arial"/>
                <a:ea typeface="Arial"/>
                <a:cs typeface="Arial"/>
              </a:defRPr>
            </a:lvl7pPr>
            <a:lvl8pPr algn="l">
              <a:defRPr sz="1200" b="1">
                <a:solidFill>
                  <a:srgbClr val="E4B44C"/>
                </a:solidFill>
                <a:latin typeface="Arial"/>
                <a:ea typeface="Arial"/>
                <a:cs typeface="Arial"/>
              </a:defRPr>
            </a:lvl8pPr>
            <a:lvl9pPr algn="l">
              <a:defRPr sz="1200" b="1">
                <a:solidFill>
                  <a:srgbClr val="E4B44C"/>
                </a:solidFill>
                <a:latin typeface="Arial"/>
                <a:ea typeface="Arial"/>
                <a:cs typeface="Arial"/>
              </a:defRPr>
            </a:lvl9pPr>
          </a:lstStyle>
          <a:p xmlns:a="http://schemas.openxmlformats.org/drawingml/2006/main">
            <a:pPr algn="l">
              <a:lnSpc>
                <a:spcPct val="100000"/>
              </a:lnSpc>
              <a:buNone/>
              <a:defRPr sz="1200" b="1">
                <a:solidFill>
                  <a:srgbClr val="E4B44C"/>
                </a:solidFill>
                <a:latin typeface="Arial"/>
                <a:ea typeface="Arial"/>
                <a:cs typeface="Arial"/>
              </a:defRPr>
            </a:pPr>
            <a:r>
              <a:rPr sz="1200" b="1">
                <a:solidFill>
                  <a:srgbClr val="E4B44C"/>
                </a:solidFill>
                <a:latin typeface="Arial"/>
                <a:ea typeface="Arial"/>
                <a:cs typeface="Arial"/>
              </a:rPr>
              <a:t>KCA UNIVERSITY  •  KENYA</a:t>
            </a:r>
          </a:p>
        </p:txBody>
      </p:sp>
      <p:sp>
        <p:nvSpPr>
          <p:cNvPr id="7" name="team">
            <a:extLst xmlns:a="http://schemas.openxmlformats.org/drawingml/2006/main">
              <a:ext uri="{FF2B5EF4-FFF2-40B4-BE49-F238E27FC236}">
                <a16:creationId xmlns:a16="http://schemas.microsoft.com/office/drawing/2014/main" id="{E084864D-2798-425A-8DC5-C32825FB2EE0}"/>
              </a:ext>
            </a:extLst>
          </p:cNvPr>
          <p:cNvSpPr>
            <a:spLocks xmlns:a="http://schemas.openxmlformats.org/drawingml/2006/main" noGrp="1"/>
          </p:cNvSpPr>
          <p:nvPr/>
        </p:nvSpPr>
        <p:spPr>
          <a:xfrm xmlns:a="http://schemas.openxmlformats.org/drawingml/2006/main">
            <a:off x="628650" y="47625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lnSpc>
                <a:spcPct val="114000"/>
              </a:lnSpc>
              <a:buNone/>
              <a:defRPr sz="1350" b="0">
                <a:solidFill>
                  <a:srgbClr val="FFFFFF"/>
                </a:solidFill>
                <a:latin typeface="Arial"/>
                <a:ea typeface="Arial"/>
                <a:cs typeface="Arial"/>
              </a:defRPr>
            </a:pPr>
            <a:r>
              <a:rPr sz="1350" b="0">
                <a:solidFill>
                  <a:srgbClr val="FFFFFF"/>
                </a:solidFill>
                <a:latin typeface="Arial"/>
                <a:ea typeface="Arial"/>
                <a:cs typeface="Arial"/>
              </a:rPr>
              <a:t>Tony Kenga  ·  24/03652</a:t>
            </a:r>
          </a:p>
          <a:p xmlns:a="http://schemas.openxmlformats.org/drawingml/2006/main">
            <a:pPr algn="l">
              <a:lnSpc>
                <a:spcPct val="114000"/>
              </a:lnSpc>
              <a:buNone/>
              <a:defRPr sz="1350" b="0">
                <a:solidFill>
                  <a:srgbClr val="FFFFFF"/>
                </a:solidFill>
                <a:latin typeface="Arial"/>
                <a:ea typeface="Arial"/>
                <a:cs typeface="Arial"/>
              </a:defRPr>
            </a:pPr>
            <a:r>
              <a:rPr sz="1350" b="0">
                <a:solidFill>
                  <a:srgbClr val="FFFFFF"/>
                </a:solidFill>
                <a:latin typeface="Arial"/>
                <a:ea typeface="Arial"/>
                <a:cs typeface="Arial"/>
              </a:rPr>
              <a:t>Baraka Blessings  ·  24/04272</a:t>
            </a:r>
          </a:p>
          <a:p xmlns:a="http://schemas.openxmlformats.org/drawingml/2006/main">
            <a:pPr algn="l">
              <a:lnSpc>
                <a:spcPct val="114000"/>
              </a:lnSpc>
              <a:buNone/>
              <a:defRPr sz="1350" b="0">
                <a:solidFill>
                  <a:srgbClr val="FFFFFF"/>
                </a:solidFill>
                <a:latin typeface="Arial"/>
                <a:ea typeface="Arial"/>
                <a:cs typeface="Arial"/>
              </a:defRPr>
            </a:pPr>
            <a:r>
              <a:rPr sz="1350" b="0">
                <a:solidFill>
                  <a:srgbClr val="FFFFFF"/>
                </a:solidFill>
                <a:latin typeface="Arial"/>
                <a:ea typeface="Arial"/>
                <a:cs typeface="Arial"/>
              </a:rPr>
              <a:t>Linet Maina  ·  24/00632</a:t>
            </a:r>
          </a:p>
        </p:txBody>
      </p:sp>
      <p:sp>
        <p:nvSpPr>
          <p:cNvPr id="8" name="">
            <a:extLst xmlns:a="http://schemas.openxmlformats.org/drawingml/2006/main">
              <a:ext uri="{FF2B5EF4-FFF2-40B4-BE49-F238E27FC236}">
                <a16:creationId xmlns:a16="http://schemas.microsoft.com/office/drawing/2014/main" id="{85927A68-C9F0-4B24-8206-228FE03B4B27}"/>
              </a:ext>
            </a:extLst>
          </p:cNvPr>
          <p:cNvSpPr>
            <a:spLocks xmlns:a="http://schemas.openxmlformats.org/drawingml/2006/main" noGrp="1"/>
          </p:cNvSpPr>
          <p:nvPr/>
        </p:nvSpPr>
        <p:spPr>
          <a:xfrm xmlns:a="http://schemas.openxmlformats.org/drawingml/2006/main" flipH="0">
            <a:off x="8096250" y="1695450"/>
            <a:ext cx="1666875" cy="514350"/>
          </a:xfrm>
          <a:prstGeom xmlns:a="http://schemas.openxmlformats.org/drawingml/2006/main" prst="line">
            <a:avLst/>
          </a:prstGeom>
          <a:noFill xmlns:a="http://schemas.openxmlformats.org/drawingml/2006/main"/>
          <a:ln xmlns:a="http://schemas.openxmlformats.org/drawingml/2006/main" w="28575">
            <a:solidFill>
              <a:srgbClr val="5FAFA6"/>
            </a:solidFill>
            <a:prstDash val="solid"/>
          </a:ln>
        </p:spPr>
      </p:sp>
      <p:sp>
        <p:nvSpPr>
          <p:cNvPr id="9" name="">
            <a:extLst xmlns:a="http://schemas.openxmlformats.org/drawingml/2006/main">
              <a:ext uri="{FF2B5EF4-FFF2-40B4-BE49-F238E27FC236}">
                <a16:creationId xmlns:a16="http://schemas.microsoft.com/office/drawing/2014/main" id="{47011713-9C9C-4ACA-B152-6E9255465C79}"/>
              </a:ext>
            </a:extLst>
          </p:cNvPr>
          <p:cNvSpPr>
            <a:spLocks xmlns:a="http://schemas.openxmlformats.org/drawingml/2006/main" noGrp="1"/>
          </p:cNvSpPr>
          <p:nvPr/>
        </p:nvSpPr>
        <p:spPr>
          <a:xfrm xmlns:a="http://schemas.openxmlformats.org/drawingml/2006/main" flipH="1">
            <a:off x="8601075" y="2381250"/>
            <a:ext cx="1257300" cy="1009650"/>
          </a:xfrm>
          <a:prstGeom xmlns:a="http://schemas.openxmlformats.org/drawingml/2006/main" prst="line">
            <a:avLst/>
          </a:prstGeom>
          <a:noFill xmlns:a="http://schemas.openxmlformats.org/drawingml/2006/main"/>
          <a:ln xmlns:a="http://schemas.openxmlformats.org/drawingml/2006/main" w="28575">
            <a:solidFill>
              <a:srgbClr val="5FAFA6"/>
            </a:solidFill>
            <a:prstDash val="solid"/>
          </a:ln>
        </p:spPr>
      </p:sp>
      <p:sp>
        <p:nvSpPr>
          <p:cNvPr id="10" name="">
            <a:extLst xmlns:a="http://schemas.openxmlformats.org/drawingml/2006/main">
              <a:ext uri="{FF2B5EF4-FFF2-40B4-BE49-F238E27FC236}">
                <a16:creationId xmlns:a16="http://schemas.microsoft.com/office/drawing/2014/main" id="{CBA1E65F-C639-4377-B798-2D15F4391839}"/>
              </a:ext>
            </a:extLst>
          </p:cNvPr>
          <p:cNvSpPr>
            <a:spLocks xmlns:a="http://schemas.openxmlformats.org/drawingml/2006/main" noGrp="1"/>
          </p:cNvSpPr>
          <p:nvPr/>
        </p:nvSpPr>
        <p:spPr>
          <a:xfrm xmlns:a="http://schemas.openxmlformats.org/drawingml/2006/main" flipH="0">
            <a:off x="8705850" y="3609975"/>
            <a:ext cx="1485900" cy="866775"/>
          </a:xfrm>
          <a:prstGeom xmlns:a="http://schemas.openxmlformats.org/drawingml/2006/main" prst="line">
            <a:avLst/>
          </a:prstGeom>
          <a:noFill xmlns:a="http://schemas.openxmlformats.org/drawingml/2006/main"/>
          <a:ln xmlns:a="http://schemas.openxmlformats.org/drawingml/2006/main" w="28575">
            <a:solidFill>
              <a:srgbClr val="5FAFA6"/>
            </a:solidFill>
            <a:prstDash val="solid"/>
          </a:ln>
        </p:spPr>
      </p:sp>
      <p:sp>
        <p:nvSpPr>
          <p:cNvPr id="11" name="">
            <a:extLst xmlns:a="http://schemas.openxmlformats.org/drawingml/2006/main">
              <a:ext uri="{FF2B5EF4-FFF2-40B4-BE49-F238E27FC236}">
                <a16:creationId xmlns:a16="http://schemas.microsoft.com/office/drawing/2014/main" id="{0C208BC3-B357-4EDF-ACD8-A534904D3349}"/>
              </a:ext>
            </a:extLst>
          </p:cNvPr>
          <p:cNvSpPr>
            <a:spLocks xmlns:a="http://schemas.openxmlformats.org/drawingml/2006/main" noGrp="1"/>
          </p:cNvSpPr>
          <p:nvPr/>
        </p:nvSpPr>
        <p:spPr>
          <a:xfrm xmlns:a="http://schemas.openxmlformats.org/drawingml/2006/main" flipH="1">
            <a:off x="8058150" y="4695825"/>
            <a:ext cx="2085975" cy="638175"/>
          </a:xfrm>
          <a:prstGeom xmlns:a="http://schemas.openxmlformats.org/drawingml/2006/main" prst="line">
            <a:avLst/>
          </a:prstGeom>
          <a:noFill xmlns:a="http://schemas.openxmlformats.org/drawingml/2006/main"/>
          <a:ln xmlns:a="http://schemas.openxmlformats.org/drawingml/2006/main" w="28575">
            <a:solidFill>
              <a:srgbClr val="5FAFA6"/>
            </a:solidFill>
            <a:prstDash val="solid"/>
          </a:ln>
        </p:spPr>
      </p:sp>
      <p:sp>
        <p:nvSpPr>
          <p:cNvPr id="12" name="">
            <a:extLst xmlns:a="http://schemas.openxmlformats.org/drawingml/2006/main">
              <a:ext uri="{FF2B5EF4-FFF2-40B4-BE49-F238E27FC236}">
                <a16:creationId xmlns:a16="http://schemas.microsoft.com/office/drawing/2014/main" id="{5F240BF1-34E4-4226-BFCE-0068D71D358A}"/>
              </a:ext>
            </a:extLst>
          </p:cNvPr>
          <p:cNvSpPr>
            <a:spLocks xmlns:a="http://schemas.openxmlformats.org/drawingml/2006/main" noGrp="1"/>
          </p:cNvSpPr>
          <p:nvPr/>
        </p:nvSpPr>
        <p:spPr>
          <a:xfrm xmlns:a="http://schemas.openxmlformats.org/drawingml/2006/main" flipH="0">
            <a:off x="7905750" y="1771650"/>
            <a:ext cx="66675" cy="3467100"/>
          </a:xfrm>
          <a:prstGeom xmlns:a="http://schemas.openxmlformats.org/drawingml/2006/main" prst="line">
            <a:avLst/>
          </a:prstGeom>
          <a:noFill xmlns:a="http://schemas.openxmlformats.org/drawingml/2006/main"/>
          <a:ln xmlns:a="http://schemas.openxmlformats.org/drawingml/2006/main" w="19050">
            <a:solidFill>
              <a:srgbClr val="31566A"/>
            </a:solidFill>
            <a:prstDash val="solid"/>
          </a:ln>
        </p:spPr>
      </p:sp>
      <p:sp>
        <p:nvSpPr>
          <p:cNvPr id="13" name="pipeline-node">
            <a:extLst xmlns:a="http://schemas.openxmlformats.org/drawingml/2006/main">
              <a:ext uri="{FF2B5EF4-FFF2-40B4-BE49-F238E27FC236}">
                <a16:creationId xmlns:a16="http://schemas.microsoft.com/office/drawing/2014/main" id="{A6860721-F363-4064-AA7B-10AB90ED06BE}"/>
              </a:ext>
            </a:extLst>
          </p:cNvPr>
          <p:cNvSpPr>
            <a:spLocks xmlns:a="http://schemas.openxmlformats.org/drawingml/2006/main" noGrp="1"/>
          </p:cNvSpPr>
          <p:nvPr/>
        </p:nvSpPr>
        <p:spPr>
          <a:xfrm xmlns:a="http://schemas.openxmlformats.org/drawingml/2006/main">
            <a:off x="7353300" y="1228725"/>
            <a:ext cx="1009650" cy="742950"/>
          </a:xfrm>
          <a:prstGeom xmlns:a="http://schemas.openxmlformats.org/drawingml/2006/main" prst="roundRect">
            <a:avLst>
              <a:gd name="adj" fmla="val 30769"/>
            </a:avLst>
          </a:prstGeom>
          <a:solidFill xmlns:a="http://schemas.openxmlformats.org/drawingml/2006/main">
            <a:srgbClr val="087F78"/>
          </a:solidFill>
          <a:ln xmlns:a="http://schemas.openxmlformats.org/drawingml/2006/main" w="0">
            <a:noFill/>
            <a:prstDash val="solid"/>
          </a:ln>
        </p:spPr>
      </p:sp>
      <p:sp>
        <p:nvSpPr>
          <p:cNvPr id="14" name="node-label">
            <a:extLst xmlns:a="http://schemas.openxmlformats.org/drawingml/2006/main">
              <a:ext uri="{FF2B5EF4-FFF2-40B4-BE49-F238E27FC236}">
                <a16:creationId xmlns:a16="http://schemas.microsoft.com/office/drawing/2014/main" id="{463BCD55-F29D-46A3-BE7B-88A137EB64C4}"/>
              </a:ext>
            </a:extLst>
          </p:cNvPr>
          <p:cNvSpPr>
            <a:spLocks xmlns:a="http://schemas.openxmlformats.org/drawingml/2006/main" noGrp="1"/>
          </p:cNvSpPr>
          <p:nvPr/>
        </p:nvSpPr>
        <p:spPr>
          <a:xfrm xmlns:a="http://schemas.openxmlformats.org/drawingml/2006/main">
            <a:off x="7439025" y="1552575"/>
            <a:ext cx="838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DATA</a:t>
            </a:r>
          </a:p>
        </p:txBody>
      </p:sp>
      <p:sp>
        <p:nvSpPr>
          <p:cNvPr id="15" name="pipeline-node">
            <a:extLst xmlns:a="http://schemas.openxmlformats.org/drawingml/2006/main">
              <a:ext uri="{FF2B5EF4-FFF2-40B4-BE49-F238E27FC236}">
                <a16:creationId xmlns:a16="http://schemas.microsoft.com/office/drawing/2014/main" id="{B9D44445-4E8E-4AE3-B4A6-CD54270BA03D}"/>
              </a:ext>
            </a:extLst>
          </p:cNvPr>
          <p:cNvSpPr>
            <a:spLocks xmlns:a="http://schemas.openxmlformats.org/drawingml/2006/main" noGrp="1"/>
          </p:cNvSpPr>
          <p:nvPr/>
        </p:nvSpPr>
        <p:spPr>
          <a:xfrm xmlns:a="http://schemas.openxmlformats.org/drawingml/2006/main">
            <a:off x="9353550" y="1866900"/>
            <a:ext cx="1009650" cy="742950"/>
          </a:xfrm>
          <a:prstGeom xmlns:a="http://schemas.openxmlformats.org/drawingml/2006/main" prst="roundRect">
            <a:avLst>
              <a:gd name="adj" fmla="val 30769"/>
            </a:avLst>
          </a:prstGeom>
          <a:solidFill xmlns:a="http://schemas.openxmlformats.org/drawingml/2006/main">
            <a:srgbClr val="087F78"/>
          </a:solidFill>
          <a:ln xmlns:a="http://schemas.openxmlformats.org/drawingml/2006/main" w="0">
            <a:noFill/>
            <a:prstDash val="solid"/>
          </a:ln>
        </p:spPr>
      </p:sp>
      <p:sp>
        <p:nvSpPr>
          <p:cNvPr id="16" name="node-label">
            <a:extLst xmlns:a="http://schemas.openxmlformats.org/drawingml/2006/main">
              <a:ext uri="{FF2B5EF4-FFF2-40B4-BE49-F238E27FC236}">
                <a16:creationId xmlns:a16="http://schemas.microsoft.com/office/drawing/2014/main" id="{21E6FAAD-91A6-4E81-B0D5-621A221AC583}"/>
              </a:ext>
            </a:extLst>
          </p:cNvPr>
          <p:cNvSpPr>
            <a:spLocks xmlns:a="http://schemas.openxmlformats.org/drawingml/2006/main" noGrp="1"/>
          </p:cNvSpPr>
          <p:nvPr/>
        </p:nvSpPr>
        <p:spPr>
          <a:xfrm xmlns:a="http://schemas.openxmlformats.org/drawingml/2006/main">
            <a:off x="9439275" y="2190750"/>
            <a:ext cx="838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ETL</a:t>
            </a:r>
          </a:p>
        </p:txBody>
      </p:sp>
      <p:sp>
        <p:nvSpPr>
          <p:cNvPr id="17" name="pipeline-node">
            <a:extLst xmlns:a="http://schemas.openxmlformats.org/drawingml/2006/main">
              <a:ext uri="{FF2B5EF4-FFF2-40B4-BE49-F238E27FC236}">
                <a16:creationId xmlns:a16="http://schemas.microsoft.com/office/drawing/2014/main" id="{A583207C-3F10-4794-B439-4DAD7600CDE5}"/>
              </a:ext>
            </a:extLst>
          </p:cNvPr>
          <p:cNvSpPr>
            <a:spLocks xmlns:a="http://schemas.openxmlformats.org/drawingml/2006/main" noGrp="1"/>
          </p:cNvSpPr>
          <p:nvPr/>
        </p:nvSpPr>
        <p:spPr>
          <a:xfrm xmlns:a="http://schemas.openxmlformats.org/drawingml/2006/main">
            <a:off x="8020050" y="3114675"/>
            <a:ext cx="1009650" cy="742950"/>
          </a:xfrm>
          <a:prstGeom xmlns:a="http://schemas.openxmlformats.org/drawingml/2006/main" prst="roundRect">
            <a:avLst>
              <a:gd name="adj" fmla="val 30769"/>
            </a:avLst>
          </a:prstGeom>
          <a:solidFill xmlns:a="http://schemas.openxmlformats.org/drawingml/2006/main">
            <a:srgbClr val="087F78"/>
          </a:solidFill>
          <a:ln xmlns:a="http://schemas.openxmlformats.org/drawingml/2006/main" w="0">
            <a:noFill/>
            <a:prstDash val="solid"/>
          </a:ln>
        </p:spPr>
      </p:sp>
      <p:sp>
        <p:nvSpPr>
          <p:cNvPr id="18" name="node-label">
            <a:extLst xmlns:a="http://schemas.openxmlformats.org/drawingml/2006/main">
              <a:ext uri="{FF2B5EF4-FFF2-40B4-BE49-F238E27FC236}">
                <a16:creationId xmlns:a16="http://schemas.microsoft.com/office/drawing/2014/main" id="{6577AAC7-D471-4418-8C93-49963010D5FE}"/>
              </a:ext>
            </a:extLst>
          </p:cNvPr>
          <p:cNvSpPr>
            <a:spLocks xmlns:a="http://schemas.openxmlformats.org/drawingml/2006/main" noGrp="1"/>
          </p:cNvSpPr>
          <p:nvPr/>
        </p:nvSpPr>
        <p:spPr>
          <a:xfrm xmlns:a="http://schemas.openxmlformats.org/drawingml/2006/main">
            <a:off x="8105775" y="3438525"/>
            <a:ext cx="838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MODEL</a:t>
            </a:r>
          </a:p>
        </p:txBody>
      </p:sp>
      <p:sp>
        <p:nvSpPr>
          <p:cNvPr id="19" name="pipeline-node">
            <a:extLst xmlns:a="http://schemas.openxmlformats.org/drawingml/2006/main">
              <a:ext uri="{FF2B5EF4-FFF2-40B4-BE49-F238E27FC236}">
                <a16:creationId xmlns:a16="http://schemas.microsoft.com/office/drawing/2014/main" id="{9086D1FE-2C30-4CCE-99A1-DB87DFD76BA3}"/>
              </a:ext>
            </a:extLst>
          </p:cNvPr>
          <p:cNvSpPr>
            <a:spLocks xmlns:a="http://schemas.openxmlformats.org/drawingml/2006/main" noGrp="1"/>
          </p:cNvSpPr>
          <p:nvPr/>
        </p:nvSpPr>
        <p:spPr>
          <a:xfrm xmlns:a="http://schemas.openxmlformats.org/drawingml/2006/main">
            <a:off x="9782175" y="4200525"/>
            <a:ext cx="1009650" cy="742950"/>
          </a:xfrm>
          <a:prstGeom xmlns:a="http://schemas.openxmlformats.org/drawingml/2006/main" prst="roundRect">
            <a:avLst>
              <a:gd name="adj" fmla="val 30769"/>
            </a:avLst>
          </a:prstGeom>
          <a:solidFill xmlns:a="http://schemas.openxmlformats.org/drawingml/2006/main">
            <a:srgbClr val="087F78"/>
          </a:solidFill>
          <a:ln xmlns:a="http://schemas.openxmlformats.org/drawingml/2006/main" w="0">
            <a:noFill/>
            <a:prstDash val="solid"/>
          </a:ln>
        </p:spPr>
      </p:sp>
      <p:sp>
        <p:nvSpPr>
          <p:cNvPr id="20" name="node-label">
            <a:extLst xmlns:a="http://schemas.openxmlformats.org/drawingml/2006/main">
              <a:ext uri="{FF2B5EF4-FFF2-40B4-BE49-F238E27FC236}">
                <a16:creationId xmlns:a16="http://schemas.microsoft.com/office/drawing/2014/main" id="{A119033C-CE6C-490D-A758-207E507DCDAD}"/>
              </a:ext>
            </a:extLst>
          </p:cNvPr>
          <p:cNvSpPr>
            <a:spLocks xmlns:a="http://schemas.openxmlformats.org/drawingml/2006/main" noGrp="1"/>
          </p:cNvSpPr>
          <p:nvPr/>
        </p:nvSpPr>
        <p:spPr>
          <a:xfrm xmlns:a="http://schemas.openxmlformats.org/drawingml/2006/main">
            <a:off x="9867900" y="4524375"/>
            <a:ext cx="838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REVIEW</a:t>
            </a:r>
          </a:p>
        </p:txBody>
      </p:sp>
      <p:sp>
        <p:nvSpPr>
          <p:cNvPr id="21" name="pipeline-node">
            <a:extLst xmlns:a="http://schemas.openxmlformats.org/drawingml/2006/main">
              <a:ext uri="{FF2B5EF4-FFF2-40B4-BE49-F238E27FC236}">
                <a16:creationId xmlns:a16="http://schemas.microsoft.com/office/drawing/2014/main" id="{C3C574E0-804C-4E30-91DB-57CDAE93A1BA}"/>
              </a:ext>
            </a:extLst>
          </p:cNvPr>
          <p:cNvSpPr>
            <a:spLocks xmlns:a="http://schemas.openxmlformats.org/drawingml/2006/main" noGrp="1"/>
          </p:cNvSpPr>
          <p:nvPr/>
        </p:nvSpPr>
        <p:spPr>
          <a:xfrm xmlns:a="http://schemas.openxmlformats.org/drawingml/2006/main">
            <a:off x="7419975" y="5010150"/>
            <a:ext cx="1009650" cy="742950"/>
          </a:xfrm>
          <a:prstGeom xmlns:a="http://schemas.openxmlformats.org/drawingml/2006/main" prst="roundRect">
            <a:avLst>
              <a:gd name="adj" fmla="val 30769"/>
            </a:avLst>
          </a:prstGeom>
          <a:solidFill xmlns:a="http://schemas.openxmlformats.org/drawingml/2006/main">
            <a:srgbClr val="087F78"/>
          </a:solidFill>
          <a:ln xmlns:a="http://schemas.openxmlformats.org/drawingml/2006/main" w="0">
            <a:noFill/>
            <a:prstDash val="solid"/>
          </a:ln>
        </p:spPr>
      </p:sp>
      <p:sp>
        <p:nvSpPr>
          <p:cNvPr id="22" name="node-label">
            <a:extLst xmlns:a="http://schemas.openxmlformats.org/drawingml/2006/main">
              <a:ext uri="{FF2B5EF4-FFF2-40B4-BE49-F238E27FC236}">
                <a16:creationId xmlns:a16="http://schemas.microsoft.com/office/drawing/2014/main" id="{534DA238-C8D3-4669-B987-14A2EC461228}"/>
              </a:ext>
            </a:extLst>
          </p:cNvPr>
          <p:cNvSpPr>
            <a:spLocks xmlns:a="http://schemas.openxmlformats.org/drawingml/2006/main" noGrp="1"/>
          </p:cNvSpPr>
          <p:nvPr/>
        </p:nvSpPr>
        <p:spPr>
          <a:xfrm xmlns:a="http://schemas.openxmlformats.org/drawingml/2006/main">
            <a:off x="7505700" y="5334000"/>
            <a:ext cx="838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SUPPORT</a:t>
            </a:r>
          </a:p>
        </p:txBody>
      </p:sp>
      <p:sp>
        <p:nvSpPr>
          <p:cNvPr id="23" name="prototype-note">
            <a:extLst xmlns:a="http://schemas.openxmlformats.org/drawingml/2006/main">
              <a:ext uri="{FF2B5EF4-FFF2-40B4-BE49-F238E27FC236}">
                <a16:creationId xmlns:a16="http://schemas.microsoft.com/office/drawing/2014/main" id="{FB10B7D7-BC3F-43FE-97B0-B8F33E532FBB}"/>
              </a:ext>
            </a:extLst>
          </p:cNvPr>
          <p:cNvSpPr>
            <a:spLocks xmlns:a="http://schemas.openxmlformats.org/drawingml/2006/main" noGrp="1"/>
          </p:cNvSpPr>
          <p:nvPr/>
        </p:nvSpPr>
        <p:spPr>
          <a:xfrm xmlns:a="http://schemas.openxmlformats.org/drawingml/2006/main">
            <a:off x="7124700" y="609600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a:solidFill>
                  <a:srgbClr val="5C7180"/>
                </a:solidFill>
                <a:latin typeface="Arial"/>
                <a:ea typeface="Arial"/>
                <a:cs typeface="Arial"/>
              </a:defRPr>
            </a:defPPr>
            <a:lvl1pPr algn="ctr">
              <a:defRPr sz="1125" b="0">
                <a:solidFill>
                  <a:srgbClr val="5C7180"/>
                </a:solidFill>
                <a:latin typeface="Arial"/>
                <a:ea typeface="Arial"/>
                <a:cs typeface="Arial"/>
              </a:defRPr>
            </a:lvl1pPr>
            <a:lvl2pPr algn="ctr">
              <a:defRPr sz="1125" b="0">
                <a:solidFill>
                  <a:srgbClr val="5C7180"/>
                </a:solidFill>
                <a:latin typeface="Arial"/>
                <a:ea typeface="Arial"/>
                <a:cs typeface="Arial"/>
              </a:defRPr>
            </a:lvl2pPr>
            <a:lvl3pPr algn="ctr">
              <a:defRPr sz="1125" b="0">
                <a:solidFill>
                  <a:srgbClr val="5C7180"/>
                </a:solidFill>
                <a:latin typeface="Arial"/>
                <a:ea typeface="Arial"/>
                <a:cs typeface="Arial"/>
              </a:defRPr>
            </a:lvl3pPr>
            <a:lvl4pPr algn="ctr">
              <a:defRPr sz="1125" b="0">
                <a:solidFill>
                  <a:srgbClr val="5C7180"/>
                </a:solidFill>
                <a:latin typeface="Arial"/>
                <a:ea typeface="Arial"/>
                <a:cs typeface="Arial"/>
              </a:defRPr>
            </a:lvl4pPr>
            <a:lvl5pPr algn="ctr">
              <a:defRPr sz="1125" b="0">
                <a:solidFill>
                  <a:srgbClr val="5C7180"/>
                </a:solidFill>
                <a:latin typeface="Arial"/>
                <a:ea typeface="Arial"/>
                <a:cs typeface="Arial"/>
              </a:defRPr>
            </a:lvl5pPr>
            <a:lvl6pPr algn="ctr">
              <a:defRPr sz="1125" b="0">
                <a:solidFill>
                  <a:srgbClr val="5C7180"/>
                </a:solidFill>
                <a:latin typeface="Arial"/>
                <a:ea typeface="Arial"/>
                <a:cs typeface="Arial"/>
              </a:defRPr>
            </a:lvl6pPr>
            <a:lvl7pPr algn="ctr">
              <a:defRPr sz="1125" b="0">
                <a:solidFill>
                  <a:srgbClr val="5C7180"/>
                </a:solidFill>
                <a:latin typeface="Arial"/>
                <a:ea typeface="Arial"/>
                <a:cs typeface="Arial"/>
              </a:defRPr>
            </a:lvl7pPr>
            <a:lvl8pPr algn="ctr">
              <a:defRPr sz="1125" b="0">
                <a:solidFill>
                  <a:srgbClr val="5C7180"/>
                </a:solidFill>
                <a:latin typeface="Arial"/>
                <a:ea typeface="Arial"/>
                <a:cs typeface="Arial"/>
              </a:defRPr>
            </a:lvl8pPr>
            <a:lvl9pPr algn="ctr">
              <a:defRPr sz="1125" b="0">
                <a:solidFill>
                  <a:srgbClr val="5C7180"/>
                </a:solidFill>
                <a:latin typeface="Arial"/>
                <a:ea typeface="Arial"/>
                <a:cs typeface="Arial"/>
              </a:defRPr>
            </a:lvl9pPr>
          </a:lstStyle>
          <a:p xmlns:a="http://schemas.openxmlformats.org/drawingml/2006/main">
            <a:pPr algn="ctr">
              <a:lnSpc>
                <a:spcPct val="100000"/>
              </a:lnSpc>
              <a:buNone/>
              <a:defRPr sz="1125" b="0">
                <a:solidFill>
                  <a:srgbClr val="5C7180"/>
                </a:solidFill>
                <a:latin typeface="Arial"/>
                <a:ea typeface="Arial"/>
                <a:cs typeface="Arial"/>
              </a:defRPr>
            </a:pPr>
            <a:r>
              <a:rPr sz="1125" b="0">
                <a:solidFill>
                  <a:srgbClr val="5C7180"/>
                </a:solidFill>
                <a:latin typeface="Arial"/>
                <a:ea typeface="Arial"/>
                <a:cs typeface="Arial"/>
              </a:rPr>
              <a:t>Prototype • Human review required</a:t>
            </a:r>
          </a:p>
        </p:txBody>
      </p:sp>
    </p:spTree>
    <p:extLst>
      <p:ext uri="{BB962C8B-B14F-4D97-AF65-F5344CB8AC3E}">
        <p14:creationId xmlns:p14="http://schemas.microsoft.com/office/powerpoint/2010/main" val="1674374468"/>
      </p:ext>
    </p:extLst>
  </p:cSld>
</p:sld>
</file>

<file path=ppt/slides/slide2.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20" name="section-label">
            <a:extLst xmlns:a="http://schemas.openxmlformats.org/drawingml/2006/main">
              <a:ext uri="{FF2B5EF4-FFF2-40B4-BE49-F238E27FC236}">
                <a16:creationId xmlns:a16="http://schemas.microsoft.com/office/drawing/2014/main" id="{DE4F3750-6BA9-4012-95DE-0B63646A8057}"/>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4985DE4B-6B7E-4C8F-8ABC-1DE9EB844373}"/>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A campus challenge—and a careful use case</a:t>
            </a:r>
          </a:p>
        </p:txBody>
      </p:sp>
      <p:sp>
        <p:nvSpPr>
          <p:cNvPr id="3" name="">
            <a:extLst xmlns:a="http://schemas.openxmlformats.org/drawingml/2006/main">
              <a:ext uri="{FF2B5EF4-FFF2-40B4-BE49-F238E27FC236}">
                <a16:creationId xmlns:a16="http://schemas.microsoft.com/office/drawing/2014/main" id="{258E55A2-A7CE-44A1-AEE1-7E3C78F0D5F1}"/>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A13BDCA6-37EB-4049-8E1D-84AC25B8BB5F}"/>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63437B56-C7EB-489F-B6B2-64E92F3FE7DF}"/>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26E9C091-42C7-4001-95C2-9357C584995D}"/>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02 / 10</a:t>
            </a:r>
          </a:p>
        </p:txBody>
      </p:sp>
      <p:sp>
        <p:nvSpPr>
          <p:cNvPr id="7" name="screenshot-frame">
            <a:extLst xmlns:a="http://schemas.openxmlformats.org/drawingml/2006/main">
              <a:ext uri="{FF2B5EF4-FFF2-40B4-BE49-F238E27FC236}">
                <a16:creationId xmlns:a16="http://schemas.microsoft.com/office/drawing/2014/main" id="{7144CE8A-B17E-4FF8-A063-ED3B095F9C86}"/>
              </a:ext>
            </a:extLst>
          </p:cNvPr>
          <p:cNvSpPr>
            <a:spLocks xmlns:a="http://schemas.openxmlformats.org/drawingml/2006/main" noGrp="1"/>
          </p:cNvSpPr>
          <p:nvPr/>
        </p:nvSpPr>
        <p:spPr>
          <a:xfrm xmlns:a="http://schemas.openxmlformats.org/drawingml/2006/main">
            <a:off x="457200" y="1343025"/>
            <a:ext cx="6457950" cy="3933825"/>
          </a:xfrm>
          <a:prstGeom xmlns:a="http://schemas.openxmlformats.org/drawingml/2006/main" prst="roundRect">
            <a:avLst>
              <a:gd name="adj" fmla="val 2906"/>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6B9109CD-CF3D-419D-9DD2-982D71FBFA30}"/>
              </a:ext>
            </a:extLst>
          </p:cNvPr>
          <p:cNvPicPr>
            <a:picLocks xmlns:a="http://schemas.openxmlformats.org/drawingml/2006/main" noChangeAspect="1"/>
          </p:cNvPicPr>
          <p:nvPr/>
        </p:nvPicPr>
        <p:blipFill>
          <a:blip xmlns:r="http://schemas.openxmlformats.org/officeDocument/2006/relationships" xmlns:a="http://schemas.openxmlformats.org/drawingml/2006/main" r:embed="R8d4450daf34b45ed"/>
          <a:stretch xmlns:a="http://schemas.openxmlformats.org/drawingml/2006/main"/>
        </p:blipFill>
        <p:spPr>
          <a:xfrm xmlns:a="http://schemas.openxmlformats.org/drawingml/2006/main">
            <a:off x="908685" y="1381125"/>
            <a:ext cx="5554980" cy="3857625"/>
          </a:xfrm>
          <a:prstGeom xmlns:a="http://schemas.openxmlformats.org/drawingml/2006/main" prst="roundRect">
            <a:avLst>
              <a:gd name="adj" fmla="val 2469"/>
            </a:avLst>
          </a:prstGeom>
        </p:spPr>
      </p:pic>
      <p:sp>
        <p:nvSpPr>
          <p:cNvPr id="9" name="dashboard-caption">
            <a:extLst xmlns:a="http://schemas.openxmlformats.org/drawingml/2006/main">
              <a:ext uri="{FF2B5EF4-FFF2-40B4-BE49-F238E27FC236}">
                <a16:creationId xmlns:a16="http://schemas.microsoft.com/office/drawing/2014/main" id="{5F02F4E0-AD78-41CE-AA1F-D07C9172B593}"/>
              </a:ext>
            </a:extLst>
          </p:cNvPr>
          <p:cNvSpPr>
            <a:spLocks xmlns:a="http://schemas.openxmlformats.org/drawingml/2006/main" noGrp="1"/>
          </p:cNvSpPr>
          <p:nvPr/>
        </p:nvSpPr>
        <p:spPr>
          <a:xfrm xmlns:a="http://schemas.openxmlformats.org/drawingml/2006/main">
            <a:off x="571500" y="5334000"/>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C7180"/>
                </a:solidFill>
                <a:latin typeface="Arial"/>
                <a:ea typeface="Arial"/>
                <a:cs typeface="Arial"/>
              </a:defRPr>
            </a:defPPr>
            <a:lvl1pPr algn="l">
              <a:defRPr sz="975" b="1">
                <a:solidFill>
                  <a:srgbClr val="5C7180"/>
                </a:solidFill>
                <a:latin typeface="Arial"/>
                <a:ea typeface="Arial"/>
                <a:cs typeface="Arial"/>
              </a:defRPr>
            </a:lvl1pPr>
            <a:lvl2pPr algn="l">
              <a:defRPr sz="975" b="1">
                <a:solidFill>
                  <a:srgbClr val="5C7180"/>
                </a:solidFill>
                <a:latin typeface="Arial"/>
                <a:ea typeface="Arial"/>
                <a:cs typeface="Arial"/>
              </a:defRPr>
            </a:lvl2pPr>
            <a:lvl3pPr algn="l">
              <a:defRPr sz="975" b="1">
                <a:solidFill>
                  <a:srgbClr val="5C7180"/>
                </a:solidFill>
                <a:latin typeface="Arial"/>
                <a:ea typeface="Arial"/>
                <a:cs typeface="Arial"/>
              </a:defRPr>
            </a:lvl3pPr>
            <a:lvl4pPr algn="l">
              <a:defRPr sz="975" b="1">
                <a:solidFill>
                  <a:srgbClr val="5C7180"/>
                </a:solidFill>
                <a:latin typeface="Arial"/>
                <a:ea typeface="Arial"/>
                <a:cs typeface="Arial"/>
              </a:defRPr>
            </a:lvl4pPr>
            <a:lvl5pPr algn="l">
              <a:defRPr sz="975" b="1">
                <a:solidFill>
                  <a:srgbClr val="5C7180"/>
                </a:solidFill>
                <a:latin typeface="Arial"/>
                <a:ea typeface="Arial"/>
                <a:cs typeface="Arial"/>
              </a:defRPr>
            </a:lvl5pPr>
            <a:lvl6pPr algn="l">
              <a:defRPr sz="975" b="1">
                <a:solidFill>
                  <a:srgbClr val="5C7180"/>
                </a:solidFill>
                <a:latin typeface="Arial"/>
                <a:ea typeface="Arial"/>
                <a:cs typeface="Arial"/>
              </a:defRPr>
            </a:lvl6pPr>
            <a:lvl7pPr algn="l">
              <a:defRPr sz="975" b="1">
                <a:solidFill>
                  <a:srgbClr val="5C7180"/>
                </a:solidFill>
                <a:latin typeface="Arial"/>
                <a:ea typeface="Arial"/>
                <a:cs typeface="Arial"/>
              </a:defRPr>
            </a:lvl7pPr>
            <a:lvl8pPr algn="l">
              <a:defRPr sz="975" b="1">
                <a:solidFill>
                  <a:srgbClr val="5C7180"/>
                </a:solidFill>
                <a:latin typeface="Arial"/>
                <a:ea typeface="Arial"/>
                <a:cs typeface="Arial"/>
              </a:defRPr>
            </a:lvl8pPr>
            <a:lvl9pPr algn="l">
              <a:defRPr sz="975" b="1">
                <a:solidFill>
                  <a:srgbClr val="5C7180"/>
                </a:solidFill>
                <a:latin typeface="Arial"/>
                <a:ea typeface="Arial"/>
                <a:cs typeface="Arial"/>
              </a:defRPr>
            </a:lvl9pPr>
          </a:lstStyle>
          <a:p xmlns:a="http://schemas.openxmlformats.org/drawingml/2006/main">
            <a:pPr algn="l">
              <a:lnSpc>
                <a:spcPct val="100000"/>
              </a:lnSpc>
              <a:buNone/>
              <a:defRPr sz="975" b="1">
                <a:solidFill>
                  <a:srgbClr val="5C7180"/>
                </a:solidFill>
                <a:latin typeface="Arial"/>
                <a:ea typeface="Arial"/>
                <a:cs typeface="Arial"/>
              </a:defRPr>
            </a:pPr>
            <a:r>
              <a:rPr sz="975" b="1">
                <a:solidFill>
                  <a:srgbClr val="5C7180"/>
                </a:solidFill>
                <a:latin typeface="Arial"/>
                <a:ea typeface="Arial"/>
                <a:cs typeface="Arial"/>
              </a:rPr>
              <a:t>LIVE APP • University overview with cohort counts and held-out metric</a:t>
            </a:r>
          </a:p>
        </p:txBody>
      </p:sp>
      <p:sp>
        <p:nvSpPr>
          <p:cNvPr id="10" name="context-panel">
            <a:extLst xmlns:a="http://schemas.openxmlformats.org/drawingml/2006/main">
              <a:ext uri="{FF2B5EF4-FFF2-40B4-BE49-F238E27FC236}">
                <a16:creationId xmlns:a16="http://schemas.microsoft.com/office/drawing/2014/main" id="{C218C3DB-0F91-4C96-AFFE-7DA86012385B}"/>
              </a:ext>
            </a:extLst>
          </p:cNvPr>
          <p:cNvSpPr>
            <a:spLocks xmlns:a="http://schemas.openxmlformats.org/drawingml/2006/main" noGrp="1"/>
          </p:cNvSpPr>
          <p:nvPr/>
        </p:nvSpPr>
        <p:spPr>
          <a:xfrm xmlns:a="http://schemas.openxmlformats.org/drawingml/2006/main">
            <a:off x="7124700" y="1381125"/>
            <a:ext cx="4572000" cy="4181475"/>
          </a:xfrm>
          <a:prstGeom xmlns:a="http://schemas.openxmlformats.org/drawingml/2006/main" prst="roundRect">
            <a:avLst>
              <a:gd name="adj" fmla="val 3645"/>
            </a:avLst>
          </a:prstGeom>
          <a:solidFill xmlns:a="http://schemas.openxmlformats.org/drawingml/2006/main">
            <a:srgbClr val="FFFFFF"/>
          </a:solidFill>
          <a:ln xmlns:a="http://schemas.openxmlformats.org/drawingml/2006/main" w="9525">
            <a:solidFill>
              <a:srgbClr val="D9E2E5"/>
            </a:solidFill>
            <a:prstDash val="solid"/>
          </a:ln>
        </p:spPr>
      </p:sp>
      <p:sp>
        <p:nvSpPr>
          <p:cNvPr id="11" name="context-heading">
            <a:extLst xmlns:a="http://schemas.openxmlformats.org/drawingml/2006/main">
              <a:ext uri="{FF2B5EF4-FFF2-40B4-BE49-F238E27FC236}">
                <a16:creationId xmlns:a16="http://schemas.microsoft.com/office/drawing/2014/main" id="{A4F925B7-D574-4716-9424-841E2065DA56}"/>
              </a:ext>
            </a:extLst>
          </p:cNvPr>
          <p:cNvSpPr>
            <a:spLocks xmlns:a="http://schemas.openxmlformats.org/drawingml/2006/main" noGrp="1"/>
          </p:cNvSpPr>
          <p:nvPr/>
        </p:nvSpPr>
        <p:spPr>
          <a:xfrm xmlns:a="http://schemas.openxmlformats.org/drawingml/2006/main">
            <a:off x="7372350" y="1609725"/>
            <a:ext cx="4048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02B3F"/>
                </a:solidFill>
                <a:latin typeface="Arial"/>
                <a:ea typeface="Arial"/>
                <a:cs typeface="Arial"/>
              </a:defRPr>
            </a:defPPr>
            <a:lvl1pPr algn="l">
              <a:defRPr sz="1800" b="1">
                <a:solidFill>
                  <a:srgbClr val="102B3F"/>
                </a:solidFill>
                <a:latin typeface="Arial"/>
                <a:ea typeface="Arial"/>
                <a:cs typeface="Arial"/>
              </a:defRPr>
            </a:lvl1pPr>
            <a:lvl2pPr algn="l">
              <a:defRPr sz="1800" b="1">
                <a:solidFill>
                  <a:srgbClr val="102B3F"/>
                </a:solidFill>
                <a:latin typeface="Arial"/>
                <a:ea typeface="Arial"/>
                <a:cs typeface="Arial"/>
              </a:defRPr>
            </a:lvl2pPr>
            <a:lvl3pPr algn="l">
              <a:defRPr sz="1800" b="1">
                <a:solidFill>
                  <a:srgbClr val="102B3F"/>
                </a:solidFill>
                <a:latin typeface="Arial"/>
                <a:ea typeface="Arial"/>
                <a:cs typeface="Arial"/>
              </a:defRPr>
            </a:lvl3pPr>
            <a:lvl4pPr algn="l">
              <a:defRPr sz="1800" b="1">
                <a:solidFill>
                  <a:srgbClr val="102B3F"/>
                </a:solidFill>
                <a:latin typeface="Arial"/>
                <a:ea typeface="Arial"/>
                <a:cs typeface="Arial"/>
              </a:defRPr>
            </a:lvl4pPr>
            <a:lvl5pPr algn="l">
              <a:defRPr sz="1800" b="1">
                <a:solidFill>
                  <a:srgbClr val="102B3F"/>
                </a:solidFill>
                <a:latin typeface="Arial"/>
                <a:ea typeface="Arial"/>
                <a:cs typeface="Arial"/>
              </a:defRPr>
            </a:lvl5pPr>
            <a:lvl6pPr algn="l">
              <a:defRPr sz="1800" b="1">
                <a:solidFill>
                  <a:srgbClr val="102B3F"/>
                </a:solidFill>
                <a:latin typeface="Arial"/>
                <a:ea typeface="Arial"/>
                <a:cs typeface="Arial"/>
              </a:defRPr>
            </a:lvl6pPr>
            <a:lvl7pPr algn="l">
              <a:defRPr sz="1800" b="1">
                <a:solidFill>
                  <a:srgbClr val="102B3F"/>
                </a:solidFill>
                <a:latin typeface="Arial"/>
                <a:ea typeface="Arial"/>
                <a:cs typeface="Arial"/>
              </a:defRPr>
            </a:lvl7pPr>
            <a:lvl8pPr algn="l">
              <a:defRPr sz="1800" b="1">
                <a:solidFill>
                  <a:srgbClr val="102B3F"/>
                </a:solidFill>
                <a:latin typeface="Arial"/>
                <a:ea typeface="Arial"/>
                <a:cs typeface="Arial"/>
              </a:defRPr>
            </a:lvl8pPr>
            <a:lvl9pPr algn="l">
              <a:defRPr sz="1800" b="1">
                <a:solidFill>
                  <a:srgbClr val="102B3F"/>
                </a:solidFill>
                <a:latin typeface="Arial"/>
                <a:ea typeface="Arial"/>
                <a:cs typeface="Arial"/>
              </a:defRPr>
            </a:lvl9pPr>
          </a:lstStyle>
          <a:p xmlns:a="http://schemas.openxmlformats.org/drawingml/2006/main">
            <a:pPr algn="l">
              <a:lnSpc>
                <a:spcPct val="100000"/>
              </a:lnSpc>
              <a:buNone/>
              <a:defRPr sz="1800" b="1">
                <a:solidFill>
                  <a:srgbClr val="102B3F"/>
                </a:solidFill>
                <a:latin typeface="Arial"/>
                <a:ea typeface="Arial"/>
                <a:cs typeface="Arial"/>
              </a:defRPr>
            </a:pPr>
            <a:r>
              <a:rPr sz="1800" b="1">
                <a:solidFill>
                  <a:srgbClr val="102B3F"/>
                </a:solidFill>
                <a:latin typeface="Arial"/>
                <a:ea typeface="Arial"/>
                <a:cs typeface="Arial"/>
              </a:rPr>
              <a:t>From signal to supportive conversation</a:t>
            </a:r>
          </a:p>
        </p:txBody>
      </p:sp>
      <p:sp>
        <p:nvSpPr>
          <p:cNvPr id="12" name="context-copy">
            <a:extLst xmlns:a="http://schemas.openxmlformats.org/drawingml/2006/main">
              <a:ext uri="{FF2B5EF4-FFF2-40B4-BE49-F238E27FC236}">
                <a16:creationId xmlns:a16="http://schemas.microsoft.com/office/drawing/2014/main" id="{C4ECFEC5-C83E-4977-B118-2D5A606E2E26}"/>
              </a:ext>
            </a:extLst>
          </p:cNvPr>
          <p:cNvSpPr>
            <a:spLocks xmlns:a="http://schemas.openxmlformats.org/drawingml/2006/main" noGrp="1"/>
          </p:cNvSpPr>
          <p:nvPr/>
        </p:nvSpPr>
        <p:spPr>
          <a:xfrm xmlns:a="http://schemas.openxmlformats.org/drawingml/2006/main">
            <a:off x="7372350" y="2266950"/>
            <a:ext cx="40481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82F41"/>
                </a:solidFill>
                <a:latin typeface="Arial"/>
                <a:ea typeface="Arial"/>
                <a:cs typeface="Arial"/>
              </a:defRPr>
            </a:defPPr>
            <a:lvl1pPr algn="l">
              <a:defRPr sz="1350" b="0">
                <a:solidFill>
                  <a:srgbClr val="182F41"/>
                </a:solidFill>
                <a:latin typeface="Arial"/>
                <a:ea typeface="Arial"/>
                <a:cs typeface="Arial"/>
              </a:defRPr>
            </a:lvl1pPr>
            <a:lvl2pPr algn="l">
              <a:defRPr sz="1350" b="0">
                <a:solidFill>
                  <a:srgbClr val="182F41"/>
                </a:solidFill>
                <a:latin typeface="Arial"/>
                <a:ea typeface="Arial"/>
                <a:cs typeface="Arial"/>
              </a:defRPr>
            </a:lvl2pPr>
            <a:lvl3pPr algn="l">
              <a:defRPr sz="1350" b="0">
                <a:solidFill>
                  <a:srgbClr val="182F41"/>
                </a:solidFill>
                <a:latin typeface="Arial"/>
                <a:ea typeface="Arial"/>
                <a:cs typeface="Arial"/>
              </a:defRPr>
            </a:lvl3pPr>
            <a:lvl4pPr algn="l">
              <a:defRPr sz="1350" b="0">
                <a:solidFill>
                  <a:srgbClr val="182F41"/>
                </a:solidFill>
                <a:latin typeface="Arial"/>
                <a:ea typeface="Arial"/>
                <a:cs typeface="Arial"/>
              </a:defRPr>
            </a:lvl4pPr>
            <a:lvl5pPr algn="l">
              <a:defRPr sz="1350" b="0">
                <a:solidFill>
                  <a:srgbClr val="182F41"/>
                </a:solidFill>
                <a:latin typeface="Arial"/>
                <a:ea typeface="Arial"/>
                <a:cs typeface="Arial"/>
              </a:defRPr>
            </a:lvl5pPr>
            <a:lvl6pPr algn="l">
              <a:defRPr sz="1350" b="0">
                <a:solidFill>
                  <a:srgbClr val="182F41"/>
                </a:solidFill>
                <a:latin typeface="Arial"/>
                <a:ea typeface="Arial"/>
                <a:cs typeface="Arial"/>
              </a:defRPr>
            </a:lvl6pPr>
            <a:lvl7pPr algn="l">
              <a:defRPr sz="1350" b="0">
                <a:solidFill>
                  <a:srgbClr val="182F41"/>
                </a:solidFill>
                <a:latin typeface="Arial"/>
                <a:ea typeface="Arial"/>
                <a:cs typeface="Arial"/>
              </a:defRPr>
            </a:lvl7pPr>
            <a:lvl8pPr algn="l">
              <a:defRPr sz="1350" b="0">
                <a:solidFill>
                  <a:srgbClr val="182F41"/>
                </a:solidFill>
                <a:latin typeface="Arial"/>
                <a:ea typeface="Arial"/>
                <a:cs typeface="Arial"/>
              </a:defRPr>
            </a:lvl8pPr>
            <a:lvl9pPr algn="l">
              <a:defRPr sz="1350" b="0">
                <a:solidFill>
                  <a:srgbClr val="182F41"/>
                </a:solidFill>
                <a:latin typeface="Arial"/>
                <a:ea typeface="Arial"/>
                <a:cs typeface="Arial"/>
              </a:defRPr>
            </a:lvl9pPr>
          </a:lstStyle>
          <a:p xmlns:a="http://schemas.openxmlformats.org/drawingml/2006/main">
            <a:pPr algn="l">
              <a:lnSpc>
                <a:spcPct val="100000"/>
              </a:lnSpc>
              <a:buNone/>
              <a:defRPr sz="1350" b="0">
                <a:solidFill>
                  <a:srgbClr val="182F41"/>
                </a:solidFill>
                <a:latin typeface="Arial"/>
                <a:ea typeface="Arial"/>
                <a:cs typeface="Arial"/>
              </a:defRPr>
            </a:pPr>
            <a:r>
              <a:rPr sz="1350" b="0">
                <a:solidFill>
                  <a:srgbClr val="182F41"/>
                </a:solidFill>
                <a:latin typeface="Arial"/>
                <a:ea typeface="Arial"/>
                <a:cs typeface="Arial"/>
              </a:rPr>
              <a:t>A Kenyan campus may see a student juggling CATs, rent, food, transport, fee clearance or homesickness. An adviser could notice a concern, listen, and offer a relevant human referral.</a:t>
            </a:r>
          </a:p>
        </p:txBody>
      </p:sp>
      <p:sp>
        <p:nvSpPr>
          <p:cNvPr id="13" name="label-pill">
            <a:extLst xmlns:a="http://schemas.openxmlformats.org/drawingml/2006/main">
              <a:ext uri="{FF2B5EF4-FFF2-40B4-BE49-F238E27FC236}">
                <a16:creationId xmlns:a16="http://schemas.microsoft.com/office/drawing/2014/main" id="{F0DED8D3-7B2E-4ECC-A515-82E6596DC843}"/>
              </a:ext>
            </a:extLst>
          </p:cNvPr>
          <p:cNvSpPr>
            <a:spLocks xmlns:a="http://schemas.openxmlformats.org/drawingml/2006/main" noGrp="1"/>
          </p:cNvSpPr>
          <p:nvPr/>
        </p:nvSpPr>
        <p:spPr>
          <a:xfrm xmlns:a="http://schemas.openxmlformats.org/drawingml/2006/main">
            <a:off x="7372350" y="3371850"/>
            <a:ext cx="2171700" cy="266700"/>
          </a:xfrm>
          <a:prstGeom xmlns:a="http://schemas.openxmlformats.org/drawingml/2006/main" prst="roundRect">
            <a:avLst>
              <a:gd name="adj" fmla="val 50000"/>
            </a:avLst>
          </a:prstGeom>
          <a:solidFill xmlns:a="http://schemas.openxmlformats.org/drawingml/2006/main">
            <a:srgbClr val="FFF0D5"/>
          </a:solidFill>
          <a:ln xmlns:a="http://schemas.openxmlformats.org/drawingml/2006/main" w="0">
            <a:noFill/>
            <a:prstDash val="solid"/>
          </a:ln>
        </p:spPr>
      </p:sp>
      <p:sp>
        <p:nvSpPr>
          <p:cNvPr id="14" name="label-text">
            <a:extLst xmlns:a="http://schemas.openxmlformats.org/drawingml/2006/main">
              <a:ext uri="{FF2B5EF4-FFF2-40B4-BE49-F238E27FC236}">
                <a16:creationId xmlns:a16="http://schemas.microsoft.com/office/drawing/2014/main" id="{0B3FC3B3-D087-4725-990F-D50267A1C6B0}"/>
              </a:ext>
            </a:extLst>
          </p:cNvPr>
          <p:cNvSpPr>
            <a:spLocks xmlns:a="http://schemas.openxmlformats.org/drawingml/2006/main" noGrp="1"/>
          </p:cNvSpPr>
          <p:nvPr/>
        </p:nvSpPr>
        <p:spPr>
          <a:xfrm xmlns:a="http://schemas.openxmlformats.org/drawingml/2006/main">
            <a:off x="7467600" y="3409950"/>
            <a:ext cx="1981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815E1B"/>
                </a:solidFill>
                <a:latin typeface="Arial"/>
                <a:ea typeface="Arial"/>
                <a:cs typeface="Arial"/>
              </a:defRPr>
            </a:defPPr>
            <a:lvl1pPr algn="l">
              <a:defRPr sz="975" b="1">
                <a:solidFill>
                  <a:srgbClr val="815E1B"/>
                </a:solidFill>
                <a:latin typeface="Arial"/>
                <a:ea typeface="Arial"/>
                <a:cs typeface="Arial"/>
              </a:defRPr>
            </a:lvl1pPr>
            <a:lvl2pPr algn="l">
              <a:defRPr sz="975" b="1">
                <a:solidFill>
                  <a:srgbClr val="815E1B"/>
                </a:solidFill>
                <a:latin typeface="Arial"/>
                <a:ea typeface="Arial"/>
                <a:cs typeface="Arial"/>
              </a:defRPr>
            </a:lvl2pPr>
            <a:lvl3pPr algn="l">
              <a:defRPr sz="975" b="1">
                <a:solidFill>
                  <a:srgbClr val="815E1B"/>
                </a:solidFill>
                <a:latin typeface="Arial"/>
                <a:ea typeface="Arial"/>
                <a:cs typeface="Arial"/>
              </a:defRPr>
            </a:lvl3pPr>
            <a:lvl4pPr algn="l">
              <a:defRPr sz="975" b="1">
                <a:solidFill>
                  <a:srgbClr val="815E1B"/>
                </a:solidFill>
                <a:latin typeface="Arial"/>
                <a:ea typeface="Arial"/>
                <a:cs typeface="Arial"/>
              </a:defRPr>
            </a:lvl4pPr>
            <a:lvl5pPr algn="l">
              <a:defRPr sz="975" b="1">
                <a:solidFill>
                  <a:srgbClr val="815E1B"/>
                </a:solidFill>
                <a:latin typeface="Arial"/>
                <a:ea typeface="Arial"/>
                <a:cs typeface="Arial"/>
              </a:defRPr>
            </a:lvl5pPr>
            <a:lvl6pPr algn="l">
              <a:defRPr sz="975" b="1">
                <a:solidFill>
                  <a:srgbClr val="815E1B"/>
                </a:solidFill>
                <a:latin typeface="Arial"/>
                <a:ea typeface="Arial"/>
                <a:cs typeface="Arial"/>
              </a:defRPr>
            </a:lvl6pPr>
            <a:lvl7pPr algn="l">
              <a:defRPr sz="975" b="1">
                <a:solidFill>
                  <a:srgbClr val="815E1B"/>
                </a:solidFill>
                <a:latin typeface="Arial"/>
                <a:ea typeface="Arial"/>
                <a:cs typeface="Arial"/>
              </a:defRPr>
            </a:lvl7pPr>
            <a:lvl8pPr algn="l">
              <a:defRPr sz="975" b="1">
                <a:solidFill>
                  <a:srgbClr val="815E1B"/>
                </a:solidFill>
                <a:latin typeface="Arial"/>
                <a:ea typeface="Arial"/>
                <a:cs typeface="Arial"/>
              </a:defRPr>
            </a:lvl8pPr>
            <a:lvl9pPr algn="l">
              <a:defRPr sz="975" b="1">
                <a:solidFill>
                  <a:srgbClr val="815E1B"/>
                </a:solidFill>
                <a:latin typeface="Arial"/>
                <a:ea typeface="Arial"/>
                <a:cs typeface="Arial"/>
              </a:defRPr>
            </a:lvl9pPr>
          </a:lstStyle>
          <a:p xmlns:a="http://schemas.openxmlformats.org/drawingml/2006/main">
            <a:pPr algn="l">
              <a:lnSpc>
                <a:spcPct val="100000"/>
              </a:lnSpc>
              <a:buNone/>
              <a:defRPr sz="975" b="1">
                <a:solidFill>
                  <a:srgbClr val="815E1B"/>
                </a:solidFill>
                <a:latin typeface="Arial"/>
                <a:ea typeface="Arial"/>
                <a:cs typeface="Arial"/>
              </a:defRPr>
            </a:pPr>
            <a:r>
              <a:rPr sz="975" b="1">
                <a:solidFill>
                  <a:srgbClr val="815E1B"/>
                </a:solidFill>
                <a:latin typeface="Arial"/>
                <a:ea typeface="Arial"/>
                <a:cs typeface="Arial"/>
              </a:rPr>
              <a:t>PREDICTION ≠ DECISION</a:t>
            </a:r>
          </a:p>
        </p:txBody>
      </p:sp>
      <p:sp>
        <p:nvSpPr>
          <p:cNvPr id="15" name="workflow">
            <a:extLst xmlns:a="http://schemas.openxmlformats.org/drawingml/2006/main">
              <a:ext uri="{FF2B5EF4-FFF2-40B4-BE49-F238E27FC236}">
                <a16:creationId xmlns:a16="http://schemas.microsoft.com/office/drawing/2014/main" id="{76252B9D-7E40-4AE8-87D8-FC426D049B8E}"/>
              </a:ext>
            </a:extLst>
          </p:cNvPr>
          <p:cNvSpPr>
            <a:spLocks xmlns:a="http://schemas.openxmlformats.org/drawingml/2006/main" noGrp="1"/>
          </p:cNvSpPr>
          <p:nvPr/>
        </p:nvSpPr>
        <p:spPr>
          <a:xfrm xmlns:a="http://schemas.openxmlformats.org/drawingml/2006/main">
            <a:off x="7372350" y="3790950"/>
            <a:ext cx="40481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87F78"/>
                </a:solidFill>
                <a:latin typeface="Arial"/>
                <a:ea typeface="Arial"/>
                <a:cs typeface="Arial"/>
              </a:defRPr>
            </a:defPPr>
            <a:lvl1pPr algn="l">
              <a:defRPr sz="1425" b="1">
                <a:solidFill>
                  <a:srgbClr val="087F78"/>
                </a:solidFill>
                <a:latin typeface="Arial"/>
                <a:ea typeface="Arial"/>
                <a:cs typeface="Arial"/>
              </a:defRPr>
            </a:lvl1pPr>
            <a:lvl2pPr algn="l">
              <a:defRPr sz="1425" b="1">
                <a:solidFill>
                  <a:srgbClr val="087F78"/>
                </a:solidFill>
                <a:latin typeface="Arial"/>
                <a:ea typeface="Arial"/>
                <a:cs typeface="Arial"/>
              </a:defRPr>
            </a:lvl2pPr>
            <a:lvl3pPr algn="l">
              <a:defRPr sz="1425" b="1">
                <a:solidFill>
                  <a:srgbClr val="087F78"/>
                </a:solidFill>
                <a:latin typeface="Arial"/>
                <a:ea typeface="Arial"/>
                <a:cs typeface="Arial"/>
              </a:defRPr>
            </a:lvl3pPr>
            <a:lvl4pPr algn="l">
              <a:defRPr sz="1425" b="1">
                <a:solidFill>
                  <a:srgbClr val="087F78"/>
                </a:solidFill>
                <a:latin typeface="Arial"/>
                <a:ea typeface="Arial"/>
                <a:cs typeface="Arial"/>
              </a:defRPr>
            </a:lvl4pPr>
            <a:lvl5pPr algn="l">
              <a:defRPr sz="1425" b="1">
                <a:solidFill>
                  <a:srgbClr val="087F78"/>
                </a:solidFill>
                <a:latin typeface="Arial"/>
                <a:ea typeface="Arial"/>
                <a:cs typeface="Arial"/>
              </a:defRPr>
            </a:lvl5pPr>
            <a:lvl6pPr algn="l">
              <a:defRPr sz="1425" b="1">
                <a:solidFill>
                  <a:srgbClr val="087F78"/>
                </a:solidFill>
                <a:latin typeface="Arial"/>
                <a:ea typeface="Arial"/>
                <a:cs typeface="Arial"/>
              </a:defRPr>
            </a:lvl6pPr>
            <a:lvl7pPr algn="l">
              <a:defRPr sz="1425" b="1">
                <a:solidFill>
                  <a:srgbClr val="087F78"/>
                </a:solidFill>
                <a:latin typeface="Arial"/>
                <a:ea typeface="Arial"/>
                <a:cs typeface="Arial"/>
              </a:defRPr>
            </a:lvl7pPr>
            <a:lvl8pPr algn="l">
              <a:defRPr sz="1425" b="1">
                <a:solidFill>
                  <a:srgbClr val="087F78"/>
                </a:solidFill>
                <a:latin typeface="Arial"/>
                <a:ea typeface="Arial"/>
                <a:cs typeface="Arial"/>
              </a:defRPr>
            </a:lvl8pPr>
            <a:lvl9pPr algn="l">
              <a:defRPr sz="1425" b="1">
                <a:solidFill>
                  <a:srgbClr val="087F78"/>
                </a:solidFill>
                <a:latin typeface="Arial"/>
                <a:ea typeface="Arial"/>
                <a:cs typeface="Arial"/>
              </a:defRPr>
            </a:lvl9pPr>
          </a:lstStyle>
          <a:p xmlns:a="http://schemas.openxmlformats.org/drawingml/2006/main">
            <a:pPr algn="l">
              <a:lnSpc>
                <a:spcPct val="100000"/>
              </a:lnSpc>
              <a:buNone/>
              <a:defRPr sz="1425" b="1">
                <a:solidFill>
                  <a:srgbClr val="087F78"/>
                </a:solidFill>
                <a:latin typeface="Arial"/>
                <a:ea typeface="Arial"/>
                <a:cs typeface="Arial"/>
              </a:defRPr>
            </a:pPr>
            <a:r>
              <a:rPr sz="1425" b="1">
                <a:solidFill>
                  <a:srgbClr val="087F78"/>
                </a:solidFill>
                <a:latin typeface="Arial"/>
                <a:ea typeface="Arial"/>
                <a:cs typeface="Arial"/>
              </a:rPr>
              <a:t>Observed data → staff review → student-led next step</a:t>
            </a:r>
          </a:p>
        </p:txBody>
      </p:sp>
      <p:sp>
        <p:nvSpPr>
          <p:cNvPr id="16" name="limitation">
            <a:extLst xmlns:a="http://schemas.openxmlformats.org/drawingml/2006/main">
              <a:ext uri="{FF2B5EF4-FFF2-40B4-BE49-F238E27FC236}">
                <a16:creationId xmlns:a16="http://schemas.microsoft.com/office/drawing/2014/main" id="{916DBC2C-6F4C-4B05-AF93-72F5D4B02231}"/>
              </a:ext>
            </a:extLst>
          </p:cNvPr>
          <p:cNvSpPr>
            <a:spLocks xmlns:a="http://schemas.openxmlformats.org/drawingml/2006/main" noGrp="1"/>
          </p:cNvSpPr>
          <p:nvPr/>
        </p:nvSpPr>
        <p:spPr>
          <a:xfrm xmlns:a="http://schemas.openxmlformats.org/drawingml/2006/main">
            <a:off x="7372350" y="4476750"/>
            <a:ext cx="4048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A64038"/>
                </a:solidFill>
                <a:latin typeface="Arial"/>
                <a:ea typeface="Arial"/>
                <a:cs typeface="Arial"/>
              </a:defRPr>
            </a:defPPr>
            <a:lvl1pPr algn="l">
              <a:defRPr sz="1200" b="1">
                <a:solidFill>
                  <a:srgbClr val="A64038"/>
                </a:solidFill>
                <a:latin typeface="Arial"/>
                <a:ea typeface="Arial"/>
                <a:cs typeface="Arial"/>
              </a:defRPr>
            </a:lvl1pPr>
            <a:lvl2pPr algn="l">
              <a:defRPr sz="1200" b="1">
                <a:solidFill>
                  <a:srgbClr val="A64038"/>
                </a:solidFill>
                <a:latin typeface="Arial"/>
                <a:ea typeface="Arial"/>
                <a:cs typeface="Arial"/>
              </a:defRPr>
            </a:lvl2pPr>
            <a:lvl3pPr algn="l">
              <a:defRPr sz="1200" b="1">
                <a:solidFill>
                  <a:srgbClr val="A64038"/>
                </a:solidFill>
                <a:latin typeface="Arial"/>
                <a:ea typeface="Arial"/>
                <a:cs typeface="Arial"/>
              </a:defRPr>
            </a:lvl3pPr>
            <a:lvl4pPr algn="l">
              <a:defRPr sz="1200" b="1">
                <a:solidFill>
                  <a:srgbClr val="A64038"/>
                </a:solidFill>
                <a:latin typeface="Arial"/>
                <a:ea typeface="Arial"/>
                <a:cs typeface="Arial"/>
              </a:defRPr>
            </a:lvl4pPr>
            <a:lvl5pPr algn="l">
              <a:defRPr sz="1200" b="1">
                <a:solidFill>
                  <a:srgbClr val="A64038"/>
                </a:solidFill>
                <a:latin typeface="Arial"/>
                <a:ea typeface="Arial"/>
                <a:cs typeface="Arial"/>
              </a:defRPr>
            </a:lvl5pPr>
            <a:lvl6pPr algn="l">
              <a:defRPr sz="1200" b="1">
                <a:solidFill>
                  <a:srgbClr val="A64038"/>
                </a:solidFill>
                <a:latin typeface="Arial"/>
                <a:ea typeface="Arial"/>
                <a:cs typeface="Arial"/>
              </a:defRPr>
            </a:lvl6pPr>
            <a:lvl7pPr algn="l">
              <a:defRPr sz="1200" b="1">
                <a:solidFill>
                  <a:srgbClr val="A64038"/>
                </a:solidFill>
                <a:latin typeface="Arial"/>
                <a:ea typeface="Arial"/>
                <a:cs typeface="Arial"/>
              </a:defRPr>
            </a:lvl7pPr>
            <a:lvl8pPr algn="l">
              <a:defRPr sz="1200" b="1">
                <a:solidFill>
                  <a:srgbClr val="A64038"/>
                </a:solidFill>
                <a:latin typeface="Arial"/>
                <a:ea typeface="Arial"/>
                <a:cs typeface="Arial"/>
              </a:defRPr>
            </a:lvl8pPr>
            <a:lvl9pPr algn="l">
              <a:defRPr sz="1200" b="1">
                <a:solidFill>
                  <a:srgbClr val="A64038"/>
                </a:solidFill>
                <a:latin typeface="Arial"/>
                <a:ea typeface="Arial"/>
                <a:cs typeface="Arial"/>
              </a:defRPr>
            </a:lvl9pPr>
          </a:lstStyle>
          <a:p xmlns:a="http://schemas.openxmlformats.org/drawingml/2006/main">
            <a:pPr algn="l">
              <a:lnSpc>
                <a:spcPct val="100000"/>
              </a:lnSpc>
              <a:buNone/>
              <a:defRPr sz="1200" b="1">
                <a:solidFill>
                  <a:srgbClr val="A64038"/>
                </a:solidFill>
                <a:latin typeface="Arial"/>
                <a:ea typeface="Arial"/>
                <a:cs typeface="Arial"/>
              </a:defRPr>
            </a:pPr>
            <a:r>
              <a:rPr sz="1200" b="1">
                <a:solidFill>
                  <a:srgbClr val="A64038"/>
                </a:solidFill>
                <a:latin typeface="Arial"/>
                <a:ea typeface="Arial"/>
                <a:cs typeface="Arial"/>
              </a:rPr>
              <a:t>The model is trained on Portugal’s UCI cohort. Its probabilities are not validated for Kenyan students.</a:t>
            </a:r>
          </a:p>
        </p:txBody>
      </p:sp>
      <p:sp>
        <p:nvSpPr>
          <p:cNvPr id="17" name="connection-strip">
            <a:extLst xmlns:a="http://schemas.openxmlformats.org/drawingml/2006/main">
              <a:ext uri="{FF2B5EF4-FFF2-40B4-BE49-F238E27FC236}">
                <a16:creationId xmlns:a16="http://schemas.microsoft.com/office/drawing/2014/main" id="{E8A5E510-78F4-475A-9A11-BA7D76FF793D}"/>
              </a:ext>
            </a:extLst>
          </p:cNvPr>
          <p:cNvSpPr>
            <a:spLocks xmlns:a="http://schemas.openxmlformats.org/drawingml/2006/main" noGrp="1"/>
          </p:cNvSpPr>
          <p:nvPr/>
        </p:nvSpPr>
        <p:spPr>
          <a:xfrm xmlns:a="http://schemas.openxmlformats.org/drawingml/2006/main">
            <a:off x="495300" y="5810250"/>
            <a:ext cx="11201400" cy="438150"/>
          </a:xfrm>
          <a:prstGeom xmlns:a="http://schemas.openxmlformats.org/drawingml/2006/main" prst="roundRect">
            <a:avLst>
              <a:gd name="adj" fmla="val 26087"/>
            </a:avLst>
          </a:prstGeom>
          <a:solidFill xmlns:a="http://schemas.openxmlformats.org/drawingml/2006/main">
            <a:srgbClr val="D9F0EA"/>
          </a:solidFill>
          <a:ln xmlns:a="http://schemas.openxmlformats.org/drawingml/2006/main" w="0">
            <a:noFill/>
            <a:prstDash val="solid"/>
          </a:ln>
        </p:spPr>
      </p:sp>
      <p:sp>
        <p:nvSpPr>
          <p:cNvPr id="18" name="connection-label">
            <a:extLst xmlns:a="http://schemas.openxmlformats.org/drawingml/2006/main">
              <a:ext uri="{FF2B5EF4-FFF2-40B4-BE49-F238E27FC236}">
                <a16:creationId xmlns:a16="http://schemas.microsoft.com/office/drawing/2014/main" id="{0447970C-3E11-4CD2-ACC5-100FC8B077F8}"/>
              </a:ext>
            </a:extLst>
          </p:cNvPr>
          <p:cNvSpPr>
            <a:spLocks xmlns:a="http://schemas.openxmlformats.org/drawingml/2006/main" noGrp="1"/>
          </p:cNvSpPr>
          <p:nvPr/>
        </p:nvSpPr>
        <p:spPr>
          <a:xfrm xmlns:a="http://schemas.openxmlformats.org/drawingml/2006/main">
            <a:off x="685800" y="59245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ADVANCED PYTHON CONNECTION</a:t>
            </a:r>
          </a:p>
        </p:txBody>
      </p:sp>
      <p:sp>
        <p:nvSpPr>
          <p:cNvPr id="19" name="connection-copy">
            <a:extLst xmlns:a="http://schemas.openxmlformats.org/drawingml/2006/main">
              <a:ext uri="{FF2B5EF4-FFF2-40B4-BE49-F238E27FC236}">
                <a16:creationId xmlns:a16="http://schemas.microsoft.com/office/drawing/2014/main" id="{47EC5075-3088-4F6C-A7DE-3D10B3B3B0F0}"/>
              </a:ext>
            </a:extLst>
          </p:cNvPr>
          <p:cNvSpPr>
            <a:spLocks xmlns:a="http://schemas.openxmlformats.org/drawingml/2006/main" noGrp="1"/>
          </p:cNvSpPr>
          <p:nvPr/>
        </p:nvSpPr>
        <p:spPr>
          <a:xfrm xmlns:a="http://schemas.openxmlformats.org/drawingml/2006/main">
            <a:off x="2952750" y="5895975"/>
            <a:ext cx="847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02B3F"/>
                </a:solidFill>
                <a:latin typeface="Arial"/>
                <a:ea typeface="Arial"/>
                <a:cs typeface="Arial"/>
              </a:defRPr>
            </a:defPPr>
            <a:lvl1pPr algn="l">
              <a:defRPr sz="1200" b="0">
                <a:solidFill>
                  <a:srgbClr val="102B3F"/>
                </a:solidFill>
                <a:latin typeface="Arial"/>
                <a:ea typeface="Arial"/>
                <a:cs typeface="Arial"/>
              </a:defRPr>
            </a:lvl1pPr>
            <a:lvl2pPr algn="l">
              <a:defRPr sz="1200" b="0">
                <a:solidFill>
                  <a:srgbClr val="102B3F"/>
                </a:solidFill>
                <a:latin typeface="Arial"/>
                <a:ea typeface="Arial"/>
                <a:cs typeface="Arial"/>
              </a:defRPr>
            </a:lvl2pPr>
            <a:lvl3pPr algn="l">
              <a:defRPr sz="1200" b="0">
                <a:solidFill>
                  <a:srgbClr val="102B3F"/>
                </a:solidFill>
                <a:latin typeface="Arial"/>
                <a:ea typeface="Arial"/>
                <a:cs typeface="Arial"/>
              </a:defRPr>
            </a:lvl3pPr>
            <a:lvl4pPr algn="l">
              <a:defRPr sz="1200" b="0">
                <a:solidFill>
                  <a:srgbClr val="102B3F"/>
                </a:solidFill>
                <a:latin typeface="Arial"/>
                <a:ea typeface="Arial"/>
                <a:cs typeface="Arial"/>
              </a:defRPr>
            </a:lvl4pPr>
            <a:lvl5pPr algn="l">
              <a:defRPr sz="1200" b="0">
                <a:solidFill>
                  <a:srgbClr val="102B3F"/>
                </a:solidFill>
                <a:latin typeface="Arial"/>
                <a:ea typeface="Arial"/>
                <a:cs typeface="Arial"/>
              </a:defRPr>
            </a:lvl5pPr>
            <a:lvl6pPr algn="l">
              <a:defRPr sz="1200" b="0">
                <a:solidFill>
                  <a:srgbClr val="102B3F"/>
                </a:solidFill>
                <a:latin typeface="Arial"/>
                <a:ea typeface="Arial"/>
                <a:cs typeface="Arial"/>
              </a:defRPr>
            </a:lvl6pPr>
            <a:lvl7pPr algn="l">
              <a:defRPr sz="1200" b="0">
                <a:solidFill>
                  <a:srgbClr val="102B3F"/>
                </a:solidFill>
                <a:latin typeface="Arial"/>
                <a:ea typeface="Arial"/>
                <a:cs typeface="Arial"/>
              </a:defRPr>
            </a:lvl7pPr>
            <a:lvl8pPr algn="l">
              <a:defRPr sz="1200" b="0">
                <a:solidFill>
                  <a:srgbClr val="102B3F"/>
                </a:solidFill>
                <a:latin typeface="Arial"/>
                <a:ea typeface="Arial"/>
                <a:cs typeface="Arial"/>
              </a:defRPr>
            </a:lvl8pPr>
            <a:lvl9pPr algn="l">
              <a:defRPr sz="1200" b="0">
                <a:solidFill>
                  <a:srgbClr val="102B3F"/>
                </a:solidFill>
                <a:latin typeface="Arial"/>
                <a:ea typeface="Arial"/>
                <a:cs typeface="Arial"/>
              </a:defRPr>
            </a:lvl9pPr>
          </a:lstStyle>
          <a:p xmlns:a="http://schemas.openxmlformats.org/drawingml/2006/main">
            <a:pPr algn="l">
              <a:lnSpc>
                <a:spcPct val="100000"/>
              </a:lnSpc>
              <a:buNone/>
              <a:defRPr sz="1200" b="0">
                <a:solidFill>
                  <a:srgbClr val="102B3F"/>
                </a:solidFill>
                <a:latin typeface="Arial"/>
                <a:ea typeface="Arial"/>
                <a:cs typeface="Arial"/>
              </a:defRPr>
            </a:pPr>
            <a:r>
              <a:rPr sz="1200" b="0">
                <a:solidFill>
                  <a:srgbClr val="102B3F"/>
                </a:solidFill>
                <a:latin typeface="Arial"/>
                <a:ea typeface="Arial"/>
                <a:cs typeface="Arial"/>
              </a:rPr>
              <a:t>Modular boundaries keep data processing, inference, and human support workflows separate.</a:t>
            </a:r>
          </a:p>
        </p:txBody>
      </p:sp>
    </p:spTree>
    <p:extLst>
      <p:ext uri="{BB962C8B-B14F-4D97-AF65-F5344CB8AC3E}">
        <p14:creationId xmlns:p14="http://schemas.microsoft.com/office/powerpoint/2010/main" val="269690715"/>
      </p:ext>
    </p:extLst>
  </p:cSld>
</p:sld>
</file>

<file path=ppt/slides/slide3.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51" name="section-label">
            <a:extLst xmlns:a="http://schemas.openxmlformats.org/drawingml/2006/main">
              <a:ext uri="{FF2B5EF4-FFF2-40B4-BE49-F238E27FC236}">
                <a16:creationId xmlns:a16="http://schemas.microsoft.com/office/drawing/2014/main" id="{8E87DD76-660C-4709-A6C8-848CF12D8151}"/>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BA12E778-E55F-4414-BF1E-F94C992416D1}"/>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System architecture: a reproducible path from data to review</a:t>
            </a:r>
          </a:p>
        </p:txBody>
      </p:sp>
      <p:sp>
        <p:nvSpPr>
          <p:cNvPr id="3" name="">
            <a:extLst xmlns:a="http://schemas.openxmlformats.org/drawingml/2006/main">
              <a:ext uri="{FF2B5EF4-FFF2-40B4-BE49-F238E27FC236}">
                <a16:creationId xmlns:a16="http://schemas.microsoft.com/office/drawing/2014/main" id="{71AA63AE-6820-4675-8E11-26AB47FA7E5E}"/>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26E3095F-15D9-4120-86A9-1EB47BA2D6FE}"/>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02FBC861-2F1B-48D1-9BEB-A2E3DE6531CF}"/>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1918B8AF-9B56-439C-AF52-B2D4DE0E680B}"/>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03 / 10</a:t>
            </a:r>
          </a:p>
        </p:txBody>
      </p:sp>
      <p:sp>
        <p:nvSpPr>
          <p:cNvPr id="7" name="architecture-stage">
            <a:extLst xmlns:a="http://schemas.openxmlformats.org/drawingml/2006/main">
              <a:ext uri="{FF2B5EF4-FFF2-40B4-BE49-F238E27FC236}">
                <a16:creationId xmlns:a16="http://schemas.microsoft.com/office/drawing/2014/main" id="{0E58BA55-E3BA-4230-B717-9647380ECB7C}"/>
              </a:ext>
            </a:extLst>
          </p:cNvPr>
          <p:cNvSpPr>
            <a:spLocks xmlns:a="http://schemas.openxmlformats.org/drawingml/2006/main" noGrp="1"/>
          </p:cNvSpPr>
          <p:nvPr/>
        </p:nvSpPr>
        <p:spPr>
          <a:xfrm xmlns:a="http://schemas.openxmlformats.org/drawingml/2006/main">
            <a:off x="495300" y="1647825"/>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8" name="label-pill">
            <a:extLst xmlns:a="http://schemas.openxmlformats.org/drawingml/2006/main">
              <a:ext uri="{FF2B5EF4-FFF2-40B4-BE49-F238E27FC236}">
                <a16:creationId xmlns:a16="http://schemas.microsoft.com/office/drawing/2014/main" id="{5AA5893B-AD17-4E25-AACE-310446ACD6E7}"/>
              </a:ext>
            </a:extLst>
          </p:cNvPr>
          <p:cNvSpPr>
            <a:spLocks xmlns:a="http://schemas.openxmlformats.org/drawingml/2006/main" noGrp="1"/>
          </p:cNvSpPr>
          <p:nvPr/>
        </p:nvSpPr>
        <p:spPr>
          <a:xfrm xmlns:a="http://schemas.openxmlformats.org/drawingml/2006/main">
            <a:off x="666750" y="181927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9" name="label-text">
            <a:extLst xmlns:a="http://schemas.openxmlformats.org/drawingml/2006/main">
              <a:ext uri="{FF2B5EF4-FFF2-40B4-BE49-F238E27FC236}">
                <a16:creationId xmlns:a16="http://schemas.microsoft.com/office/drawing/2014/main" id="{96CEDAA0-09A2-4B6D-9C22-E127DFF2DCC9}"/>
              </a:ext>
            </a:extLst>
          </p:cNvPr>
          <p:cNvSpPr>
            <a:spLocks xmlns:a="http://schemas.openxmlformats.org/drawingml/2006/main" noGrp="1"/>
          </p:cNvSpPr>
          <p:nvPr/>
        </p:nvSpPr>
        <p:spPr>
          <a:xfrm xmlns:a="http://schemas.openxmlformats.org/drawingml/2006/main">
            <a:off x="762000" y="185737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01</a:t>
            </a:r>
          </a:p>
        </p:txBody>
      </p:sp>
      <p:sp>
        <p:nvSpPr>
          <p:cNvPr id="10" name="stage-title">
            <a:extLst xmlns:a="http://schemas.openxmlformats.org/drawingml/2006/main">
              <a:ext uri="{FF2B5EF4-FFF2-40B4-BE49-F238E27FC236}">
                <a16:creationId xmlns:a16="http://schemas.microsoft.com/office/drawing/2014/main" id="{E12D5C36-6BC1-42D5-AEE9-8C554B521B1F}"/>
              </a:ext>
            </a:extLst>
          </p:cNvPr>
          <p:cNvSpPr>
            <a:spLocks xmlns:a="http://schemas.openxmlformats.org/drawingml/2006/main" noGrp="1"/>
          </p:cNvSpPr>
          <p:nvPr/>
        </p:nvSpPr>
        <p:spPr>
          <a:xfrm xmlns:a="http://schemas.openxmlformats.org/drawingml/2006/main">
            <a:off x="1200150" y="18192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EXTRACT</a:t>
            </a:r>
          </a:p>
        </p:txBody>
      </p:sp>
      <p:sp>
        <p:nvSpPr>
          <p:cNvPr id="11" name="stage-detail">
            <a:extLst xmlns:a="http://schemas.openxmlformats.org/drawingml/2006/main">
              <a:ext uri="{FF2B5EF4-FFF2-40B4-BE49-F238E27FC236}">
                <a16:creationId xmlns:a16="http://schemas.microsoft.com/office/drawing/2014/main" id="{C9C1EED9-E76D-43E2-8CD9-7CCDF48C9F51}"/>
              </a:ext>
            </a:extLst>
          </p:cNvPr>
          <p:cNvSpPr>
            <a:spLocks xmlns:a="http://schemas.openxmlformats.org/drawingml/2006/main" noGrp="1"/>
          </p:cNvSpPr>
          <p:nvPr/>
        </p:nvSpPr>
        <p:spPr>
          <a:xfrm xmlns:a="http://schemas.openxmlformats.org/drawingml/2006/main">
            <a:off x="685800" y="22383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UCI ZIP → CSV</a:t>
            </a:r>
          </a:p>
        </p:txBody>
      </p:sp>
      <p:sp>
        <p:nvSpPr>
          <p:cNvPr id="12" name="stage-source">
            <a:extLst xmlns:a="http://schemas.openxmlformats.org/drawingml/2006/main">
              <a:ext uri="{FF2B5EF4-FFF2-40B4-BE49-F238E27FC236}">
                <a16:creationId xmlns:a16="http://schemas.microsoft.com/office/drawing/2014/main" id="{94DF1500-C9B6-45FC-9083-1AD526A19018}"/>
              </a:ext>
            </a:extLst>
          </p:cNvPr>
          <p:cNvSpPr>
            <a:spLocks xmlns:a="http://schemas.openxmlformats.org/drawingml/2006/main" noGrp="1"/>
          </p:cNvSpPr>
          <p:nvPr/>
        </p:nvSpPr>
        <p:spPr>
          <a:xfrm xmlns:a="http://schemas.openxmlformats.org/drawingml/2006/main">
            <a:off x="685800" y="25622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extract.py</a:t>
            </a:r>
          </a:p>
        </p:txBody>
      </p:sp>
      <p:sp>
        <p:nvSpPr>
          <p:cNvPr id="13" name="architecture-stage">
            <a:extLst xmlns:a="http://schemas.openxmlformats.org/drawingml/2006/main">
              <a:ext uri="{FF2B5EF4-FFF2-40B4-BE49-F238E27FC236}">
                <a16:creationId xmlns:a16="http://schemas.microsoft.com/office/drawing/2014/main" id="{3AA06014-2FF8-4010-AD34-6BBE7F6C4F4C}"/>
              </a:ext>
            </a:extLst>
          </p:cNvPr>
          <p:cNvSpPr>
            <a:spLocks xmlns:a="http://schemas.openxmlformats.org/drawingml/2006/main" noGrp="1"/>
          </p:cNvSpPr>
          <p:nvPr/>
        </p:nvSpPr>
        <p:spPr>
          <a:xfrm xmlns:a="http://schemas.openxmlformats.org/drawingml/2006/main">
            <a:off x="4476750" y="1647825"/>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14" name="label-pill">
            <a:extLst xmlns:a="http://schemas.openxmlformats.org/drawingml/2006/main">
              <a:ext uri="{FF2B5EF4-FFF2-40B4-BE49-F238E27FC236}">
                <a16:creationId xmlns:a16="http://schemas.microsoft.com/office/drawing/2014/main" id="{6704A996-B989-4AC5-898A-EBAF5F6E8492}"/>
              </a:ext>
            </a:extLst>
          </p:cNvPr>
          <p:cNvSpPr>
            <a:spLocks xmlns:a="http://schemas.openxmlformats.org/drawingml/2006/main" noGrp="1"/>
          </p:cNvSpPr>
          <p:nvPr/>
        </p:nvSpPr>
        <p:spPr>
          <a:xfrm xmlns:a="http://schemas.openxmlformats.org/drawingml/2006/main">
            <a:off x="4648200" y="181927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5" name="label-text">
            <a:extLst xmlns:a="http://schemas.openxmlformats.org/drawingml/2006/main">
              <a:ext uri="{FF2B5EF4-FFF2-40B4-BE49-F238E27FC236}">
                <a16:creationId xmlns:a16="http://schemas.microsoft.com/office/drawing/2014/main" id="{4AFCF685-5366-4C03-BB61-B8B21AE0E8FB}"/>
              </a:ext>
            </a:extLst>
          </p:cNvPr>
          <p:cNvSpPr>
            <a:spLocks xmlns:a="http://schemas.openxmlformats.org/drawingml/2006/main" noGrp="1"/>
          </p:cNvSpPr>
          <p:nvPr/>
        </p:nvSpPr>
        <p:spPr>
          <a:xfrm xmlns:a="http://schemas.openxmlformats.org/drawingml/2006/main">
            <a:off x="4743450" y="185737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02</a:t>
            </a:r>
          </a:p>
        </p:txBody>
      </p:sp>
      <p:sp>
        <p:nvSpPr>
          <p:cNvPr id="16" name="stage-title">
            <a:extLst xmlns:a="http://schemas.openxmlformats.org/drawingml/2006/main">
              <a:ext uri="{FF2B5EF4-FFF2-40B4-BE49-F238E27FC236}">
                <a16:creationId xmlns:a16="http://schemas.microsoft.com/office/drawing/2014/main" id="{E4F9B5FB-3F73-42C4-9EDE-BF151E818E31}"/>
              </a:ext>
            </a:extLst>
          </p:cNvPr>
          <p:cNvSpPr>
            <a:spLocks xmlns:a="http://schemas.openxmlformats.org/drawingml/2006/main" noGrp="1"/>
          </p:cNvSpPr>
          <p:nvPr/>
        </p:nvSpPr>
        <p:spPr>
          <a:xfrm xmlns:a="http://schemas.openxmlformats.org/drawingml/2006/main">
            <a:off x="5181600" y="18192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VALIDATE</a:t>
            </a:r>
          </a:p>
        </p:txBody>
      </p:sp>
      <p:sp>
        <p:nvSpPr>
          <p:cNvPr id="17" name="stage-detail">
            <a:extLst xmlns:a="http://schemas.openxmlformats.org/drawingml/2006/main">
              <a:ext uri="{FF2B5EF4-FFF2-40B4-BE49-F238E27FC236}">
                <a16:creationId xmlns:a16="http://schemas.microsoft.com/office/drawing/2014/main" id="{257C233E-9CBE-4C03-AB7C-5EA5AC2945AF}"/>
              </a:ext>
            </a:extLst>
          </p:cNvPr>
          <p:cNvSpPr>
            <a:spLocks xmlns:a="http://schemas.openxmlformats.org/drawingml/2006/main" noGrp="1"/>
          </p:cNvSpPr>
          <p:nvPr/>
        </p:nvSpPr>
        <p:spPr>
          <a:xfrm xmlns:a="http://schemas.openxmlformats.org/drawingml/2006/main">
            <a:off x="4667250" y="22383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Schema • rows • labels</a:t>
            </a:r>
          </a:p>
        </p:txBody>
      </p:sp>
      <p:sp>
        <p:nvSpPr>
          <p:cNvPr id="18" name="stage-source">
            <a:extLst xmlns:a="http://schemas.openxmlformats.org/drawingml/2006/main">
              <a:ext uri="{FF2B5EF4-FFF2-40B4-BE49-F238E27FC236}">
                <a16:creationId xmlns:a16="http://schemas.microsoft.com/office/drawing/2014/main" id="{A2ACC2E5-1AD6-4BF9-9828-3C2D0DC5FC1D}"/>
              </a:ext>
            </a:extLst>
          </p:cNvPr>
          <p:cNvSpPr>
            <a:spLocks xmlns:a="http://schemas.openxmlformats.org/drawingml/2006/main" noGrp="1"/>
          </p:cNvSpPr>
          <p:nvPr/>
        </p:nvSpPr>
        <p:spPr>
          <a:xfrm xmlns:a="http://schemas.openxmlformats.org/drawingml/2006/main">
            <a:off x="4667250" y="25622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validate.py</a:t>
            </a:r>
          </a:p>
        </p:txBody>
      </p:sp>
      <p:sp>
        <p:nvSpPr>
          <p:cNvPr id="19" name="architecture-stage">
            <a:extLst xmlns:a="http://schemas.openxmlformats.org/drawingml/2006/main">
              <a:ext uri="{FF2B5EF4-FFF2-40B4-BE49-F238E27FC236}">
                <a16:creationId xmlns:a16="http://schemas.microsoft.com/office/drawing/2014/main" id="{093F961B-670F-467F-BC85-488CCD9667D4}"/>
              </a:ext>
            </a:extLst>
          </p:cNvPr>
          <p:cNvSpPr>
            <a:spLocks xmlns:a="http://schemas.openxmlformats.org/drawingml/2006/main" noGrp="1"/>
          </p:cNvSpPr>
          <p:nvPr/>
        </p:nvSpPr>
        <p:spPr>
          <a:xfrm xmlns:a="http://schemas.openxmlformats.org/drawingml/2006/main">
            <a:off x="8458200" y="1647825"/>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20" name="label-pill">
            <a:extLst xmlns:a="http://schemas.openxmlformats.org/drawingml/2006/main">
              <a:ext uri="{FF2B5EF4-FFF2-40B4-BE49-F238E27FC236}">
                <a16:creationId xmlns:a16="http://schemas.microsoft.com/office/drawing/2014/main" id="{781A2C88-DC7C-4B96-9856-A70E490D0561}"/>
              </a:ext>
            </a:extLst>
          </p:cNvPr>
          <p:cNvSpPr>
            <a:spLocks xmlns:a="http://schemas.openxmlformats.org/drawingml/2006/main" noGrp="1"/>
          </p:cNvSpPr>
          <p:nvPr/>
        </p:nvSpPr>
        <p:spPr>
          <a:xfrm xmlns:a="http://schemas.openxmlformats.org/drawingml/2006/main">
            <a:off x="8629650" y="181927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21" name="label-text">
            <a:extLst xmlns:a="http://schemas.openxmlformats.org/drawingml/2006/main">
              <a:ext uri="{FF2B5EF4-FFF2-40B4-BE49-F238E27FC236}">
                <a16:creationId xmlns:a16="http://schemas.microsoft.com/office/drawing/2014/main" id="{53BD3E18-FFFB-40B5-8A4D-7B9658D37CFD}"/>
              </a:ext>
            </a:extLst>
          </p:cNvPr>
          <p:cNvSpPr>
            <a:spLocks xmlns:a="http://schemas.openxmlformats.org/drawingml/2006/main" noGrp="1"/>
          </p:cNvSpPr>
          <p:nvPr/>
        </p:nvSpPr>
        <p:spPr>
          <a:xfrm xmlns:a="http://schemas.openxmlformats.org/drawingml/2006/main">
            <a:off x="8724900" y="185737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03</a:t>
            </a:r>
          </a:p>
        </p:txBody>
      </p:sp>
      <p:sp>
        <p:nvSpPr>
          <p:cNvPr id="22" name="stage-title">
            <a:extLst xmlns:a="http://schemas.openxmlformats.org/drawingml/2006/main">
              <a:ext uri="{FF2B5EF4-FFF2-40B4-BE49-F238E27FC236}">
                <a16:creationId xmlns:a16="http://schemas.microsoft.com/office/drawing/2014/main" id="{799BDF4E-5883-43FB-8AFC-4C1E2713BFC6}"/>
              </a:ext>
            </a:extLst>
          </p:cNvPr>
          <p:cNvSpPr>
            <a:spLocks xmlns:a="http://schemas.openxmlformats.org/drawingml/2006/main" noGrp="1"/>
          </p:cNvSpPr>
          <p:nvPr/>
        </p:nvSpPr>
        <p:spPr>
          <a:xfrm xmlns:a="http://schemas.openxmlformats.org/drawingml/2006/main">
            <a:off x="9163050" y="18192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TRANSFORM</a:t>
            </a:r>
          </a:p>
        </p:txBody>
      </p:sp>
      <p:sp>
        <p:nvSpPr>
          <p:cNvPr id="23" name="stage-detail">
            <a:extLst xmlns:a="http://schemas.openxmlformats.org/drawingml/2006/main">
              <a:ext uri="{FF2B5EF4-FFF2-40B4-BE49-F238E27FC236}">
                <a16:creationId xmlns:a16="http://schemas.microsoft.com/office/drawing/2014/main" id="{1B473546-ACD3-48F4-80A2-F286886DF3AC}"/>
              </a:ext>
            </a:extLst>
          </p:cNvPr>
          <p:cNvSpPr>
            <a:spLocks xmlns:a="http://schemas.openxmlformats.org/drawingml/2006/main" noGrp="1"/>
          </p:cNvSpPr>
          <p:nvPr/>
        </p:nvSpPr>
        <p:spPr>
          <a:xfrm xmlns:a="http://schemas.openxmlformats.org/drawingml/2006/main">
            <a:off x="8648700" y="22383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Split • preprocess</a:t>
            </a:r>
          </a:p>
        </p:txBody>
      </p:sp>
      <p:sp>
        <p:nvSpPr>
          <p:cNvPr id="24" name="stage-source">
            <a:extLst xmlns:a="http://schemas.openxmlformats.org/drawingml/2006/main">
              <a:ext uri="{FF2B5EF4-FFF2-40B4-BE49-F238E27FC236}">
                <a16:creationId xmlns:a16="http://schemas.microsoft.com/office/drawing/2014/main" id="{2DD90CFD-C354-462B-BBDA-CA28933CED87}"/>
              </a:ext>
            </a:extLst>
          </p:cNvPr>
          <p:cNvSpPr>
            <a:spLocks xmlns:a="http://schemas.openxmlformats.org/drawingml/2006/main" noGrp="1"/>
          </p:cNvSpPr>
          <p:nvPr/>
        </p:nvSpPr>
        <p:spPr>
          <a:xfrm xmlns:a="http://schemas.openxmlformats.org/drawingml/2006/main">
            <a:off x="8648700" y="25622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transform.py</a:t>
            </a:r>
          </a:p>
        </p:txBody>
      </p:sp>
      <p:sp>
        <p:nvSpPr>
          <p:cNvPr id="25" name="architecture-stage">
            <a:extLst xmlns:a="http://schemas.openxmlformats.org/drawingml/2006/main">
              <a:ext uri="{FF2B5EF4-FFF2-40B4-BE49-F238E27FC236}">
                <a16:creationId xmlns:a16="http://schemas.microsoft.com/office/drawing/2014/main" id="{A9609C98-31BF-4DE8-BBC5-0F04B0FBB891}"/>
              </a:ext>
            </a:extLst>
          </p:cNvPr>
          <p:cNvSpPr>
            <a:spLocks xmlns:a="http://schemas.openxmlformats.org/drawingml/2006/main" noGrp="1"/>
          </p:cNvSpPr>
          <p:nvPr/>
        </p:nvSpPr>
        <p:spPr>
          <a:xfrm xmlns:a="http://schemas.openxmlformats.org/drawingml/2006/main">
            <a:off x="8458200" y="3409950"/>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26" name="label-pill">
            <a:extLst xmlns:a="http://schemas.openxmlformats.org/drawingml/2006/main">
              <a:ext uri="{FF2B5EF4-FFF2-40B4-BE49-F238E27FC236}">
                <a16:creationId xmlns:a16="http://schemas.microsoft.com/office/drawing/2014/main" id="{F51EC5AE-5974-41C8-85BB-F9A6399B6447}"/>
              </a:ext>
            </a:extLst>
          </p:cNvPr>
          <p:cNvSpPr>
            <a:spLocks xmlns:a="http://schemas.openxmlformats.org/drawingml/2006/main" noGrp="1"/>
          </p:cNvSpPr>
          <p:nvPr/>
        </p:nvSpPr>
        <p:spPr>
          <a:xfrm xmlns:a="http://schemas.openxmlformats.org/drawingml/2006/main">
            <a:off x="8629650" y="358140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27" name="label-text">
            <a:extLst xmlns:a="http://schemas.openxmlformats.org/drawingml/2006/main">
              <a:ext uri="{FF2B5EF4-FFF2-40B4-BE49-F238E27FC236}">
                <a16:creationId xmlns:a16="http://schemas.microsoft.com/office/drawing/2014/main" id="{A6E59AC6-DBB6-44F7-A3D6-A334DA8D033F}"/>
              </a:ext>
            </a:extLst>
          </p:cNvPr>
          <p:cNvSpPr>
            <a:spLocks xmlns:a="http://schemas.openxmlformats.org/drawingml/2006/main" noGrp="1"/>
          </p:cNvSpPr>
          <p:nvPr/>
        </p:nvSpPr>
        <p:spPr>
          <a:xfrm xmlns:a="http://schemas.openxmlformats.org/drawingml/2006/main">
            <a:off x="8724900" y="361950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04</a:t>
            </a:r>
          </a:p>
        </p:txBody>
      </p:sp>
      <p:sp>
        <p:nvSpPr>
          <p:cNvPr id="28" name="stage-title">
            <a:extLst xmlns:a="http://schemas.openxmlformats.org/drawingml/2006/main">
              <a:ext uri="{FF2B5EF4-FFF2-40B4-BE49-F238E27FC236}">
                <a16:creationId xmlns:a16="http://schemas.microsoft.com/office/drawing/2014/main" id="{BEBDCBD8-DE11-4F52-8C1D-EFAA47F26A63}"/>
              </a:ext>
            </a:extLst>
          </p:cNvPr>
          <p:cNvSpPr>
            <a:spLocks xmlns:a="http://schemas.openxmlformats.org/drawingml/2006/main" noGrp="1"/>
          </p:cNvSpPr>
          <p:nvPr/>
        </p:nvSpPr>
        <p:spPr>
          <a:xfrm xmlns:a="http://schemas.openxmlformats.org/drawingml/2006/main">
            <a:off x="9163050" y="35814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TRAIN + EVALUATE</a:t>
            </a:r>
          </a:p>
        </p:txBody>
      </p:sp>
      <p:sp>
        <p:nvSpPr>
          <p:cNvPr id="29" name="stage-detail">
            <a:extLst xmlns:a="http://schemas.openxmlformats.org/drawingml/2006/main">
              <a:ext uri="{FF2B5EF4-FFF2-40B4-BE49-F238E27FC236}">
                <a16:creationId xmlns:a16="http://schemas.microsoft.com/office/drawing/2014/main" id="{49978401-4D1F-4E38-BF28-A44A252FEE34}"/>
              </a:ext>
            </a:extLst>
          </p:cNvPr>
          <p:cNvSpPr>
            <a:spLocks xmlns:a="http://schemas.openxmlformats.org/drawingml/2006/main" noGrp="1"/>
          </p:cNvSpPr>
          <p:nvPr/>
        </p:nvSpPr>
        <p:spPr>
          <a:xfrm xmlns:a="http://schemas.openxmlformats.org/drawingml/2006/main">
            <a:off x="8648700" y="4000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3 models • CV • holdout</a:t>
            </a:r>
          </a:p>
        </p:txBody>
      </p:sp>
      <p:sp>
        <p:nvSpPr>
          <p:cNvPr id="30" name="stage-source">
            <a:extLst xmlns:a="http://schemas.openxmlformats.org/drawingml/2006/main">
              <a:ext uri="{FF2B5EF4-FFF2-40B4-BE49-F238E27FC236}">
                <a16:creationId xmlns:a16="http://schemas.microsoft.com/office/drawing/2014/main" id="{6486E824-CD6F-4B96-A188-5D3D92B7D26B}"/>
              </a:ext>
            </a:extLst>
          </p:cNvPr>
          <p:cNvSpPr>
            <a:spLocks xmlns:a="http://schemas.openxmlformats.org/drawingml/2006/main" noGrp="1"/>
          </p:cNvSpPr>
          <p:nvPr/>
        </p:nvSpPr>
        <p:spPr>
          <a:xfrm xmlns:a="http://schemas.openxmlformats.org/drawingml/2006/main">
            <a:off x="8648700" y="43243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model.py • evaluate.py</a:t>
            </a:r>
          </a:p>
        </p:txBody>
      </p:sp>
      <p:sp>
        <p:nvSpPr>
          <p:cNvPr id="31" name="architecture-stage">
            <a:extLst xmlns:a="http://schemas.openxmlformats.org/drawingml/2006/main">
              <a:ext uri="{FF2B5EF4-FFF2-40B4-BE49-F238E27FC236}">
                <a16:creationId xmlns:a16="http://schemas.microsoft.com/office/drawing/2014/main" id="{BABECBF7-80B2-457C-8D4F-81C1AFC160CB}"/>
              </a:ext>
            </a:extLst>
          </p:cNvPr>
          <p:cNvSpPr>
            <a:spLocks xmlns:a="http://schemas.openxmlformats.org/drawingml/2006/main" noGrp="1"/>
          </p:cNvSpPr>
          <p:nvPr/>
        </p:nvSpPr>
        <p:spPr>
          <a:xfrm xmlns:a="http://schemas.openxmlformats.org/drawingml/2006/main">
            <a:off x="4476750" y="3409950"/>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32" name="label-pill">
            <a:extLst xmlns:a="http://schemas.openxmlformats.org/drawingml/2006/main">
              <a:ext uri="{FF2B5EF4-FFF2-40B4-BE49-F238E27FC236}">
                <a16:creationId xmlns:a16="http://schemas.microsoft.com/office/drawing/2014/main" id="{61281B51-4FE8-4400-B010-ABD01780EFC6}"/>
              </a:ext>
            </a:extLst>
          </p:cNvPr>
          <p:cNvSpPr>
            <a:spLocks xmlns:a="http://schemas.openxmlformats.org/drawingml/2006/main" noGrp="1"/>
          </p:cNvSpPr>
          <p:nvPr/>
        </p:nvSpPr>
        <p:spPr>
          <a:xfrm xmlns:a="http://schemas.openxmlformats.org/drawingml/2006/main">
            <a:off x="4648200" y="358140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33" name="label-text">
            <a:extLst xmlns:a="http://schemas.openxmlformats.org/drawingml/2006/main">
              <a:ext uri="{FF2B5EF4-FFF2-40B4-BE49-F238E27FC236}">
                <a16:creationId xmlns:a16="http://schemas.microsoft.com/office/drawing/2014/main" id="{22F595AD-1DB0-4F90-A1E9-9899ED25E86D}"/>
              </a:ext>
            </a:extLst>
          </p:cNvPr>
          <p:cNvSpPr>
            <a:spLocks xmlns:a="http://schemas.openxmlformats.org/drawingml/2006/main" noGrp="1"/>
          </p:cNvSpPr>
          <p:nvPr/>
        </p:nvSpPr>
        <p:spPr>
          <a:xfrm xmlns:a="http://schemas.openxmlformats.org/drawingml/2006/main">
            <a:off x="4743450" y="361950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05</a:t>
            </a:r>
          </a:p>
        </p:txBody>
      </p:sp>
      <p:sp>
        <p:nvSpPr>
          <p:cNvPr id="34" name="stage-title">
            <a:extLst xmlns:a="http://schemas.openxmlformats.org/drawingml/2006/main">
              <a:ext uri="{FF2B5EF4-FFF2-40B4-BE49-F238E27FC236}">
                <a16:creationId xmlns:a16="http://schemas.microsoft.com/office/drawing/2014/main" id="{38CDE282-293D-4922-A83D-116D68C96A77}"/>
              </a:ext>
            </a:extLst>
          </p:cNvPr>
          <p:cNvSpPr>
            <a:spLocks xmlns:a="http://schemas.openxmlformats.org/drawingml/2006/main" noGrp="1"/>
          </p:cNvSpPr>
          <p:nvPr/>
        </p:nvSpPr>
        <p:spPr>
          <a:xfrm xmlns:a="http://schemas.openxmlformats.org/drawingml/2006/main">
            <a:off x="5181600" y="35814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SERVE</a:t>
            </a:r>
          </a:p>
        </p:txBody>
      </p:sp>
      <p:sp>
        <p:nvSpPr>
          <p:cNvPr id="35" name="stage-detail">
            <a:extLst xmlns:a="http://schemas.openxmlformats.org/drawingml/2006/main">
              <a:ext uri="{FF2B5EF4-FFF2-40B4-BE49-F238E27FC236}">
                <a16:creationId xmlns:a16="http://schemas.microsoft.com/office/drawing/2014/main" id="{EB7D563E-F3D2-4991-9A2F-EA886057CD06}"/>
              </a:ext>
            </a:extLst>
          </p:cNvPr>
          <p:cNvSpPr>
            <a:spLocks xmlns:a="http://schemas.openxmlformats.org/drawingml/2006/main" noGrp="1"/>
          </p:cNvSpPr>
          <p:nvPr/>
        </p:nvSpPr>
        <p:spPr>
          <a:xfrm xmlns:a="http://schemas.openxmlformats.org/drawingml/2006/main">
            <a:off x="4667250" y="4000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Streamlit views</a:t>
            </a:r>
          </a:p>
        </p:txBody>
      </p:sp>
      <p:sp>
        <p:nvSpPr>
          <p:cNvPr id="36" name="stage-source">
            <a:extLst xmlns:a="http://schemas.openxmlformats.org/drawingml/2006/main">
              <a:ext uri="{FF2B5EF4-FFF2-40B4-BE49-F238E27FC236}">
                <a16:creationId xmlns:a16="http://schemas.microsoft.com/office/drawing/2014/main" id="{7C831A34-31F6-43DC-B64D-E95797994F24}"/>
              </a:ext>
            </a:extLst>
          </p:cNvPr>
          <p:cNvSpPr>
            <a:spLocks xmlns:a="http://schemas.openxmlformats.org/drawingml/2006/main" noGrp="1"/>
          </p:cNvSpPr>
          <p:nvPr/>
        </p:nvSpPr>
        <p:spPr>
          <a:xfrm xmlns:a="http://schemas.openxmlformats.org/drawingml/2006/main">
            <a:off x="4667250" y="43243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support_app.py</a:t>
            </a:r>
          </a:p>
        </p:txBody>
      </p:sp>
      <p:sp>
        <p:nvSpPr>
          <p:cNvPr id="37" name="architecture-stage">
            <a:extLst xmlns:a="http://schemas.openxmlformats.org/drawingml/2006/main">
              <a:ext uri="{FF2B5EF4-FFF2-40B4-BE49-F238E27FC236}">
                <a16:creationId xmlns:a16="http://schemas.microsoft.com/office/drawing/2014/main" id="{6B731546-9A1F-4197-AAE6-0344DD1E93CF}"/>
              </a:ext>
            </a:extLst>
          </p:cNvPr>
          <p:cNvSpPr>
            <a:spLocks xmlns:a="http://schemas.openxmlformats.org/drawingml/2006/main" noGrp="1"/>
          </p:cNvSpPr>
          <p:nvPr/>
        </p:nvSpPr>
        <p:spPr>
          <a:xfrm xmlns:a="http://schemas.openxmlformats.org/drawingml/2006/main">
            <a:off x="495300" y="3409950"/>
            <a:ext cx="3238500" cy="12192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E2E5"/>
            </a:solidFill>
            <a:prstDash val="solid"/>
          </a:ln>
        </p:spPr>
      </p:sp>
      <p:sp>
        <p:nvSpPr>
          <p:cNvPr id="38" name="label-pill">
            <a:extLst xmlns:a="http://schemas.openxmlformats.org/drawingml/2006/main">
              <a:ext uri="{FF2B5EF4-FFF2-40B4-BE49-F238E27FC236}">
                <a16:creationId xmlns:a16="http://schemas.microsoft.com/office/drawing/2014/main" id="{C16AFEA8-AFA3-4021-A0D5-2BC98A252561}"/>
              </a:ext>
            </a:extLst>
          </p:cNvPr>
          <p:cNvSpPr>
            <a:spLocks xmlns:a="http://schemas.openxmlformats.org/drawingml/2006/main" noGrp="1"/>
          </p:cNvSpPr>
          <p:nvPr/>
        </p:nvSpPr>
        <p:spPr>
          <a:xfrm xmlns:a="http://schemas.openxmlformats.org/drawingml/2006/main">
            <a:off x="666750" y="358140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39" name="label-text">
            <a:extLst xmlns:a="http://schemas.openxmlformats.org/drawingml/2006/main">
              <a:ext uri="{FF2B5EF4-FFF2-40B4-BE49-F238E27FC236}">
                <a16:creationId xmlns:a16="http://schemas.microsoft.com/office/drawing/2014/main" id="{18562DEB-A2BA-4F9E-8017-DD87F278AE27}"/>
              </a:ext>
            </a:extLst>
          </p:cNvPr>
          <p:cNvSpPr>
            <a:spLocks xmlns:a="http://schemas.openxmlformats.org/drawingml/2006/main" noGrp="1"/>
          </p:cNvSpPr>
          <p:nvPr/>
        </p:nvSpPr>
        <p:spPr>
          <a:xfrm xmlns:a="http://schemas.openxmlformats.org/drawingml/2006/main">
            <a:off x="762000" y="361950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06</a:t>
            </a:r>
          </a:p>
        </p:txBody>
      </p:sp>
      <p:sp>
        <p:nvSpPr>
          <p:cNvPr id="40" name="stage-title">
            <a:extLst xmlns:a="http://schemas.openxmlformats.org/drawingml/2006/main">
              <a:ext uri="{FF2B5EF4-FFF2-40B4-BE49-F238E27FC236}">
                <a16:creationId xmlns:a16="http://schemas.microsoft.com/office/drawing/2014/main" id="{511B2E77-4293-4BC9-87C2-DCE9C598A6D7}"/>
              </a:ext>
            </a:extLst>
          </p:cNvPr>
          <p:cNvSpPr>
            <a:spLocks xmlns:a="http://schemas.openxmlformats.org/drawingml/2006/main" noGrp="1"/>
          </p:cNvSpPr>
          <p:nvPr/>
        </p:nvSpPr>
        <p:spPr>
          <a:xfrm xmlns:a="http://schemas.openxmlformats.org/drawingml/2006/main">
            <a:off x="1200150" y="35814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SUPPORT</a:t>
            </a:r>
          </a:p>
        </p:txBody>
      </p:sp>
      <p:sp>
        <p:nvSpPr>
          <p:cNvPr id="41" name="stage-detail">
            <a:extLst xmlns:a="http://schemas.openxmlformats.org/drawingml/2006/main">
              <a:ext uri="{FF2B5EF4-FFF2-40B4-BE49-F238E27FC236}">
                <a16:creationId xmlns:a16="http://schemas.microsoft.com/office/drawing/2014/main" id="{8CC4B863-384B-47BF-8D95-4A3A28FDF9D1}"/>
              </a:ext>
            </a:extLst>
          </p:cNvPr>
          <p:cNvSpPr>
            <a:spLocks xmlns:a="http://schemas.openxmlformats.org/drawingml/2006/main" noGrp="1"/>
          </p:cNvSpPr>
          <p:nvPr/>
        </p:nvSpPr>
        <p:spPr>
          <a:xfrm xmlns:a="http://schemas.openxmlformats.org/drawingml/2006/main">
            <a:off x="685800" y="4000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82F41"/>
                </a:solidFill>
                <a:latin typeface="Arial"/>
                <a:ea typeface="Arial"/>
                <a:cs typeface="Arial"/>
              </a:defRPr>
            </a:defPPr>
            <a:lvl1pPr algn="l">
              <a:defRPr sz="1200" b="0">
                <a:solidFill>
                  <a:srgbClr val="182F41"/>
                </a:solidFill>
                <a:latin typeface="Arial"/>
                <a:ea typeface="Arial"/>
                <a:cs typeface="Arial"/>
              </a:defRPr>
            </a:lvl1pPr>
            <a:lvl2pPr algn="l">
              <a:defRPr sz="1200" b="0">
                <a:solidFill>
                  <a:srgbClr val="182F41"/>
                </a:solidFill>
                <a:latin typeface="Arial"/>
                <a:ea typeface="Arial"/>
                <a:cs typeface="Arial"/>
              </a:defRPr>
            </a:lvl2pPr>
            <a:lvl3pPr algn="l">
              <a:defRPr sz="1200" b="0">
                <a:solidFill>
                  <a:srgbClr val="182F41"/>
                </a:solidFill>
                <a:latin typeface="Arial"/>
                <a:ea typeface="Arial"/>
                <a:cs typeface="Arial"/>
              </a:defRPr>
            </a:lvl3pPr>
            <a:lvl4pPr algn="l">
              <a:defRPr sz="1200" b="0">
                <a:solidFill>
                  <a:srgbClr val="182F41"/>
                </a:solidFill>
                <a:latin typeface="Arial"/>
                <a:ea typeface="Arial"/>
                <a:cs typeface="Arial"/>
              </a:defRPr>
            </a:lvl4pPr>
            <a:lvl5pPr algn="l">
              <a:defRPr sz="1200" b="0">
                <a:solidFill>
                  <a:srgbClr val="182F41"/>
                </a:solidFill>
                <a:latin typeface="Arial"/>
                <a:ea typeface="Arial"/>
                <a:cs typeface="Arial"/>
              </a:defRPr>
            </a:lvl5pPr>
            <a:lvl6pPr algn="l">
              <a:defRPr sz="1200" b="0">
                <a:solidFill>
                  <a:srgbClr val="182F41"/>
                </a:solidFill>
                <a:latin typeface="Arial"/>
                <a:ea typeface="Arial"/>
                <a:cs typeface="Arial"/>
              </a:defRPr>
            </a:lvl6pPr>
            <a:lvl7pPr algn="l">
              <a:defRPr sz="1200" b="0">
                <a:solidFill>
                  <a:srgbClr val="182F41"/>
                </a:solidFill>
                <a:latin typeface="Arial"/>
                <a:ea typeface="Arial"/>
                <a:cs typeface="Arial"/>
              </a:defRPr>
            </a:lvl7pPr>
            <a:lvl8pPr algn="l">
              <a:defRPr sz="1200" b="0">
                <a:solidFill>
                  <a:srgbClr val="182F41"/>
                </a:solidFill>
                <a:latin typeface="Arial"/>
                <a:ea typeface="Arial"/>
                <a:cs typeface="Arial"/>
              </a:defRPr>
            </a:lvl8pPr>
            <a:lvl9pPr algn="l">
              <a:defRPr sz="1200" b="0">
                <a:solidFill>
                  <a:srgbClr val="182F41"/>
                </a:solidFill>
                <a:latin typeface="Arial"/>
                <a:ea typeface="Arial"/>
                <a:cs typeface="Arial"/>
              </a:defRPr>
            </a:lvl9pPr>
          </a:lstStyle>
          <a:p xmlns:a="http://schemas.openxmlformats.org/drawingml/2006/main">
            <a:pPr algn="l">
              <a:lnSpc>
                <a:spcPct val="100000"/>
              </a:lnSpc>
              <a:buNone/>
              <a:defRPr sz="1200" b="0">
                <a:solidFill>
                  <a:srgbClr val="182F41"/>
                </a:solidFill>
                <a:latin typeface="Arial"/>
                <a:ea typeface="Arial"/>
                <a:cs typeface="Arial"/>
              </a:defRPr>
            </a:pPr>
            <a:r>
              <a:rPr sz="1200" b="0">
                <a:solidFill>
                  <a:srgbClr val="182F41"/>
                </a:solidFill>
                <a:latin typeface="Arial"/>
                <a:ea typeface="Arial"/>
                <a:cs typeface="Arial"/>
              </a:rPr>
              <a:t>Chat • cases • follow-up</a:t>
            </a:r>
          </a:p>
        </p:txBody>
      </p:sp>
      <p:sp>
        <p:nvSpPr>
          <p:cNvPr id="42" name="stage-source">
            <a:extLst xmlns:a="http://schemas.openxmlformats.org/drawingml/2006/main">
              <a:ext uri="{FF2B5EF4-FFF2-40B4-BE49-F238E27FC236}">
                <a16:creationId xmlns:a16="http://schemas.microsoft.com/office/drawing/2014/main" id="{19A2420B-5FDA-4D8E-9B51-A507808361C3}"/>
              </a:ext>
            </a:extLst>
          </p:cNvPr>
          <p:cNvSpPr>
            <a:spLocks xmlns:a="http://schemas.openxmlformats.org/drawingml/2006/main" noGrp="1"/>
          </p:cNvSpPr>
          <p:nvPr/>
        </p:nvSpPr>
        <p:spPr>
          <a:xfrm xmlns:a="http://schemas.openxmlformats.org/drawingml/2006/main">
            <a:off x="685800" y="43243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5C7180"/>
                </a:solidFill>
                <a:latin typeface="Arial"/>
                <a:ea typeface="Arial"/>
                <a:cs typeface="Arial"/>
              </a:defRPr>
            </a:defPPr>
            <a:lvl1pPr algn="l">
              <a:defRPr sz="975" b="0">
                <a:solidFill>
                  <a:srgbClr val="5C7180"/>
                </a:solidFill>
                <a:latin typeface="Arial"/>
                <a:ea typeface="Arial"/>
                <a:cs typeface="Arial"/>
              </a:defRPr>
            </a:lvl1pPr>
            <a:lvl2pPr algn="l">
              <a:defRPr sz="975" b="0">
                <a:solidFill>
                  <a:srgbClr val="5C7180"/>
                </a:solidFill>
                <a:latin typeface="Arial"/>
                <a:ea typeface="Arial"/>
                <a:cs typeface="Arial"/>
              </a:defRPr>
            </a:lvl2pPr>
            <a:lvl3pPr algn="l">
              <a:defRPr sz="975" b="0">
                <a:solidFill>
                  <a:srgbClr val="5C7180"/>
                </a:solidFill>
                <a:latin typeface="Arial"/>
                <a:ea typeface="Arial"/>
                <a:cs typeface="Arial"/>
              </a:defRPr>
            </a:lvl3pPr>
            <a:lvl4pPr algn="l">
              <a:defRPr sz="975" b="0">
                <a:solidFill>
                  <a:srgbClr val="5C7180"/>
                </a:solidFill>
                <a:latin typeface="Arial"/>
                <a:ea typeface="Arial"/>
                <a:cs typeface="Arial"/>
              </a:defRPr>
            </a:lvl4pPr>
            <a:lvl5pPr algn="l">
              <a:defRPr sz="975" b="0">
                <a:solidFill>
                  <a:srgbClr val="5C7180"/>
                </a:solidFill>
                <a:latin typeface="Arial"/>
                <a:ea typeface="Arial"/>
                <a:cs typeface="Arial"/>
              </a:defRPr>
            </a:lvl5pPr>
            <a:lvl6pPr algn="l">
              <a:defRPr sz="975" b="0">
                <a:solidFill>
                  <a:srgbClr val="5C7180"/>
                </a:solidFill>
                <a:latin typeface="Arial"/>
                <a:ea typeface="Arial"/>
                <a:cs typeface="Arial"/>
              </a:defRPr>
            </a:lvl6pPr>
            <a:lvl7pPr algn="l">
              <a:defRPr sz="975" b="0">
                <a:solidFill>
                  <a:srgbClr val="5C7180"/>
                </a:solidFill>
                <a:latin typeface="Arial"/>
                <a:ea typeface="Arial"/>
                <a:cs typeface="Arial"/>
              </a:defRPr>
            </a:lvl7pPr>
            <a:lvl8pPr algn="l">
              <a:defRPr sz="975" b="0">
                <a:solidFill>
                  <a:srgbClr val="5C7180"/>
                </a:solidFill>
                <a:latin typeface="Arial"/>
                <a:ea typeface="Arial"/>
                <a:cs typeface="Arial"/>
              </a:defRPr>
            </a:lvl8pPr>
            <a:lvl9pPr algn="l">
              <a:defRPr sz="975" b="0">
                <a:solidFill>
                  <a:srgbClr val="5C7180"/>
                </a:solidFill>
                <a:latin typeface="Arial"/>
                <a:ea typeface="Arial"/>
                <a:cs typeface="Arial"/>
              </a:defRPr>
            </a:lvl9pPr>
          </a:lstStyle>
          <a:p xmlns:a="http://schemas.openxmlformats.org/drawingml/2006/main">
            <a:pPr algn="l">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support_chatbot.py</a:t>
            </a:r>
          </a:p>
        </p:txBody>
      </p:sp>
      <p:sp>
        <p:nvSpPr>
          <p:cNvPr id="43" name="">
            <a:extLst xmlns:a="http://schemas.openxmlformats.org/drawingml/2006/main">
              <a:ext uri="{FF2B5EF4-FFF2-40B4-BE49-F238E27FC236}">
                <a16:creationId xmlns:a16="http://schemas.microsoft.com/office/drawing/2014/main" id="{753E83D9-F1D6-4BE7-91FC-D945D188F592}"/>
              </a:ext>
            </a:extLst>
          </p:cNvPr>
          <p:cNvSpPr>
            <a:spLocks xmlns:a="http://schemas.openxmlformats.org/drawingml/2006/main" noGrp="1"/>
          </p:cNvSpPr>
          <p:nvPr/>
        </p:nvSpPr>
        <p:spPr>
          <a:xfrm xmlns:a="http://schemas.openxmlformats.org/drawingml/2006/main" flipH="0">
            <a:off x="3733800" y="2257425"/>
            <a:ext cx="628650" cy="9525"/>
          </a:xfrm>
          <a:prstGeom xmlns:a="http://schemas.openxmlformats.org/drawingml/2006/main" prst="line">
            <a:avLst/>
          </a:prstGeom>
          <a:noFill xmlns:a="http://schemas.openxmlformats.org/drawingml/2006/main"/>
          <a:ln xmlns:a="http://schemas.openxmlformats.org/drawingml/2006/main" w="28575">
            <a:solidFill>
              <a:srgbClr val="087F78"/>
            </a:solidFill>
            <a:prstDash val="solid"/>
          </a:ln>
        </p:spPr>
      </p:sp>
      <p:sp>
        <p:nvSpPr>
          <p:cNvPr id="44" name="">
            <a:extLst xmlns:a="http://schemas.openxmlformats.org/drawingml/2006/main">
              <a:ext uri="{FF2B5EF4-FFF2-40B4-BE49-F238E27FC236}">
                <a16:creationId xmlns:a16="http://schemas.microsoft.com/office/drawing/2014/main" id="{640F3C3E-892F-4D10-B277-61566B5D1BF1}"/>
              </a:ext>
            </a:extLst>
          </p:cNvPr>
          <p:cNvSpPr>
            <a:spLocks xmlns:a="http://schemas.openxmlformats.org/drawingml/2006/main" noGrp="1"/>
          </p:cNvSpPr>
          <p:nvPr/>
        </p:nvSpPr>
        <p:spPr>
          <a:xfrm xmlns:a="http://schemas.openxmlformats.org/drawingml/2006/main" flipH="0">
            <a:off x="7715250" y="2257425"/>
            <a:ext cx="628650" cy="9525"/>
          </a:xfrm>
          <a:prstGeom xmlns:a="http://schemas.openxmlformats.org/drawingml/2006/main" prst="line">
            <a:avLst/>
          </a:prstGeom>
          <a:noFill xmlns:a="http://schemas.openxmlformats.org/drawingml/2006/main"/>
          <a:ln xmlns:a="http://schemas.openxmlformats.org/drawingml/2006/main" w="28575">
            <a:solidFill>
              <a:srgbClr val="087F78"/>
            </a:solidFill>
            <a:prstDash val="solid"/>
          </a:ln>
        </p:spPr>
      </p:sp>
      <p:sp>
        <p:nvSpPr>
          <p:cNvPr id="45" name="">
            <a:extLst xmlns:a="http://schemas.openxmlformats.org/drawingml/2006/main">
              <a:ext uri="{FF2B5EF4-FFF2-40B4-BE49-F238E27FC236}">
                <a16:creationId xmlns:a16="http://schemas.microsoft.com/office/drawing/2014/main" id="{8BB45891-3E70-4C62-9E26-B7A2A074D796}"/>
              </a:ext>
            </a:extLst>
          </p:cNvPr>
          <p:cNvSpPr>
            <a:spLocks xmlns:a="http://schemas.openxmlformats.org/drawingml/2006/main" noGrp="1"/>
          </p:cNvSpPr>
          <p:nvPr/>
        </p:nvSpPr>
        <p:spPr>
          <a:xfrm xmlns:a="http://schemas.openxmlformats.org/drawingml/2006/main" flipH="0">
            <a:off x="10077450" y="2924175"/>
            <a:ext cx="9525" cy="381000"/>
          </a:xfrm>
          <a:prstGeom xmlns:a="http://schemas.openxmlformats.org/drawingml/2006/main" prst="line">
            <a:avLst/>
          </a:prstGeom>
          <a:noFill xmlns:a="http://schemas.openxmlformats.org/drawingml/2006/main"/>
          <a:ln xmlns:a="http://schemas.openxmlformats.org/drawingml/2006/main" w="28575">
            <a:solidFill>
              <a:srgbClr val="087F78"/>
            </a:solidFill>
            <a:prstDash val="solid"/>
          </a:ln>
        </p:spPr>
      </p:sp>
      <p:sp>
        <p:nvSpPr>
          <p:cNvPr id="46" name="">
            <a:extLst xmlns:a="http://schemas.openxmlformats.org/drawingml/2006/main">
              <a:ext uri="{FF2B5EF4-FFF2-40B4-BE49-F238E27FC236}">
                <a16:creationId xmlns:a16="http://schemas.microsoft.com/office/drawing/2014/main" id="{D38E2F10-0B78-4C06-9439-13311FC582D7}"/>
              </a:ext>
            </a:extLst>
          </p:cNvPr>
          <p:cNvSpPr>
            <a:spLocks xmlns:a="http://schemas.openxmlformats.org/drawingml/2006/main" noGrp="1"/>
          </p:cNvSpPr>
          <p:nvPr/>
        </p:nvSpPr>
        <p:spPr>
          <a:xfrm xmlns:a="http://schemas.openxmlformats.org/drawingml/2006/main" flipH="0">
            <a:off x="7829550" y="4019550"/>
            <a:ext cx="628650" cy="9525"/>
          </a:xfrm>
          <a:prstGeom xmlns:a="http://schemas.openxmlformats.org/drawingml/2006/main" prst="line">
            <a:avLst/>
          </a:prstGeom>
          <a:noFill xmlns:a="http://schemas.openxmlformats.org/drawingml/2006/main"/>
          <a:ln xmlns:a="http://schemas.openxmlformats.org/drawingml/2006/main" w="28575">
            <a:solidFill>
              <a:srgbClr val="087F78"/>
            </a:solidFill>
            <a:prstDash val="solid"/>
          </a:ln>
        </p:spPr>
      </p:sp>
      <p:sp>
        <p:nvSpPr>
          <p:cNvPr id="47" name="">
            <a:extLst xmlns:a="http://schemas.openxmlformats.org/drawingml/2006/main">
              <a:ext uri="{FF2B5EF4-FFF2-40B4-BE49-F238E27FC236}">
                <a16:creationId xmlns:a16="http://schemas.microsoft.com/office/drawing/2014/main" id="{52FB1005-0989-4D14-85C2-396777714D2D}"/>
              </a:ext>
            </a:extLst>
          </p:cNvPr>
          <p:cNvSpPr>
            <a:spLocks xmlns:a="http://schemas.openxmlformats.org/drawingml/2006/main" noGrp="1"/>
          </p:cNvSpPr>
          <p:nvPr/>
        </p:nvSpPr>
        <p:spPr>
          <a:xfrm xmlns:a="http://schemas.openxmlformats.org/drawingml/2006/main" flipH="0">
            <a:off x="3848100" y="4019550"/>
            <a:ext cx="628650" cy="9525"/>
          </a:xfrm>
          <a:prstGeom xmlns:a="http://schemas.openxmlformats.org/drawingml/2006/main" prst="line">
            <a:avLst/>
          </a:prstGeom>
          <a:noFill xmlns:a="http://schemas.openxmlformats.org/drawingml/2006/main"/>
          <a:ln xmlns:a="http://schemas.openxmlformats.org/drawingml/2006/main" w="28575">
            <a:solidFill>
              <a:srgbClr val="087F78"/>
            </a:solidFill>
            <a:prstDash val="solid"/>
          </a:ln>
        </p:spPr>
      </p:sp>
      <p:sp>
        <p:nvSpPr>
          <p:cNvPr id="48" name="architecture-note">
            <a:extLst xmlns:a="http://schemas.openxmlformats.org/drawingml/2006/main">
              <a:ext uri="{FF2B5EF4-FFF2-40B4-BE49-F238E27FC236}">
                <a16:creationId xmlns:a16="http://schemas.microsoft.com/office/drawing/2014/main" id="{C8D87CFB-F444-4E9B-ABB5-29E62427F015}"/>
              </a:ext>
            </a:extLst>
          </p:cNvPr>
          <p:cNvSpPr>
            <a:spLocks xmlns:a="http://schemas.openxmlformats.org/drawingml/2006/main" noGrp="1"/>
          </p:cNvSpPr>
          <p:nvPr/>
        </p:nvSpPr>
        <p:spPr>
          <a:xfrm xmlns:a="http://schemas.openxmlformats.org/drawingml/2006/main">
            <a:off x="495300" y="5124450"/>
            <a:ext cx="11201400" cy="952500"/>
          </a:xfrm>
          <a:prstGeom xmlns:a="http://schemas.openxmlformats.org/drawingml/2006/main" prst="roundRect">
            <a:avLst>
              <a:gd name="adj" fmla="val 14000"/>
            </a:avLst>
          </a:prstGeom>
          <a:solidFill xmlns:a="http://schemas.openxmlformats.org/drawingml/2006/main">
            <a:srgbClr val="102B3F"/>
          </a:solidFill>
          <a:ln xmlns:a="http://schemas.openxmlformats.org/drawingml/2006/main" w="0">
            <a:noFill/>
            <a:prstDash val="solid"/>
          </a:ln>
        </p:spPr>
      </p:sp>
      <p:sp>
        <p:nvSpPr>
          <p:cNvPr id="49" name="design-note-title">
            <a:extLst xmlns:a="http://schemas.openxmlformats.org/drawingml/2006/main">
              <a:ext uri="{FF2B5EF4-FFF2-40B4-BE49-F238E27FC236}">
                <a16:creationId xmlns:a16="http://schemas.microsoft.com/office/drawing/2014/main" id="{FDCF9F0B-F53F-400F-998F-D6E9034250B2}"/>
              </a:ext>
            </a:extLst>
          </p:cNvPr>
          <p:cNvSpPr>
            <a:spLocks xmlns:a="http://schemas.openxmlformats.org/drawingml/2006/main" noGrp="1"/>
          </p:cNvSpPr>
          <p:nvPr/>
        </p:nvSpPr>
        <p:spPr>
          <a:xfrm xmlns:a="http://schemas.openxmlformats.org/drawingml/2006/main">
            <a:off x="723900" y="5276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ARCHITECTURE PRINCIPLE</a:t>
            </a:r>
          </a:p>
        </p:txBody>
      </p:sp>
      <p:sp>
        <p:nvSpPr>
          <p:cNvPr id="50" name="design-note">
            <a:extLst xmlns:a="http://schemas.openxmlformats.org/drawingml/2006/main">
              <a:ext uri="{FF2B5EF4-FFF2-40B4-BE49-F238E27FC236}">
                <a16:creationId xmlns:a16="http://schemas.microsoft.com/office/drawing/2014/main" id="{5694AC47-509D-4FCF-957C-F8ECC46170BA}"/>
              </a:ext>
            </a:extLst>
          </p:cNvPr>
          <p:cNvSpPr>
            <a:spLocks xmlns:a="http://schemas.openxmlformats.org/drawingml/2006/main" noGrp="1"/>
          </p:cNvSpPr>
          <p:nvPr/>
        </p:nvSpPr>
        <p:spPr>
          <a:xfrm xmlns:a="http://schemas.openxmlformats.org/drawingml/2006/main">
            <a:off x="723900" y="5562600"/>
            <a:ext cx="104203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lnSpc>
                <a:spcPct val="100000"/>
              </a:lnSpc>
              <a:buNone/>
              <a:defRPr sz="1350" b="0">
                <a:solidFill>
                  <a:srgbClr val="FFFFFF"/>
                </a:solidFill>
                <a:latin typeface="Arial"/>
                <a:ea typeface="Arial"/>
                <a:cs typeface="Arial"/>
              </a:defRPr>
            </a:pPr>
            <a:r>
              <a:rPr sz="1350" b="0">
                <a:solidFill>
                  <a:srgbClr val="FFFFFF"/>
                </a:solidFill>
                <a:latin typeface="Arial"/>
                <a:ea typeface="Arial"/>
                <a:cs typeface="Arial"/>
              </a:rPr>
              <a:t>Reproducible model pipeline and Kenyan-campus student-support hub share one application shell, but the support chatbot does not call the dropout model.</a:t>
            </a:r>
          </a:p>
        </p:txBody>
      </p:sp>
    </p:spTree>
    <p:extLst>
      <p:ext uri="{BB962C8B-B14F-4D97-AF65-F5344CB8AC3E}">
        <p14:creationId xmlns:p14="http://schemas.microsoft.com/office/powerpoint/2010/main" val="374331082"/>
      </p:ext>
    </p:extLst>
  </p:cSld>
</p:sld>
</file>

<file path=ppt/slides/slide4.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6A744874-CCE3-4762-85D9-762C4D8A5A3E}"/>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F1B4A150-DDAB-4068-82BE-E89ECC83EF5F}"/>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Extraction and validation protect the data contract</a:t>
            </a:r>
          </a:p>
        </p:txBody>
      </p:sp>
      <p:sp>
        <p:nvSpPr>
          <p:cNvPr id="3" name="">
            <a:extLst xmlns:a="http://schemas.openxmlformats.org/drawingml/2006/main">
              <a:ext uri="{FF2B5EF4-FFF2-40B4-BE49-F238E27FC236}">
                <a16:creationId xmlns:a16="http://schemas.microsoft.com/office/drawing/2014/main" id="{B323FC36-BD2D-4C33-8B6E-2F4BF73C8F74}"/>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C679A8BC-E6D6-4F4F-90DB-2E2FE6842DD6}"/>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2C0A932E-E0E8-420B-A06D-A735E35130D1}"/>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3AD3098A-C8CB-4DAD-88B2-B0159A3FBC43}"/>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04 / 10</a:t>
            </a:r>
          </a:p>
        </p:txBody>
      </p:sp>
      <p:sp>
        <p:nvSpPr>
          <p:cNvPr id="7" name="screenshot-frame">
            <a:extLst xmlns:a="http://schemas.openxmlformats.org/drawingml/2006/main">
              <a:ext uri="{FF2B5EF4-FFF2-40B4-BE49-F238E27FC236}">
                <a16:creationId xmlns:a16="http://schemas.microsoft.com/office/drawing/2014/main" id="{9B33579D-A7BA-4CC6-9993-511C4AED1908}"/>
              </a:ext>
            </a:extLst>
          </p:cNvPr>
          <p:cNvSpPr>
            <a:spLocks xmlns:a="http://schemas.openxmlformats.org/drawingml/2006/main" noGrp="1"/>
          </p:cNvSpPr>
          <p:nvPr/>
        </p:nvSpPr>
        <p:spPr>
          <a:xfrm xmlns:a="http://schemas.openxmlformats.org/drawingml/2006/main">
            <a:off x="457200" y="1343025"/>
            <a:ext cx="6457950" cy="4314825"/>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6BA2E1CC-2B02-43C9-8578-DB50DAC773BB}"/>
              </a:ext>
            </a:extLst>
          </p:cNvPr>
          <p:cNvPicPr>
            <a:picLocks xmlns:a="http://schemas.openxmlformats.org/drawingml/2006/main" noChangeAspect="1"/>
          </p:cNvPicPr>
          <p:nvPr/>
        </p:nvPicPr>
        <p:blipFill>
          <a:blip xmlns:r="http://schemas.openxmlformats.org/officeDocument/2006/relationships" xmlns:a="http://schemas.openxmlformats.org/drawingml/2006/main" r:embed="R656b137377a8439d"/>
          <a:stretch xmlns:a="http://schemas.openxmlformats.org/drawingml/2006/main"/>
        </p:blipFill>
        <p:spPr>
          <a:xfrm xmlns:a="http://schemas.openxmlformats.org/drawingml/2006/main">
            <a:off x="634365" y="1381125"/>
            <a:ext cx="6103620" cy="4238625"/>
          </a:xfrm>
          <a:prstGeom xmlns:a="http://schemas.openxmlformats.org/drawingml/2006/main" prst="roundRect">
            <a:avLst>
              <a:gd name="adj" fmla="val 2247"/>
            </a:avLst>
          </a:prstGeom>
        </p:spPr>
      </p:pic>
      <p:sp>
        <p:nvSpPr>
          <p:cNvPr id="9" name="advanced-python-connection">
            <a:extLst xmlns:a="http://schemas.openxmlformats.org/drawingml/2006/main">
              <a:ext uri="{FF2B5EF4-FFF2-40B4-BE49-F238E27FC236}">
                <a16:creationId xmlns:a16="http://schemas.microsoft.com/office/drawing/2014/main" id="{CB7B336C-49A3-4C80-995A-E16AF79714F8}"/>
              </a:ext>
            </a:extLst>
          </p:cNvPr>
          <p:cNvSpPr>
            <a:spLocks xmlns:a="http://schemas.openxmlformats.org/drawingml/2006/main" noGrp="1"/>
          </p:cNvSpPr>
          <p:nvPr/>
        </p:nvSpPr>
        <p:spPr>
          <a:xfrm xmlns:a="http://schemas.openxmlformats.org/drawingml/2006/main">
            <a:off x="7124700" y="1428750"/>
            <a:ext cx="4572000" cy="4238625"/>
          </a:xfrm>
          <a:prstGeom xmlns:a="http://schemas.openxmlformats.org/drawingml/2006/main" prst="roundRect">
            <a:avLst>
              <a:gd name="adj" fmla="val 3596"/>
            </a:avLst>
          </a:prstGeom>
          <a:solidFill xmlns:a="http://schemas.openxmlformats.org/drawingml/2006/main">
            <a:srgbClr val="102B3F"/>
          </a:solidFill>
          <a:ln xmlns:a="http://schemas.openxmlformats.org/drawingml/2006/main" w="0">
            <a:noFill/>
            <a:prstDash val="solid"/>
          </a:ln>
        </p:spPr>
      </p:sp>
      <p:sp>
        <p:nvSpPr>
          <p:cNvPr id="10" name="label-pill">
            <a:extLst xmlns:a="http://schemas.openxmlformats.org/drawingml/2006/main">
              <a:ext uri="{FF2B5EF4-FFF2-40B4-BE49-F238E27FC236}">
                <a16:creationId xmlns:a16="http://schemas.microsoft.com/office/drawing/2014/main" id="{F6FE78AE-7F5D-45AF-B584-A75C84771EAD}"/>
              </a:ext>
            </a:extLst>
          </p:cNvPr>
          <p:cNvSpPr>
            <a:spLocks xmlns:a="http://schemas.openxmlformats.org/drawingml/2006/main" noGrp="1"/>
          </p:cNvSpPr>
          <p:nvPr/>
        </p:nvSpPr>
        <p:spPr>
          <a:xfrm xmlns:a="http://schemas.openxmlformats.org/drawingml/2006/main">
            <a:off x="7353300" y="1619250"/>
            <a:ext cx="2428875"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1" name="label-text">
            <a:extLst xmlns:a="http://schemas.openxmlformats.org/drawingml/2006/main">
              <a:ext uri="{FF2B5EF4-FFF2-40B4-BE49-F238E27FC236}">
                <a16:creationId xmlns:a16="http://schemas.microsoft.com/office/drawing/2014/main" id="{AFE15889-FB6C-40BF-8FA2-114C2E4B374A}"/>
              </a:ext>
            </a:extLst>
          </p:cNvPr>
          <p:cNvSpPr>
            <a:spLocks xmlns:a="http://schemas.openxmlformats.org/drawingml/2006/main" noGrp="1"/>
          </p:cNvSpPr>
          <p:nvPr/>
        </p:nvSpPr>
        <p:spPr>
          <a:xfrm xmlns:a="http://schemas.openxmlformats.org/drawingml/2006/main">
            <a:off x="7448550" y="16573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ADVANCED PYTHON CONNECTION</a:t>
            </a:r>
          </a:p>
        </p:txBody>
      </p:sp>
      <p:sp>
        <p:nvSpPr>
          <p:cNvPr id="12" name="connection-heading">
            <a:extLst xmlns:a="http://schemas.openxmlformats.org/drawingml/2006/main">
              <a:ext uri="{FF2B5EF4-FFF2-40B4-BE49-F238E27FC236}">
                <a16:creationId xmlns:a16="http://schemas.microsoft.com/office/drawing/2014/main" id="{ACF7E417-1823-4973-AE4B-D41F90CFC6EA}"/>
              </a:ext>
            </a:extLst>
          </p:cNvPr>
          <p:cNvSpPr>
            <a:spLocks xmlns:a="http://schemas.openxmlformats.org/drawingml/2006/main" noGrp="1"/>
          </p:cNvSpPr>
          <p:nvPr/>
        </p:nvSpPr>
        <p:spPr>
          <a:xfrm xmlns:a="http://schemas.openxmlformats.org/drawingml/2006/main">
            <a:off x="7353300" y="2076450"/>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8"/>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Protocols, generators &amp; domain errors</a:t>
            </a:r>
          </a:p>
        </p:txBody>
      </p:sp>
      <p:sp>
        <p:nvSpPr>
          <p:cNvPr id="13" name="connection-evidence">
            <a:extLst xmlns:a="http://schemas.openxmlformats.org/drawingml/2006/main">
              <a:ext uri="{FF2B5EF4-FFF2-40B4-BE49-F238E27FC236}">
                <a16:creationId xmlns:a16="http://schemas.microsoft.com/office/drawing/2014/main" id="{C3E3AC3E-D96A-46AC-8816-09857D6D8451}"/>
              </a:ext>
            </a:extLst>
          </p:cNvPr>
          <p:cNvSpPr>
            <a:spLocks xmlns:a="http://schemas.openxmlformats.org/drawingml/2006/main" noGrp="1"/>
          </p:cNvSpPr>
          <p:nvPr/>
        </p:nvSpPr>
        <p:spPr>
          <a:xfrm xmlns:a="http://schemas.openxmlformats.org/drawingml/2006/main">
            <a:off x="7353300" y="2752725"/>
            <a:ext cx="4114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5E3E8"/>
                </a:solidFill>
                <a:latin typeface="Arial"/>
                <a:ea typeface="Arial"/>
                <a:cs typeface="Arial"/>
              </a:defRPr>
            </a:defPPr>
            <a:lvl1pPr algn="l">
              <a:defRPr sz="1275" b="0">
                <a:solidFill>
                  <a:srgbClr val="D5E3E8"/>
                </a:solidFill>
                <a:latin typeface="Arial"/>
                <a:ea typeface="Arial"/>
                <a:cs typeface="Arial"/>
              </a:defRPr>
            </a:lvl1pPr>
            <a:lvl2pPr algn="l">
              <a:defRPr sz="1275" b="0">
                <a:solidFill>
                  <a:srgbClr val="D5E3E8"/>
                </a:solidFill>
                <a:latin typeface="Arial"/>
                <a:ea typeface="Arial"/>
                <a:cs typeface="Arial"/>
              </a:defRPr>
            </a:lvl2pPr>
            <a:lvl3pPr algn="l">
              <a:defRPr sz="1275" b="0">
                <a:solidFill>
                  <a:srgbClr val="D5E3E8"/>
                </a:solidFill>
                <a:latin typeface="Arial"/>
                <a:ea typeface="Arial"/>
                <a:cs typeface="Arial"/>
              </a:defRPr>
            </a:lvl3pPr>
            <a:lvl4pPr algn="l">
              <a:defRPr sz="1275" b="0">
                <a:solidFill>
                  <a:srgbClr val="D5E3E8"/>
                </a:solidFill>
                <a:latin typeface="Arial"/>
                <a:ea typeface="Arial"/>
                <a:cs typeface="Arial"/>
              </a:defRPr>
            </a:lvl4pPr>
            <a:lvl5pPr algn="l">
              <a:defRPr sz="1275" b="0">
                <a:solidFill>
                  <a:srgbClr val="D5E3E8"/>
                </a:solidFill>
                <a:latin typeface="Arial"/>
                <a:ea typeface="Arial"/>
                <a:cs typeface="Arial"/>
              </a:defRPr>
            </a:lvl5pPr>
            <a:lvl6pPr algn="l">
              <a:defRPr sz="1275" b="0">
                <a:solidFill>
                  <a:srgbClr val="D5E3E8"/>
                </a:solidFill>
                <a:latin typeface="Arial"/>
                <a:ea typeface="Arial"/>
                <a:cs typeface="Arial"/>
              </a:defRPr>
            </a:lvl6pPr>
            <a:lvl7pPr algn="l">
              <a:defRPr sz="1275" b="0">
                <a:solidFill>
                  <a:srgbClr val="D5E3E8"/>
                </a:solidFill>
                <a:latin typeface="Arial"/>
                <a:ea typeface="Arial"/>
                <a:cs typeface="Arial"/>
              </a:defRPr>
            </a:lvl7pPr>
            <a:lvl8pPr algn="l">
              <a:defRPr sz="1275" b="0">
                <a:solidFill>
                  <a:srgbClr val="D5E3E8"/>
                </a:solidFill>
                <a:latin typeface="Arial"/>
                <a:ea typeface="Arial"/>
                <a:cs typeface="Arial"/>
              </a:defRPr>
            </a:lvl8pPr>
            <a:lvl9pPr algn="l">
              <a:defRPr sz="1275" b="0">
                <a:solidFill>
                  <a:srgbClr val="D5E3E8"/>
                </a:solidFill>
                <a:latin typeface="Arial"/>
                <a:ea typeface="Arial"/>
                <a:cs typeface="Arial"/>
              </a:defRPr>
            </a:lvl9pPr>
          </a:lstStyle>
          <a:p xmlns:a="http://schemas.openxmlformats.org/drawingml/2006/main">
            <a:pPr algn="l">
              <a:lnSpc>
                <a:spcPct val="100000"/>
              </a:lnSpc>
              <a:buNone/>
              <a:defRPr sz="1275" b="0">
                <a:solidFill>
                  <a:srgbClr val="D5E3E8"/>
                </a:solidFill>
                <a:latin typeface="Arial"/>
                <a:ea typeface="Arial"/>
                <a:cs typeface="Arial"/>
              </a:defRPr>
            </a:pPr>
            <a:r>
              <a:rPr sz="1275" b="0">
                <a:solidFill>
                  <a:srgbClr val="D5E3E8"/>
                </a:solidFill>
                <a:latin typeface="Arial"/>
                <a:ea typeface="Arial"/>
                <a:cs typeface="Arial"/>
              </a:rPr>
              <a:t>FrameValidator Protocol in validate.py defines the validation contract. iter_nonempty_lines() streams numbered CSV lines; load_and_validate() checks 37 fields, labels, missing values and numeric predictors. SchemaError and ValidationError name failure types.</a:t>
            </a:r>
          </a:p>
        </p:txBody>
      </p:sp>
      <p:sp>
        <p:nvSpPr>
          <p:cNvPr id="14" name="">
            <a:extLst xmlns:a="http://schemas.openxmlformats.org/drawingml/2006/main">
              <a:ext uri="{FF2B5EF4-FFF2-40B4-BE49-F238E27FC236}">
                <a16:creationId xmlns:a16="http://schemas.microsoft.com/office/drawing/2014/main" id="{3856E6C5-7FC1-4A07-BA8B-41D49351C007}"/>
              </a:ext>
            </a:extLst>
          </p:cNvPr>
          <p:cNvSpPr>
            <a:spLocks xmlns:a="http://schemas.openxmlformats.org/drawingml/2006/main" noGrp="1"/>
          </p:cNvSpPr>
          <p:nvPr/>
        </p:nvSpPr>
        <p:spPr>
          <a:xfrm xmlns:a="http://schemas.openxmlformats.org/drawingml/2006/main" flipH="0">
            <a:off x="7353300" y="4076700"/>
            <a:ext cx="4114800"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15" name="connection-benefit-label">
            <a:extLst xmlns:a="http://schemas.openxmlformats.org/drawingml/2006/main">
              <a:ext uri="{FF2B5EF4-FFF2-40B4-BE49-F238E27FC236}">
                <a16:creationId xmlns:a16="http://schemas.microsoft.com/office/drawing/2014/main" id="{8EC4A4DC-A3A1-447F-97FA-DA81FB6E80A7}"/>
              </a:ext>
            </a:extLst>
          </p:cNvPr>
          <p:cNvSpPr>
            <a:spLocks xmlns:a="http://schemas.openxmlformats.org/drawingml/2006/main" noGrp="1"/>
          </p:cNvSpPr>
          <p:nvPr/>
        </p:nvSpPr>
        <p:spPr>
          <a:xfrm xmlns:a="http://schemas.openxmlformats.org/drawingml/2006/main">
            <a:off x="7353300" y="42672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WHY IT HELPS</a:t>
            </a:r>
          </a:p>
        </p:txBody>
      </p:sp>
      <p:sp>
        <p:nvSpPr>
          <p:cNvPr id="16" name="connection-benefit">
            <a:extLst xmlns:a="http://schemas.openxmlformats.org/drawingml/2006/main">
              <a:ext uri="{FF2B5EF4-FFF2-40B4-BE49-F238E27FC236}">
                <a16:creationId xmlns:a16="http://schemas.microsoft.com/office/drawing/2014/main" id="{E7236F3F-C9CD-46EC-9DD7-7F7AC6604AB9}"/>
              </a:ext>
            </a:extLst>
          </p:cNvPr>
          <p:cNvSpPr>
            <a:spLocks xmlns:a="http://schemas.openxmlformats.org/drawingml/2006/main" noGrp="1"/>
          </p:cNvSpPr>
          <p:nvPr/>
        </p:nvSpPr>
        <p:spPr>
          <a:xfrm xmlns:a="http://schemas.openxmlformats.org/drawingml/2006/main">
            <a:off x="7353300" y="4552950"/>
            <a:ext cx="4114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lnSpc>
                <a:spcPct val="100000"/>
              </a:lnSpc>
              <a:buNone/>
              <a:defRPr sz="1275" b="0">
                <a:solidFill>
                  <a:srgbClr val="FFFFFF"/>
                </a:solidFill>
                <a:latin typeface="Arial"/>
                <a:ea typeface="Arial"/>
                <a:cs typeface="Arial"/>
              </a:defRPr>
            </a:pPr>
            <a:r>
              <a:rPr sz="1275" b="0">
                <a:solidFill>
                  <a:srgbClr val="FFFFFF"/>
                </a:solidFill>
                <a:latin typeface="Arial"/>
                <a:ea typeface="Arial"/>
                <a:cs typeface="Arial"/>
              </a:rPr>
              <a:t>Invalid structure stops the pipeline with a useful, traceable error. Lazy iteration and bounded findings avoid building duplicate intermediate line lists.</a:t>
            </a:r>
          </a:p>
        </p:txBody>
      </p:sp>
    </p:spTree>
    <p:extLst>
      <p:ext uri="{BB962C8B-B14F-4D97-AF65-F5344CB8AC3E}">
        <p14:creationId xmlns:p14="http://schemas.microsoft.com/office/powerpoint/2010/main" val="1107528840"/>
      </p:ext>
    </p:extLst>
  </p:cSld>
</p:sld>
</file>

<file path=ppt/slides/slide5.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6ABF7C7D-EBA0-48BF-93AA-A1240530002C}"/>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35CF25F1-707D-4387-9BE7-E57D936E5685}"/>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Transformation keeps preprocessing inside the training folds</a:t>
            </a:r>
          </a:p>
        </p:txBody>
      </p:sp>
      <p:sp>
        <p:nvSpPr>
          <p:cNvPr id="3" name="">
            <a:extLst xmlns:a="http://schemas.openxmlformats.org/drawingml/2006/main">
              <a:ext uri="{FF2B5EF4-FFF2-40B4-BE49-F238E27FC236}">
                <a16:creationId xmlns:a16="http://schemas.microsoft.com/office/drawing/2014/main" id="{FAD82924-4D0D-4D00-A633-149603F5F77C}"/>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380B64D2-72F6-4958-B39B-5C813F7B7AFD}"/>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25F4B8B0-6BBA-4E7A-999F-A83E1E11B75D}"/>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88A10063-4EA9-4A0F-B989-23ADD06CC356}"/>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05 / 10</a:t>
            </a:r>
          </a:p>
        </p:txBody>
      </p:sp>
      <p:sp>
        <p:nvSpPr>
          <p:cNvPr id="7" name="screenshot-frame">
            <a:extLst xmlns:a="http://schemas.openxmlformats.org/drawingml/2006/main">
              <a:ext uri="{FF2B5EF4-FFF2-40B4-BE49-F238E27FC236}">
                <a16:creationId xmlns:a16="http://schemas.microsoft.com/office/drawing/2014/main" id="{E8E29D45-F119-4EC1-A996-6987A15FD370}"/>
              </a:ext>
            </a:extLst>
          </p:cNvPr>
          <p:cNvSpPr>
            <a:spLocks xmlns:a="http://schemas.openxmlformats.org/drawingml/2006/main" noGrp="1"/>
          </p:cNvSpPr>
          <p:nvPr/>
        </p:nvSpPr>
        <p:spPr>
          <a:xfrm xmlns:a="http://schemas.openxmlformats.org/drawingml/2006/main">
            <a:off x="457200" y="1343025"/>
            <a:ext cx="6457950" cy="4314825"/>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D0949283-FB07-4211-9C2A-57181A822A5B}"/>
              </a:ext>
            </a:extLst>
          </p:cNvPr>
          <p:cNvPicPr>
            <a:picLocks xmlns:a="http://schemas.openxmlformats.org/drawingml/2006/main" noChangeAspect="1"/>
          </p:cNvPicPr>
          <p:nvPr/>
        </p:nvPicPr>
        <p:blipFill>
          <a:blip xmlns:r="http://schemas.openxmlformats.org/officeDocument/2006/relationships" xmlns:a="http://schemas.openxmlformats.org/drawingml/2006/main" r:embed="R29a61330efea453d"/>
          <a:stretch xmlns:a="http://schemas.openxmlformats.org/drawingml/2006/main"/>
        </p:blipFill>
        <p:spPr>
          <a:xfrm xmlns:a="http://schemas.openxmlformats.org/drawingml/2006/main">
            <a:off x="634365" y="1381125"/>
            <a:ext cx="6103620" cy="4238625"/>
          </a:xfrm>
          <a:prstGeom xmlns:a="http://schemas.openxmlformats.org/drawingml/2006/main" prst="roundRect">
            <a:avLst>
              <a:gd name="adj" fmla="val 2247"/>
            </a:avLst>
          </a:prstGeom>
        </p:spPr>
      </p:pic>
      <p:sp>
        <p:nvSpPr>
          <p:cNvPr id="9" name="advanced-python-connection">
            <a:extLst xmlns:a="http://schemas.openxmlformats.org/drawingml/2006/main">
              <a:ext uri="{FF2B5EF4-FFF2-40B4-BE49-F238E27FC236}">
                <a16:creationId xmlns:a16="http://schemas.microsoft.com/office/drawing/2014/main" id="{8A3D9201-A2B1-40AF-91E5-2EC2170C5C0D}"/>
              </a:ext>
            </a:extLst>
          </p:cNvPr>
          <p:cNvSpPr>
            <a:spLocks xmlns:a="http://schemas.openxmlformats.org/drawingml/2006/main" noGrp="1"/>
          </p:cNvSpPr>
          <p:nvPr/>
        </p:nvSpPr>
        <p:spPr>
          <a:xfrm xmlns:a="http://schemas.openxmlformats.org/drawingml/2006/main">
            <a:off x="7124700" y="1428750"/>
            <a:ext cx="4572000" cy="4238625"/>
          </a:xfrm>
          <a:prstGeom xmlns:a="http://schemas.openxmlformats.org/drawingml/2006/main" prst="roundRect">
            <a:avLst>
              <a:gd name="adj" fmla="val 3596"/>
            </a:avLst>
          </a:prstGeom>
          <a:solidFill xmlns:a="http://schemas.openxmlformats.org/drawingml/2006/main">
            <a:srgbClr val="102B3F"/>
          </a:solidFill>
          <a:ln xmlns:a="http://schemas.openxmlformats.org/drawingml/2006/main" w="0">
            <a:noFill/>
            <a:prstDash val="solid"/>
          </a:ln>
        </p:spPr>
      </p:sp>
      <p:sp>
        <p:nvSpPr>
          <p:cNvPr id="10" name="label-pill">
            <a:extLst xmlns:a="http://schemas.openxmlformats.org/drawingml/2006/main">
              <a:ext uri="{FF2B5EF4-FFF2-40B4-BE49-F238E27FC236}">
                <a16:creationId xmlns:a16="http://schemas.microsoft.com/office/drawing/2014/main" id="{A12305FF-3BAE-42FF-9960-DDC7D24C6CF4}"/>
              </a:ext>
            </a:extLst>
          </p:cNvPr>
          <p:cNvSpPr>
            <a:spLocks xmlns:a="http://schemas.openxmlformats.org/drawingml/2006/main" noGrp="1"/>
          </p:cNvSpPr>
          <p:nvPr/>
        </p:nvSpPr>
        <p:spPr>
          <a:xfrm xmlns:a="http://schemas.openxmlformats.org/drawingml/2006/main">
            <a:off x="7353300" y="1619250"/>
            <a:ext cx="2428875"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1" name="label-text">
            <a:extLst xmlns:a="http://schemas.openxmlformats.org/drawingml/2006/main">
              <a:ext uri="{FF2B5EF4-FFF2-40B4-BE49-F238E27FC236}">
                <a16:creationId xmlns:a16="http://schemas.microsoft.com/office/drawing/2014/main" id="{7BC4A687-B1A1-47E5-90A2-C0DA55AE4B1C}"/>
              </a:ext>
            </a:extLst>
          </p:cNvPr>
          <p:cNvSpPr>
            <a:spLocks xmlns:a="http://schemas.openxmlformats.org/drawingml/2006/main" noGrp="1"/>
          </p:cNvSpPr>
          <p:nvPr/>
        </p:nvSpPr>
        <p:spPr>
          <a:xfrm xmlns:a="http://schemas.openxmlformats.org/drawingml/2006/main">
            <a:off x="7448550" y="16573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ADVANCED PYTHON CONNECTION</a:t>
            </a:r>
          </a:p>
        </p:txBody>
      </p:sp>
      <p:sp>
        <p:nvSpPr>
          <p:cNvPr id="12" name="connection-heading">
            <a:extLst xmlns:a="http://schemas.openxmlformats.org/drawingml/2006/main">
              <a:ext uri="{FF2B5EF4-FFF2-40B4-BE49-F238E27FC236}">
                <a16:creationId xmlns:a16="http://schemas.microsoft.com/office/drawing/2014/main" id="{167FA190-7822-4003-A084-8895AEC19C70}"/>
              </a:ext>
            </a:extLst>
          </p:cNvPr>
          <p:cNvSpPr>
            <a:spLocks xmlns:a="http://schemas.openxmlformats.org/drawingml/2006/main" noGrp="1"/>
          </p:cNvSpPr>
          <p:nvPr/>
        </p:nvSpPr>
        <p:spPr>
          <a:xfrm xmlns:a="http://schemas.openxmlformats.org/drawingml/2006/main">
            <a:off x="7353300" y="2076450"/>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10"/>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Composition with scikit-learn Pipeline</a:t>
            </a:r>
          </a:p>
        </p:txBody>
      </p:sp>
      <p:sp>
        <p:nvSpPr>
          <p:cNvPr id="13" name="connection-evidence">
            <a:extLst xmlns:a="http://schemas.openxmlformats.org/drawingml/2006/main">
              <a:ext uri="{FF2B5EF4-FFF2-40B4-BE49-F238E27FC236}">
                <a16:creationId xmlns:a16="http://schemas.microsoft.com/office/drawing/2014/main" id="{83E96DFE-72F8-43C2-8C68-FEA756326204}"/>
              </a:ext>
            </a:extLst>
          </p:cNvPr>
          <p:cNvSpPr>
            <a:spLocks xmlns:a="http://schemas.openxmlformats.org/drawingml/2006/main" noGrp="1"/>
          </p:cNvSpPr>
          <p:nvPr/>
        </p:nvSpPr>
        <p:spPr>
          <a:xfrm xmlns:a="http://schemas.openxmlformats.org/drawingml/2006/main">
            <a:off x="7353300" y="2752725"/>
            <a:ext cx="4114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5E3E8"/>
                </a:solidFill>
                <a:latin typeface="Arial"/>
                <a:ea typeface="Arial"/>
                <a:cs typeface="Arial"/>
              </a:defRPr>
            </a:defPPr>
            <a:lvl1pPr algn="l">
              <a:defRPr sz="1275" b="0">
                <a:solidFill>
                  <a:srgbClr val="D5E3E8"/>
                </a:solidFill>
                <a:latin typeface="Arial"/>
                <a:ea typeface="Arial"/>
                <a:cs typeface="Arial"/>
              </a:defRPr>
            </a:lvl1pPr>
            <a:lvl2pPr algn="l">
              <a:defRPr sz="1275" b="0">
                <a:solidFill>
                  <a:srgbClr val="D5E3E8"/>
                </a:solidFill>
                <a:latin typeface="Arial"/>
                <a:ea typeface="Arial"/>
                <a:cs typeface="Arial"/>
              </a:defRPr>
            </a:lvl2pPr>
            <a:lvl3pPr algn="l">
              <a:defRPr sz="1275" b="0">
                <a:solidFill>
                  <a:srgbClr val="D5E3E8"/>
                </a:solidFill>
                <a:latin typeface="Arial"/>
                <a:ea typeface="Arial"/>
                <a:cs typeface="Arial"/>
              </a:defRPr>
            </a:lvl3pPr>
            <a:lvl4pPr algn="l">
              <a:defRPr sz="1275" b="0">
                <a:solidFill>
                  <a:srgbClr val="D5E3E8"/>
                </a:solidFill>
                <a:latin typeface="Arial"/>
                <a:ea typeface="Arial"/>
                <a:cs typeface="Arial"/>
              </a:defRPr>
            </a:lvl4pPr>
            <a:lvl5pPr algn="l">
              <a:defRPr sz="1275" b="0">
                <a:solidFill>
                  <a:srgbClr val="D5E3E8"/>
                </a:solidFill>
                <a:latin typeface="Arial"/>
                <a:ea typeface="Arial"/>
                <a:cs typeface="Arial"/>
              </a:defRPr>
            </a:lvl5pPr>
            <a:lvl6pPr algn="l">
              <a:defRPr sz="1275" b="0">
                <a:solidFill>
                  <a:srgbClr val="D5E3E8"/>
                </a:solidFill>
                <a:latin typeface="Arial"/>
                <a:ea typeface="Arial"/>
                <a:cs typeface="Arial"/>
              </a:defRPr>
            </a:lvl6pPr>
            <a:lvl7pPr algn="l">
              <a:defRPr sz="1275" b="0">
                <a:solidFill>
                  <a:srgbClr val="D5E3E8"/>
                </a:solidFill>
                <a:latin typeface="Arial"/>
                <a:ea typeface="Arial"/>
                <a:cs typeface="Arial"/>
              </a:defRPr>
            </a:lvl7pPr>
            <a:lvl8pPr algn="l">
              <a:defRPr sz="1275" b="0">
                <a:solidFill>
                  <a:srgbClr val="D5E3E8"/>
                </a:solidFill>
                <a:latin typeface="Arial"/>
                <a:ea typeface="Arial"/>
                <a:cs typeface="Arial"/>
              </a:defRPr>
            </a:lvl8pPr>
            <a:lvl9pPr algn="l">
              <a:defRPr sz="1275" b="0">
                <a:solidFill>
                  <a:srgbClr val="D5E3E8"/>
                </a:solidFill>
                <a:latin typeface="Arial"/>
                <a:ea typeface="Arial"/>
                <a:cs typeface="Arial"/>
              </a:defRPr>
            </a:lvl9pPr>
          </a:lstStyle>
          <a:p xmlns:a="http://schemas.openxmlformats.org/drawingml/2006/main">
            <a:pPr algn="l">
              <a:lnSpc>
                <a:spcPct val="100000"/>
              </a:lnSpc>
              <a:buNone/>
              <a:defRPr sz="1275" b="0">
                <a:solidFill>
                  <a:srgbClr val="D5E3E8"/>
                </a:solidFill>
                <a:latin typeface="Arial"/>
                <a:ea typeface="Arial"/>
                <a:cs typeface="Arial"/>
              </a:defRPr>
            </a:pPr>
            <a:r>
              <a:rPr sz="1275" b="0">
                <a:solidFill>
                  <a:srgbClr val="D5E3E8"/>
                </a:solidFill>
                <a:latin typeface="Arial"/>
                <a:ea typeface="Arial"/>
                <a:cs typeface="Arial"/>
              </a:rPr>
              <a:t>make_preprocessor() builds the project transformer; model.py composes it with each classifier in a scikit-learn Pipeline. StratifiedKFold and cross_validate operate on training partitions.</a:t>
            </a:r>
          </a:p>
        </p:txBody>
      </p:sp>
      <p:sp>
        <p:nvSpPr>
          <p:cNvPr id="14" name="">
            <a:extLst xmlns:a="http://schemas.openxmlformats.org/drawingml/2006/main">
              <a:ext uri="{FF2B5EF4-FFF2-40B4-BE49-F238E27FC236}">
                <a16:creationId xmlns:a16="http://schemas.microsoft.com/office/drawing/2014/main" id="{59191F65-7A94-41E6-929F-EF0B35D0EF4D}"/>
              </a:ext>
            </a:extLst>
          </p:cNvPr>
          <p:cNvSpPr>
            <a:spLocks xmlns:a="http://schemas.openxmlformats.org/drawingml/2006/main" noGrp="1"/>
          </p:cNvSpPr>
          <p:nvPr/>
        </p:nvSpPr>
        <p:spPr>
          <a:xfrm xmlns:a="http://schemas.openxmlformats.org/drawingml/2006/main" flipH="0">
            <a:off x="7353300" y="4076700"/>
            <a:ext cx="4114800"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15" name="connection-benefit-label">
            <a:extLst xmlns:a="http://schemas.openxmlformats.org/drawingml/2006/main">
              <a:ext uri="{FF2B5EF4-FFF2-40B4-BE49-F238E27FC236}">
                <a16:creationId xmlns:a16="http://schemas.microsoft.com/office/drawing/2014/main" id="{1B1494F5-040F-4B28-A193-6176B411FC96}"/>
              </a:ext>
            </a:extLst>
          </p:cNvPr>
          <p:cNvSpPr>
            <a:spLocks xmlns:a="http://schemas.openxmlformats.org/drawingml/2006/main" noGrp="1"/>
          </p:cNvSpPr>
          <p:nvPr/>
        </p:nvSpPr>
        <p:spPr>
          <a:xfrm xmlns:a="http://schemas.openxmlformats.org/drawingml/2006/main">
            <a:off x="7353300" y="42672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WHY IT HELPS</a:t>
            </a:r>
          </a:p>
        </p:txBody>
      </p:sp>
      <p:sp>
        <p:nvSpPr>
          <p:cNvPr id="16" name="connection-benefit">
            <a:extLst xmlns:a="http://schemas.openxmlformats.org/drawingml/2006/main">
              <a:ext uri="{FF2B5EF4-FFF2-40B4-BE49-F238E27FC236}">
                <a16:creationId xmlns:a16="http://schemas.microsoft.com/office/drawing/2014/main" id="{05825B19-B91E-4BC4-B39F-66C1D52B6542}"/>
              </a:ext>
            </a:extLst>
          </p:cNvPr>
          <p:cNvSpPr>
            <a:spLocks xmlns:a="http://schemas.openxmlformats.org/drawingml/2006/main" noGrp="1"/>
          </p:cNvSpPr>
          <p:nvPr/>
        </p:nvSpPr>
        <p:spPr>
          <a:xfrm xmlns:a="http://schemas.openxmlformats.org/drawingml/2006/main">
            <a:off x="7353300" y="4552950"/>
            <a:ext cx="4114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lnSpc>
                <a:spcPct val="100000"/>
              </a:lnSpc>
              <a:buNone/>
              <a:defRPr sz="1275" b="0">
                <a:solidFill>
                  <a:srgbClr val="FFFFFF"/>
                </a:solidFill>
                <a:latin typeface="Arial"/>
                <a:ea typeface="Arial"/>
                <a:cs typeface="Arial"/>
              </a:defRPr>
            </a:pPr>
            <a:r>
              <a:rPr sz="1275" b="0">
                <a:solidFill>
                  <a:srgbClr val="FFFFFF"/>
                </a:solidFill>
                <a:latin typeface="Arial"/>
                <a:ea typeface="Arial"/>
                <a:cs typeface="Arial"/>
              </a:rPr>
              <a:t>Each fold fits preprocessing only on that fold’s training data. This reduces leakage and makes candidate comparisons more reproducible.</a:t>
            </a:r>
          </a:p>
        </p:txBody>
      </p:sp>
    </p:spTree>
    <p:extLst>
      <p:ext uri="{BB962C8B-B14F-4D97-AF65-F5344CB8AC3E}">
        <p14:creationId xmlns:p14="http://schemas.microsoft.com/office/powerpoint/2010/main" val="73656224"/>
      </p:ext>
    </p:extLst>
  </p:cSld>
</p:sld>
</file>

<file path=ppt/slides/slide6.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C555E5C7-F51D-441C-A962-97B54E07E57C}"/>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4346322D-13F6-41BB-BBAA-05C6818A83C0}"/>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Prediction is a model output for human review</a:t>
            </a:r>
          </a:p>
        </p:txBody>
      </p:sp>
      <p:sp>
        <p:nvSpPr>
          <p:cNvPr id="3" name="">
            <a:extLst xmlns:a="http://schemas.openxmlformats.org/drawingml/2006/main">
              <a:ext uri="{FF2B5EF4-FFF2-40B4-BE49-F238E27FC236}">
                <a16:creationId xmlns:a16="http://schemas.microsoft.com/office/drawing/2014/main" id="{FAF4042D-5AA2-481A-9297-2DED51660E6B}"/>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BCE4507E-6BA1-4073-95AC-FCA2500907D9}"/>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4026B825-835B-4DA6-AECD-DA839D529405}"/>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AAADFF01-9ABA-4432-B554-3BF8AFA96041}"/>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06 / 10</a:t>
            </a:r>
          </a:p>
        </p:txBody>
      </p:sp>
      <p:sp>
        <p:nvSpPr>
          <p:cNvPr id="7" name="screenshot-frame">
            <a:extLst xmlns:a="http://schemas.openxmlformats.org/drawingml/2006/main">
              <a:ext uri="{FF2B5EF4-FFF2-40B4-BE49-F238E27FC236}">
                <a16:creationId xmlns:a16="http://schemas.microsoft.com/office/drawing/2014/main" id="{0243FF0D-F6DB-475E-9E52-51AA8860F23D}"/>
              </a:ext>
            </a:extLst>
          </p:cNvPr>
          <p:cNvSpPr>
            <a:spLocks xmlns:a="http://schemas.openxmlformats.org/drawingml/2006/main" noGrp="1"/>
          </p:cNvSpPr>
          <p:nvPr/>
        </p:nvSpPr>
        <p:spPr>
          <a:xfrm xmlns:a="http://schemas.openxmlformats.org/drawingml/2006/main">
            <a:off x="457200" y="1343025"/>
            <a:ext cx="6457950" cy="4314825"/>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B0B58446-13A5-4C26-B126-AD10AC52CFB4}"/>
              </a:ext>
            </a:extLst>
          </p:cNvPr>
          <p:cNvPicPr>
            <a:picLocks xmlns:a="http://schemas.openxmlformats.org/drawingml/2006/main" noChangeAspect="1"/>
          </p:cNvPicPr>
          <p:nvPr/>
        </p:nvPicPr>
        <p:blipFill>
          <a:blip xmlns:r="http://schemas.openxmlformats.org/officeDocument/2006/relationships" xmlns:a="http://schemas.openxmlformats.org/drawingml/2006/main" r:embed="Ra2c1ff56a6a5441c"/>
          <a:stretch xmlns:a="http://schemas.openxmlformats.org/drawingml/2006/main"/>
        </p:blipFill>
        <p:spPr>
          <a:xfrm xmlns:a="http://schemas.openxmlformats.org/drawingml/2006/main">
            <a:off x="634365" y="1381125"/>
            <a:ext cx="6103620" cy="4238625"/>
          </a:xfrm>
          <a:prstGeom xmlns:a="http://schemas.openxmlformats.org/drawingml/2006/main" prst="roundRect">
            <a:avLst>
              <a:gd name="adj" fmla="val 2247"/>
            </a:avLst>
          </a:prstGeom>
        </p:spPr>
      </p:pic>
      <p:sp>
        <p:nvSpPr>
          <p:cNvPr id="9" name="advanced-python-connection">
            <a:extLst xmlns:a="http://schemas.openxmlformats.org/drawingml/2006/main">
              <a:ext uri="{FF2B5EF4-FFF2-40B4-BE49-F238E27FC236}">
                <a16:creationId xmlns:a16="http://schemas.microsoft.com/office/drawing/2014/main" id="{EE6F92A9-4D69-448C-9759-DB5E842BADBD}"/>
              </a:ext>
            </a:extLst>
          </p:cNvPr>
          <p:cNvSpPr>
            <a:spLocks xmlns:a="http://schemas.openxmlformats.org/drawingml/2006/main" noGrp="1"/>
          </p:cNvSpPr>
          <p:nvPr/>
        </p:nvSpPr>
        <p:spPr>
          <a:xfrm xmlns:a="http://schemas.openxmlformats.org/drawingml/2006/main">
            <a:off x="7124700" y="1428750"/>
            <a:ext cx="4572000" cy="4238625"/>
          </a:xfrm>
          <a:prstGeom xmlns:a="http://schemas.openxmlformats.org/drawingml/2006/main" prst="roundRect">
            <a:avLst>
              <a:gd name="adj" fmla="val 3596"/>
            </a:avLst>
          </a:prstGeom>
          <a:solidFill xmlns:a="http://schemas.openxmlformats.org/drawingml/2006/main">
            <a:srgbClr val="102B3F"/>
          </a:solidFill>
          <a:ln xmlns:a="http://schemas.openxmlformats.org/drawingml/2006/main" w="0">
            <a:noFill/>
            <a:prstDash val="solid"/>
          </a:ln>
        </p:spPr>
      </p:sp>
      <p:sp>
        <p:nvSpPr>
          <p:cNvPr id="10" name="label-pill">
            <a:extLst xmlns:a="http://schemas.openxmlformats.org/drawingml/2006/main">
              <a:ext uri="{FF2B5EF4-FFF2-40B4-BE49-F238E27FC236}">
                <a16:creationId xmlns:a16="http://schemas.microsoft.com/office/drawing/2014/main" id="{7671A661-51BA-4EEF-845C-6B9C6B6B0C95}"/>
              </a:ext>
            </a:extLst>
          </p:cNvPr>
          <p:cNvSpPr>
            <a:spLocks xmlns:a="http://schemas.openxmlformats.org/drawingml/2006/main" noGrp="1"/>
          </p:cNvSpPr>
          <p:nvPr/>
        </p:nvSpPr>
        <p:spPr>
          <a:xfrm xmlns:a="http://schemas.openxmlformats.org/drawingml/2006/main">
            <a:off x="7353300" y="1619250"/>
            <a:ext cx="2428875"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1" name="label-text">
            <a:extLst xmlns:a="http://schemas.openxmlformats.org/drawingml/2006/main">
              <a:ext uri="{FF2B5EF4-FFF2-40B4-BE49-F238E27FC236}">
                <a16:creationId xmlns:a16="http://schemas.microsoft.com/office/drawing/2014/main" id="{2034D3BB-8C3D-4283-8F69-6A4D806D89CB}"/>
              </a:ext>
            </a:extLst>
          </p:cNvPr>
          <p:cNvSpPr>
            <a:spLocks xmlns:a="http://schemas.openxmlformats.org/drawingml/2006/main" noGrp="1"/>
          </p:cNvSpPr>
          <p:nvPr/>
        </p:nvSpPr>
        <p:spPr>
          <a:xfrm xmlns:a="http://schemas.openxmlformats.org/drawingml/2006/main">
            <a:off x="7448550" y="16573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ADVANCED PYTHON CONNECTION</a:t>
            </a:r>
          </a:p>
        </p:txBody>
      </p:sp>
      <p:sp>
        <p:nvSpPr>
          <p:cNvPr id="12" name="connection-heading">
            <a:extLst xmlns:a="http://schemas.openxmlformats.org/drawingml/2006/main">
              <a:ext uri="{FF2B5EF4-FFF2-40B4-BE49-F238E27FC236}">
                <a16:creationId xmlns:a16="http://schemas.microsoft.com/office/drawing/2014/main" id="{7EC6DEE0-301C-439F-A61A-F6D9EC539FA1}"/>
              </a:ext>
            </a:extLst>
          </p:cNvPr>
          <p:cNvSpPr>
            <a:spLocks xmlns:a="http://schemas.openxmlformats.org/drawingml/2006/main" noGrp="1"/>
          </p:cNvSpPr>
          <p:nvPr/>
        </p:nvSpPr>
        <p:spPr>
          <a:xfrm xmlns:a="http://schemas.openxmlformats.org/drawingml/2006/main">
            <a:off x="7353300" y="2076450"/>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Typed result objects &amp; explicit categories</a:t>
            </a:r>
          </a:p>
        </p:txBody>
      </p:sp>
      <p:sp>
        <p:nvSpPr>
          <p:cNvPr id="13" name="connection-evidence">
            <a:extLst xmlns:a="http://schemas.openxmlformats.org/drawingml/2006/main">
              <a:ext uri="{FF2B5EF4-FFF2-40B4-BE49-F238E27FC236}">
                <a16:creationId xmlns:a16="http://schemas.microsoft.com/office/drawing/2014/main" id="{88B075FA-2741-4267-934D-A43D7B9A1175}"/>
              </a:ext>
            </a:extLst>
          </p:cNvPr>
          <p:cNvSpPr>
            <a:spLocks xmlns:a="http://schemas.openxmlformats.org/drawingml/2006/main" noGrp="1"/>
          </p:cNvSpPr>
          <p:nvPr/>
        </p:nvSpPr>
        <p:spPr>
          <a:xfrm xmlns:a="http://schemas.openxmlformats.org/drawingml/2006/main">
            <a:off x="7353300" y="2752725"/>
            <a:ext cx="4114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5E3E8"/>
                </a:solidFill>
                <a:latin typeface="Arial"/>
                <a:ea typeface="Arial"/>
                <a:cs typeface="Arial"/>
              </a:defRPr>
            </a:defPPr>
            <a:lvl1pPr algn="l">
              <a:defRPr sz="1275" b="0">
                <a:solidFill>
                  <a:srgbClr val="D5E3E8"/>
                </a:solidFill>
                <a:latin typeface="Arial"/>
                <a:ea typeface="Arial"/>
                <a:cs typeface="Arial"/>
              </a:defRPr>
            </a:lvl1pPr>
            <a:lvl2pPr algn="l">
              <a:defRPr sz="1275" b="0">
                <a:solidFill>
                  <a:srgbClr val="D5E3E8"/>
                </a:solidFill>
                <a:latin typeface="Arial"/>
                <a:ea typeface="Arial"/>
                <a:cs typeface="Arial"/>
              </a:defRPr>
            </a:lvl2pPr>
            <a:lvl3pPr algn="l">
              <a:defRPr sz="1275" b="0">
                <a:solidFill>
                  <a:srgbClr val="D5E3E8"/>
                </a:solidFill>
                <a:latin typeface="Arial"/>
                <a:ea typeface="Arial"/>
                <a:cs typeface="Arial"/>
              </a:defRPr>
            </a:lvl3pPr>
            <a:lvl4pPr algn="l">
              <a:defRPr sz="1275" b="0">
                <a:solidFill>
                  <a:srgbClr val="D5E3E8"/>
                </a:solidFill>
                <a:latin typeface="Arial"/>
                <a:ea typeface="Arial"/>
                <a:cs typeface="Arial"/>
              </a:defRPr>
            </a:lvl4pPr>
            <a:lvl5pPr algn="l">
              <a:defRPr sz="1275" b="0">
                <a:solidFill>
                  <a:srgbClr val="D5E3E8"/>
                </a:solidFill>
                <a:latin typeface="Arial"/>
                <a:ea typeface="Arial"/>
                <a:cs typeface="Arial"/>
              </a:defRPr>
            </a:lvl5pPr>
            <a:lvl6pPr algn="l">
              <a:defRPr sz="1275" b="0">
                <a:solidFill>
                  <a:srgbClr val="D5E3E8"/>
                </a:solidFill>
                <a:latin typeface="Arial"/>
                <a:ea typeface="Arial"/>
                <a:cs typeface="Arial"/>
              </a:defRPr>
            </a:lvl6pPr>
            <a:lvl7pPr algn="l">
              <a:defRPr sz="1275" b="0">
                <a:solidFill>
                  <a:srgbClr val="D5E3E8"/>
                </a:solidFill>
                <a:latin typeface="Arial"/>
                <a:ea typeface="Arial"/>
                <a:cs typeface="Arial"/>
              </a:defRPr>
            </a:lvl7pPr>
            <a:lvl8pPr algn="l">
              <a:defRPr sz="1275" b="0">
                <a:solidFill>
                  <a:srgbClr val="D5E3E8"/>
                </a:solidFill>
                <a:latin typeface="Arial"/>
                <a:ea typeface="Arial"/>
                <a:cs typeface="Arial"/>
              </a:defRPr>
            </a:lvl8pPr>
            <a:lvl9pPr algn="l">
              <a:defRPr sz="1275" b="0">
                <a:solidFill>
                  <a:srgbClr val="D5E3E8"/>
                </a:solidFill>
                <a:latin typeface="Arial"/>
                <a:ea typeface="Arial"/>
                <a:cs typeface="Arial"/>
              </a:defRPr>
            </a:lvl9pPr>
          </a:lstStyle>
          <a:p xmlns:a="http://schemas.openxmlformats.org/drawingml/2006/main">
            <a:pPr algn="l">
              <a:lnSpc>
                <a:spcPct val="100000"/>
              </a:lnSpc>
              <a:buNone/>
              <a:defRPr sz="1275" b="0">
                <a:solidFill>
                  <a:srgbClr val="D5E3E8"/>
                </a:solidFill>
                <a:latin typeface="Arial"/>
                <a:ea typeface="Arial"/>
                <a:cs typeface="Arial"/>
              </a:defRPr>
            </a:pPr>
            <a:r>
              <a:rPr sz="1275" b="0">
                <a:solidFill>
                  <a:srgbClr val="D5E3E8"/>
                </a:solidFill>
                <a:latin typeface="Arial"/>
                <a:ea typeface="Arial"/>
                <a:cs typeface="Arial"/>
              </a:rPr>
              <a:t>inference.py returns an Assessment with predicted class, class probabilities and a review band. ReviewBand is a StrEnum. The app checks that feature names/order and model classes match saved metadata.</a:t>
            </a:r>
          </a:p>
        </p:txBody>
      </p:sp>
      <p:sp>
        <p:nvSpPr>
          <p:cNvPr id="14" name="">
            <a:extLst xmlns:a="http://schemas.openxmlformats.org/drawingml/2006/main">
              <a:ext uri="{FF2B5EF4-FFF2-40B4-BE49-F238E27FC236}">
                <a16:creationId xmlns:a16="http://schemas.microsoft.com/office/drawing/2014/main" id="{1867C9DC-75B6-4DBB-A920-56EFBE744760}"/>
              </a:ext>
            </a:extLst>
          </p:cNvPr>
          <p:cNvSpPr>
            <a:spLocks xmlns:a="http://schemas.openxmlformats.org/drawingml/2006/main" noGrp="1"/>
          </p:cNvSpPr>
          <p:nvPr/>
        </p:nvSpPr>
        <p:spPr>
          <a:xfrm xmlns:a="http://schemas.openxmlformats.org/drawingml/2006/main" flipH="0">
            <a:off x="7353300" y="4076700"/>
            <a:ext cx="4114800"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15" name="connection-benefit-label">
            <a:extLst xmlns:a="http://schemas.openxmlformats.org/drawingml/2006/main">
              <a:ext uri="{FF2B5EF4-FFF2-40B4-BE49-F238E27FC236}">
                <a16:creationId xmlns:a16="http://schemas.microsoft.com/office/drawing/2014/main" id="{2F57F7D7-AB15-443A-9080-D3631A6CF42A}"/>
              </a:ext>
            </a:extLst>
          </p:cNvPr>
          <p:cNvSpPr>
            <a:spLocks xmlns:a="http://schemas.openxmlformats.org/drawingml/2006/main" noGrp="1"/>
          </p:cNvSpPr>
          <p:nvPr/>
        </p:nvSpPr>
        <p:spPr>
          <a:xfrm xmlns:a="http://schemas.openxmlformats.org/drawingml/2006/main">
            <a:off x="7353300" y="42672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WHY IT HELPS</a:t>
            </a:r>
          </a:p>
        </p:txBody>
      </p:sp>
      <p:sp>
        <p:nvSpPr>
          <p:cNvPr id="16" name="connection-benefit">
            <a:extLst xmlns:a="http://schemas.openxmlformats.org/drawingml/2006/main">
              <a:ext uri="{FF2B5EF4-FFF2-40B4-BE49-F238E27FC236}">
                <a16:creationId xmlns:a16="http://schemas.microsoft.com/office/drawing/2014/main" id="{BF160145-5DCD-43AC-8D1B-B83118BF0C25}"/>
              </a:ext>
            </a:extLst>
          </p:cNvPr>
          <p:cNvSpPr>
            <a:spLocks xmlns:a="http://schemas.openxmlformats.org/drawingml/2006/main" noGrp="1"/>
          </p:cNvSpPr>
          <p:nvPr/>
        </p:nvSpPr>
        <p:spPr>
          <a:xfrm xmlns:a="http://schemas.openxmlformats.org/drawingml/2006/main">
            <a:off x="7353300" y="4552950"/>
            <a:ext cx="4114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lnSpc>
                <a:spcPct val="100000"/>
              </a:lnSpc>
              <a:buNone/>
              <a:defRPr sz="1275" b="0">
                <a:solidFill>
                  <a:srgbClr val="FFFFFF"/>
                </a:solidFill>
                <a:latin typeface="Arial"/>
                <a:ea typeface="Arial"/>
                <a:cs typeface="Arial"/>
              </a:defRPr>
            </a:pPr>
            <a:r>
              <a:rPr sz="1275" b="0">
                <a:solidFill>
                  <a:srgbClr val="FFFFFF"/>
                </a:solidFill>
                <a:latin typeface="Arial"/>
                <a:ea typeface="Arial"/>
                <a:cs typeface="Arial"/>
              </a:rPr>
              <a:t>A structured result keeps score, label and provisional review wording together; input/model mismatch fails clearly instead of silently relabelling outputs.</a:t>
            </a:r>
          </a:p>
        </p:txBody>
      </p:sp>
      <p:sp>
        <p:nvSpPr>
          <p:cNvPr id="17" name="synthetic-warning">
            <a:extLst xmlns:a="http://schemas.openxmlformats.org/drawingml/2006/main">
              <a:ext uri="{FF2B5EF4-FFF2-40B4-BE49-F238E27FC236}">
                <a16:creationId xmlns:a16="http://schemas.microsoft.com/office/drawing/2014/main" id="{AA6D3B2A-9A05-448E-AA3C-D38EED3E8CF3}"/>
              </a:ext>
            </a:extLst>
          </p:cNvPr>
          <p:cNvSpPr>
            <a:spLocks xmlns:a="http://schemas.openxmlformats.org/drawingml/2006/main" noGrp="1"/>
          </p:cNvSpPr>
          <p:nvPr/>
        </p:nvSpPr>
        <p:spPr>
          <a:xfrm xmlns:a="http://schemas.openxmlformats.org/drawingml/2006/main">
            <a:off x="590550" y="5762625"/>
            <a:ext cx="6191250" cy="457200"/>
          </a:xfrm>
          <a:prstGeom xmlns:a="http://schemas.openxmlformats.org/drawingml/2006/main" prst="roundRect">
            <a:avLst>
              <a:gd name="adj" fmla="val 20833"/>
            </a:avLst>
          </a:prstGeom>
          <a:solidFill xmlns:a="http://schemas.openxmlformats.org/drawingml/2006/main">
            <a:srgbClr val="FFF0D5"/>
          </a:solidFill>
          <a:ln xmlns:a="http://schemas.openxmlformats.org/drawingml/2006/main" w="0">
            <a:noFill/>
            <a:prstDash val="solid"/>
          </a:ln>
        </p:spPr>
      </p:sp>
      <p:sp>
        <p:nvSpPr>
          <p:cNvPr id="18" name="synthetic-copy">
            <a:extLst xmlns:a="http://schemas.openxmlformats.org/drawingml/2006/main">
              <a:ext uri="{FF2B5EF4-FFF2-40B4-BE49-F238E27FC236}">
                <a16:creationId xmlns:a16="http://schemas.microsoft.com/office/drawing/2014/main" id="{55530871-853F-4FAE-8294-4E9165B07888}"/>
              </a:ext>
            </a:extLst>
          </p:cNvPr>
          <p:cNvSpPr>
            <a:spLocks xmlns:a="http://schemas.openxmlformats.org/drawingml/2006/main" noGrp="1"/>
          </p:cNvSpPr>
          <p:nvPr/>
        </p:nvSpPr>
        <p:spPr>
          <a:xfrm xmlns:a="http://schemas.openxmlformats.org/drawingml/2006/main">
            <a:off x="742950" y="5876925"/>
            <a:ext cx="588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815E1B"/>
                </a:solidFill>
                <a:latin typeface="Arial"/>
                <a:ea typeface="Arial"/>
                <a:cs typeface="Arial"/>
              </a:defRPr>
            </a:defPPr>
            <a:lvl1pPr algn="l">
              <a:defRPr sz="1050" b="1">
                <a:solidFill>
                  <a:srgbClr val="815E1B"/>
                </a:solidFill>
                <a:latin typeface="Arial"/>
                <a:ea typeface="Arial"/>
                <a:cs typeface="Arial"/>
              </a:defRPr>
            </a:lvl1pPr>
            <a:lvl2pPr algn="l">
              <a:defRPr sz="1050" b="1">
                <a:solidFill>
                  <a:srgbClr val="815E1B"/>
                </a:solidFill>
                <a:latin typeface="Arial"/>
                <a:ea typeface="Arial"/>
                <a:cs typeface="Arial"/>
              </a:defRPr>
            </a:lvl2pPr>
            <a:lvl3pPr algn="l">
              <a:defRPr sz="1050" b="1">
                <a:solidFill>
                  <a:srgbClr val="815E1B"/>
                </a:solidFill>
                <a:latin typeface="Arial"/>
                <a:ea typeface="Arial"/>
                <a:cs typeface="Arial"/>
              </a:defRPr>
            </a:lvl3pPr>
            <a:lvl4pPr algn="l">
              <a:defRPr sz="1050" b="1">
                <a:solidFill>
                  <a:srgbClr val="815E1B"/>
                </a:solidFill>
                <a:latin typeface="Arial"/>
                <a:ea typeface="Arial"/>
                <a:cs typeface="Arial"/>
              </a:defRPr>
            </a:lvl4pPr>
            <a:lvl5pPr algn="l">
              <a:defRPr sz="1050" b="1">
                <a:solidFill>
                  <a:srgbClr val="815E1B"/>
                </a:solidFill>
                <a:latin typeface="Arial"/>
                <a:ea typeface="Arial"/>
                <a:cs typeface="Arial"/>
              </a:defRPr>
            </a:lvl5pPr>
            <a:lvl6pPr algn="l">
              <a:defRPr sz="1050" b="1">
                <a:solidFill>
                  <a:srgbClr val="815E1B"/>
                </a:solidFill>
                <a:latin typeface="Arial"/>
                <a:ea typeface="Arial"/>
                <a:cs typeface="Arial"/>
              </a:defRPr>
            </a:lvl6pPr>
            <a:lvl7pPr algn="l">
              <a:defRPr sz="1050" b="1">
                <a:solidFill>
                  <a:srgbClr val="815E1B"/>
                </a:solidFill>
                <a:latin typeface="Arial"/>
                <a:ea typeface="Arial"/>
                <a:cs typeface="Arial"/>
              </a:defRPr>
            </a:lvl7pPr>
            <a:lvl8pPr algn="l">
              <a:defRPr sz="1050" b="1">
                <a:solidFill>
                  <a:srgbClr val="815E1B"/>
                </a:solidFill>
                <a:latin typeface="Arial"/>
                <a:ea typeface="Arial"/>
                <a:cs typeface="Arial"/>
              </a:defRPr>
            </a:lvl8pPr>
            <a:lvl9pPr algn="l">
              <a:defRPr sz="1050" b="1">
                <a:solidFill>
                  <a:srgbClr val="815E1B"/>
                </a:solidFill>
                <a:latin typeface="Arial"/>
                <a:ea typeface="Arial"/>
                <a:cs typeface="Arial"/>
              </a:defRPr>
            </a:lvl9pPr>
          </a:lstStyle>
          <a:p xmlns:a="http://schemas.openxmlformats.org/drawingml/2006/main">
            <a:pPr algn="l">
              <a:lnSpc>
                <a:spcPct val="100000"/>
              </a:lnSpc>
              <a:buNone/>
              <a:defRPr sz="1050" b="1">
                <a:solidFill>
                  <a:srgbClr val="815E1B"/>
                </a:solidFill>
                <a:latin typeface="Arial"/>
                <a:ea typeface="Arial"/>
                <a:cs typeface="Arial"/>
              </a:defRPr>
            </a:pPr>
            <a:r>
              <a:rPr sz="1050" b="1">
                <a:solidFill>
                  <a:srgbClr val="815E1B"/>
                </a:solidFill>
                <a:latin typeface="Arial"/>
                <a:ea typeface="Arial"/>
                <a:cs typeface="Arial"/>
              </a:rPr>
              <a:t>Synthetic demonstration profile • not Kenyan evidence</a:t>
            </a:r>
          </a:p>
        </p:txBody>
      </p:sp>
    </p:spTree>
    <p:extLst>
      <p:ext uri="{BB962C8B-B14F-4D97-AF65-F5344CB8AC3E}">
        <p14:creationId xmlns:p14="http://schemas.microsoft.com/office/powerpoint/2010/main" val="2014772091"/>
      </p:ext>
    </p:extLst>
  </p:cSld>
</p:sld>
</file>

<file path=ppt/slides/slide7.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349092CF-7B7B-462F-93BA-DA0FC7AAC47A}"/>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2F0BB06B-C1DF-476C-8114-E4143048DE41}"/>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Evaluation is measurable—and bounded by its source cohort</a:t>
            </a:r>
          </a:p>
        </p:txBody>
      </p:sp>
      <p:sp>
        <p:nvSpPr>
          <p:cNvPr id="3" name="">
            <a:extLst xmlns:a="http://schemas.openxmlformats.org/drawingml/2006/main">
              <a:ext uri="{FF2B5EF4-FFF2-40B4-BE49-F238E27FC236}">
                <a16:creationId xmlns:a16="http://schemas.microsoft.com/office/drawing/2014/main" id="{E7196CE8-FF8A-45DE-96F0-8E1C29748888}"/>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53169244-DE77-46A3-9B64-83A8D914E15B}"/>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311894AB-D3F1-48B0-B2E3-E920105796D7}"/>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1E76EE06-851D-4EFC-BF25-730004883C3D}"/>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07 / 10</a:t>
            </a:r>
          </a:p>
        </p:txBody>
      </p:sp>
      <p:sp>
        <p:nvSpPr>
          <p:cNvPr id="7" name="screenshot-frame">
            <a:extLst xmlns:a="http://schemas.openxmlformats.org/drawingml/2006/main">
              <a:ext uri="{FF2B5EF4-FFF2-40B4-BE49-F238E27FC236}">
                <a16:creationId xmlns:a16="http://schemas.microsoft.com/office/drawing/2014/main" id="{699D9AD4-7ACB-4998-8CB7-4CE7714CADA7}"/>
              </a:ext>
            </a:extLst>
          </p:cNvPr>
          <p:cNvSpPr>
            <a:spLocks xmlns:a="http://schemas.openxmlformats.org/drawingml/2006/main" noGrp="1"/>
          </p:cNvSpPr>
          <p:nvPr/>
        </p:nvSpPr>
        <p:spPr>
          <a:xfrm xmlns:a="http://schemas.openxmlformats.org/drawingml/2006/main">
            <a:off x="457200" y="1343025"/>
            <a:ext cx="6457950" cy="4314825"/>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927D1BFF-6E72-4D3C-A40D-8175323F6770}"/>
              </a:ext>
            </a:extLst>
          </p:cNvPr>
          <p:cNvPicPr>
            <a:picLocks xmlns:a="http://schemas.openxmlformats.org/drawingml/2006/main" noChangeAspect="1"/>
          </p:cNvPicPr>
          <p:nvPr/>
        </p:nvPicPr>
        <p:blipFill>
          <a:blip xmlns:r="http://schemas.openxmlformats.org/officeDocument/2006/relationships" xmlns:a="http://schemas.openxmlformats.org/drawingml/2006/main" r:embed="Re7f52758e11d46d5"/>
          <a:stretch xmlns:a="http://schemas.openxmlformats.org/drawingml/2006/main"/>
        </p:blipFill>
        <p:spPr>
          <a:xfrm xmlns:a="http://schemas.openxmlformats.org/drawingml/2006/main">
            <a:off x="634365" y="1381125"/>
            <a:ext cx="6103620" cy="4238625"/>
          </a:xfrm>
          <a:prstGeom xmlns:a="http://schemas.openxmlformats.org/drawingml/2006/main" prst="roundRect">
            <a:avLst>
              <a:gd name="adj" fmla="val 2247"/>
            </a:avLst>
          </a:prstGeom>
        </p:spPr>
      </p:pic>
      <p:sp>
        <p:nvSpPr>
          <p:cNvPr id="9" name="advanced-python-connection">
            <a:extLst xmlns:a="http://schemas.openxmlformats.org/drawingml/2006/main">
              <a:ext uri="{FF2B5EF4-FFF2-40B4-BE49-F238E27FC236}">
                <a16:creationId xmlns:a16="http://schemas.microsoft.com/office/drawing/2014/main" id="{36A5F2BA-CCD4-4D05-B412-9EFE77F07025}"/>
              </a:ext>
            </a:extLst>
          </p:cNvPr>
          <p:cNvSpPr>
            <a:spLocks xmlns:a="http://schemas.openxmlformats.org/drawingml/2006/main" noGrp="1"/>
          </p:cNvSpPr>
          <p:nvPr/>
        </p:nvSpPr>
        <p:spPr>
          <a:xfrm xmlns:a="http://schemas.openxmlformats.org/drawingml/2006/main">
            <a:off x="7124700" y="1428750"/>
            <a:ext cx="4572000" cy="4238625"/>
          </a:xfrm>
          <a:prstGeom xmlns:a="http://schemas.openxmlformats.org/drawingml/2006/main" prst="roundRect">
            <a:avLst>
              <a:gd name="adj" fmla="val 3596"/>
            </a:avLst>
          </a:prstGeom>
          <a:solidFill xmlns:a="http://schemas.openxmlformats.org/drawingml/2006/main">
            <a:srgbClr val="102B3F"/>
          </a:solidFill>
          <a:ln xmlns:a="http://schemas.openxmlformats.org/drawingml/2006/main" w="0">
            <a:noFill/>
            <a:prstDash val="solid"/>
          </a:ln>
        </p:spPr>
      </p:sp>
      <p:sp>
        <p:nvSpPr>
          <p:cNvPr id="10" name="label-pill">
            <a:extLst xmlns:a="http://schemas.openxmlformats.org/drawingml/2006/main">
              <a:ext uri="{FF2B5EF4-FFF2-40B4-BE49-F238E27FC236}">
                <a16:creationId xmlns:a16="http://schemas.microsoft.com/office/drawing/2014/main" id="{2E96AC71-A2A7-4286-B14E-7DAA87A58A90}"/>
              </a:ext>
            </a:extLst>
          </p:cNvPr>
          <p:cNvSpPr>
            <a:spLocks xmlns:a="http://schemas.openxmlformats.org/drawingml/2006/main" noGrp="1"/>
          </p:cNvSpPr>
          <p:nvPr/>
        </p:nvSpPr>
        <p:spPr>
          <a:xfrm xmlns:a="http://schemas.openxmlformats.org/drawingml/2006/main">
            <a:off x="7353300" y="1619250"/>
            <a:ext cx="2428875"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1" name="label-text">
            <a:extLst xmlns:a="http://schemas.openxmlformats.org/drawingml/2006/main">
              <a:ext uri="{FF2B5EF4-FFF2-40B4-BE49-F238E27FC236}">
                <a16:creationId xmlns:a16="http://schemas.microsoft.com/office/drawing/2014/main" id="{0E7745DD-0217-419C-8B72-5EFD11BE2B68}"/>
              </a:ext>
            </a:extLst>
          </p:cNvPr>
          <p:cNvSpPr>
            <a:spLocks xmlns:a="http://schemas.openxmlformats.org/drawingml/2006/main" noGrp="1"/>
          </p:cNvSpPr>
          <p:nvPr/>
        </p:nvSpPr>
        <p:spPr>
          <a:xfrm xmlns:a="http://schemas.openxmlformats.org/drawingml/2006/main">
            <a:off x="7448550" y="16573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ADVANCED PYTHON CONNECTION</a:t>
            </a:r>
          </a:p>
        </p:txBody>
      </p:sp>
      <p:sp>
        <p:nvSpPr>
          <p:cNvPr id="12" name="connection-heading">
            <a:extLst xmlns:a="http://schemas.openxmlformats.org/drawingml/2006/main">
              <a:ext uri="{FF2B5EF4-FFF2-40B4-BE49-F238E27FC236}">
                <a16:creationId xmlns:a16="http://schemas.microsoft.com/office/drawing/2014/main" id="{65283542-6529-4BA1-836C-CA8F10E342B0}"/>
              </a:ext>
            </a:extLst>
          </p:cNvPr>
          <p:cNvSpPr>
            <a:spLocks xmlns:a="http://schemas.openxmlformats.org/drawingml/2006/main" noGrp="1"/>
          </p:cNvSpPr>
          <p:nvPr/>
        </p:nvSpPr>
        <p:spPr>
          <a:xfrm xmlns:a="http://schemas.openxmlformats.org/drawingml/2006/main">
            <a:off x="7353300" y="2076450"/>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Reusable evaluation &amp; pattern matching</a:t>
            </a:r>
          </a:p>
        </p:txBody>
      </p:sp>
      <p:sp>
        <p:nvSpPr>
          <p:cNvPr id="13" name="connection-evidence">
            <a:extLst xmlns:a="http://schemas.openxmlformats.org/drawingml/2006/main">
              <a:ext uri="{FF2B5EF4-FFF2-40B4-BE49-F238E27FC236}">
                <a16:creationId xmlns:a16="http://schemas.microsoft.com/office/drawing/2014/main" id="{C4719444-080D-4F2B-B547-469EC1098CB7}"/>
              </a:ext>
            </a:extLst>
          </p:cNvPr>
          <p:cNvSpPr>
            <a:spLocks xmlns:a="http://schemas.openxmlformats.org/drawingml/2006/main" noGrp="1"/>
          </p:cNvSpPr>
          <p:nvPr/>
        </p:nvSpPr>
        <p:spPr>
          <a:xfrm xmlns:a="http://schemas.openxmlformats.org/drawingml/2006/main">
            <a:off x="7353300" y="2752725"/>
            <a:ext cx="4114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5E3E8"/>
                </a:solidFill>
                <a:latin typeface="Arial"/>
                <a:ea typeface="Arial"/>
                <a:cs typeface="Arial"/>
              </a:defRPr>
            </a:defPPr>
            <a:lvl1pPr algn="l">
              <a:defRPr sz="1275" b="0">
                <a:solidFill>
                  <a:srgbClr val="D5E3E8"/>
                </a:solidFill>
                <a:latin typeface="Arial"/>
                <a:ea typeface="Arial"/>
                <a:cs typeface="Arial"/>
              </a:defRPr>
            </a:lvl1pPr>
            <a:lvl2pPr algn="l">
              <a:defRPr sz="1275" b="0">
                <a:solidFill>
                  <a:srgbClr val="D5E3E8"/>
                </a:solidFill>
                <a:latin typeface="Arial"/>
                <a:ea typeface="Arial"/>
                <a:cs typeface="Arial"/>
              </a:defRPr>
            </a:lvl2pPr>
            <a:lvl3pPr algn="l">
              <a:defRPr sz="1275" b="0">
                <a:solidFill>
                  <a:srgbClr val="D5E3E8"/>
                </a:solidFill>
                <a:latin typeface="Arial"/>
                <a:ea typeface="Arial"/>
                <a:cs typeface="Arial"/>
              </a:defRPr>
            </a:lvl3pPr>
            <a:lvl4pPr algn="l">
              <a:defRPr sz="1275" b="0">
                <a:solidFill>
                  <a:srgbClr val="D5E3E8"/>
                </a:solidFill>
                <a:latin typeface="Arial"/>
                <a:ea typeface="Arial"/>
                <a:cs typeface="Arial"/>
              </a:defRPr>
            </a:lvl4pPr>
            <a:lvl5pPr algn="l">
              <a:defRPr sz="1275" b="0">
                <a:solidFill>
                  <a:srgbClr val="D5E3E8"/>
                </a:solidFill>
                <a:latin typeface="Arial"/>
                <a:ea typeface="Arial"/>
                <a:cs typeface="Arial"/>
              </a:defRPr>
            </a:lvl5pPr>
            <a:lvl6pPr algn="l">
              <a:defRPr sz="1275" b="0">
                <a:solidFill>
                  <a:srgbClr val="D5E3E8"/>
                </a:solidFill>
                <a:latin typeface="Arial"/>
                <a:ea typeface="Arial"/>
                <a:cs typeface="Arial"/>
              </a:defRPr>
            </a:lvl6pPr>
            <a:lvl7pPr algn="l">
              <a:defRPr sz="1275" b="0">
                <a:solidFill>
                  <a:srgbClr val="D5E3E8"/>
                </a:solidFill>
                <a:latin typeface="Arial"/>
                <a:ea typeface="Arial"/>
                <a:cs typeface="Arial"/>
              </a:defRPr>
            </a:lvl7pPr>
            <a:lvl8pPr algn="l">
              <a:defRPr sz="1275" b="0">
                <a:solidFill>
                  <a:srgbClr val="D5E3E8"/>
                </a:solidFill>
                <a:latin typeface="Arial"/>
                <a:ea typeface="Arial"/>
                <a:cs typeface="Arial"/>
              </a:defRPr>
            </a:lvl8pPr>
            <a:lvl9pPr algn="l">
              <a:defRPr sz="1275" b="0">
                <a:solidFill>
                  <a:srgbClr val="D5E3E8"/>
                </a:solidFill>
                <a:latin typeface="Arial"/>
                <a:ea typeface="Arial"/>
                <a:cs typeface="Arial"/>
              </a:defRPr>
            </a:lvl9pPr>
          </a:lstStyle>
          <a:p xmlns:a="http://schemas.openxmlformats.org/drawingml/2006/main">
            <a:pPr algn="l">
              <a:lnSpc>
                <a:spcPct val="100000"/>
              </a:lnSpc>
              <a:buNone/>
              <a:defRPr sz="1275" b="0">
                <a:solidFill>
                  <a:srgbClr val="D5E3E8"/>
                </a:solidFill>
                <a:latin typeface="Arial"/>
                <a:ea typeface="Arial"/>
                <a:cs typeface="Arial"/>
              </a:defRPr>
            </a:pPr>
            <a:r>
              <a:rPr sz="1275" b="0">
                <a:solidFill>
                  <a:srgbClr val="D5E3E8"/>
                </a:solidFill>
                <a:latin typeface="Arial"/>
                <a:ea typeface="Arial"/>
                <a:cs typeface="Arial"/>
              </a:rPr>
              <a:t>evaluate_selected() writes metrics.json, a classification report, confusion matrix and permutation importance. _interpret_outcome() uses match/case. Logistic Regression was selected from three candidates.</a:t>
            </a:r>
          </a:p>
        </p:txBody>
      </p:sp>
      <p:sp>
        <p:nvSpPr>
          <p:cNvPr id="14" name="">
            <a:extLst xmlns:a="http://schemas.openxmlformats.org/drawingml/2006/main">
              <a:ext uri="{FF2B5EF4-FFF2-40B4-BE49-F238E27FC236}">
                <a16:creationId xmlns:a16="http://schemas.microsoft.com/office/drawing/2014/main" id="{E03480DA-A5C3-4F7B-B98A-502432BBAA72}"/>
              </a:ext>
            </a:extLst>
          </p:cNvPr>
          <p:cNvSpPr>
            <a:spLocks xmlns:a="http://schemas.openxmlformats.org/drawingml/2006/main" noGrp="1"/>
          </p:cNvSpPr>
          <p:nvPr/>
        </p:nvSpPr>
        <p:spPr>
          <a:xfrm xmlns:a="http://schemas.openxmlformats.org/drawingml/2006/main" flipH="0">
            <a:off x="7353300" y="4076700"/>
            <a:ext cx="4114800"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15" name="connection-benefit-label">
            <a:extLst xmlns:a="http://schemas.openxmlformats.org/drawingml/2006/main">
              <a:ext uri="{FF2B5EF4-FFF2-40B4-BE49-F238E27FC236}">
                <a16:creationId xmlns:a16="http://schemas.microsoft.com/office/drawing/2014/main" id="{507F0A96-D571-4946-98D4-5A914F17100E}"/>
              </a:ext>
            </a:extLst>
          </p:cNvPr>
          <p:cNvSpPr>
            <a:spLocks xmlns:a="http://schemas.openxmlformats.org/drawingml/2006/main" noGrp="1"/>
          </p:cNvSpPr>
          <p:nvPr/>
        </p:nvSpPr>
        <p:spPr>
          <a:xfrm xmlns:a="http://schemas.openxmlformats.org/drawingml/2006/main">
            <a:off x="7353300" y="42672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WHY IT HELPS</a:t>
            </a:r>
          </a:p>
        </p:txBody>
      </p:sp>
      <p:sp>
        <p:nvSpPr>
          <p:cNvPr id="16" name="connection-benefit">
            <a:extLst xmlns:a="http://schemas.openxmlformats.org/drawingml/2006/main">
              <a:ext uri="{FF2B5EF4-FFF2-40B4-BE49-F238E27FC236}">
                <a16:creationId xmlns:a16="http://schemas.microsoft.com/office/drawing/2014/main" id="{BF8FEAF6-DDA9-47E0-ACE3-E7F3B0E063B7}"/>
              </a:ext>
            </a:extLst>
          </p:cNvPr>
          <p:cNvSpPr>
            <a:spLocks xmlns:a="http://schemas.openxmlformats.org/drawingml/2006/main" noGrp="1"/>
          </p:cNvSpPr>
          <p:nvPr/>
        </p:nvSpPr>
        <p:spPr>
          <a:xfrm xmlns:a="http://schemas.openxmlformats.org/drawingml/2006/main">
            <a:off x="7353300" y="4552950"/>
            <a:ext cx="4114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lnSpc>
                <a:spcPct val="100000"/>
              </a:lnSpc>
              <a:buNone/>
              <a:defRPr sz="1275" b="0">
                <a:solidFill>
                  <a:srgbClr val="FFFFFF"/>
                </a:solidFill>
                <a:latin typeface="Arial"/>
                <a:ea typeface="Arial"/>
                <a:cs typeface="Arial"/>
              </a:defRPr>
            </a:pPr>
            <a:r>
              <a:rPr sz="1275" b="0">
                <a:solidFill>
                  <a:srgbClr val="FFFFFF"/>
                </a:solidFill>
                <a:latin typeface="Arial"/>
                <a:ea typeface="Arial"/>
                <a:cs typeface="Arial"/>
              </a:rPr>
              <a:t>Macro-F1 gives each class equal weight. Per-class precision and recall make weaker Enrolled detection visible instead of hiding it inside accuracy.</a:t>
            </a:r>
          </a:p>
        </p:txBody>
      </p:sp>
    </p:spTree>
    <p:extLst>
      <p:ext uri="{BB962C8B-B14F-4D97-AF65-F5344CB8AC3E}">
        <p14:creationId xmlns:p14="http://schemas.microsoft.com/office/powerpoint/2010/main" val="1801275181"/>
      </p:ext>
    </p:extLst>
  </p:cSld>
</p:sld>
</file>

<file path=ppt/slides/slide8.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7" name="section-label">
            <a:extLst xmlns:a="http://schemas.openxmlformats.org/drawingml/2006/main">
              <a:ext uri="{FF2B5EF4-FFF2-40B4-BE49-F238E27FC236}">
                <a16:creationId xmlns:a16="http://schemas.microsoft.com/office/drawing/2014/main" id="{6DD20D0E-73F1-4CFD-96A5-3827E0197577}"/>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42F544CE-76B6-4C84-AA18-989AF5BC5750}"/>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Kenyan campus support: intent routing and accountable follow-up</a:t>
            </a:r>
          </a:p>
        </p:txBody>
      </p:sp>
      <p:sp>
        <p:nvSpPr>
          <p:cNvPr id="3" name="">
            <a:extLst xmlns:a="http://schemas.openxmlformats.org/drawingml/2006/main">
              <a:ext uri="{FF2B5EF4-FFF2-40B4-BE49-F238E27FC236}">
                <a16:creationId xmlns:a16="http://schemas.microsoft.com/office/drawing/2014/main" id="{9FAC585D-AB6C-4D0F-B2A0-D1DB76E5CD7B}"/>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93A0EFE7-616D-483A-B23C-B50F4E630F7E}"/>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CF722E2E-78D1-436B-9CF1-0FAB420393FC}"/>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C81884FB-8954-4905-97BA-A0547C5EA1E2}"/>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08 / 10</a:t>
            </a:r>
          </a:p>
        </p:txBody>
      </p:sp>
      <p:sp>
        <p:nvSpPr>
          <p:cNvPr id="7" name="screenshot-frame">
            <a:extLst xmlns:a="http://schemas.openxmlformats.org/drawingml/2006/main">
              <a:ext uri="{FF2B5EF4-FFF2-40B4-BE49-F238E27FC236}">
                <a16:creationId xmlns:a16="http://schemas.microsoft.com/office/drawing/2014/main" id="{01ADB10A-625D-4F3E-BC0A-2C29D053921A}"/>
              </a:ext>
            </a:extLst>
          </p:cNvPr>
          <p:cNvSpPr>
            <a:spLocks xmlns:a="http://schemas.openxmlformats.org/drawingml/2006/main" noGrp="1"/>
          </p:cNvSpPr>
          <p:nvPr/>
        </p:nvSpPr>
        <p:spPr>
          <a:xfrm xmlns:a="http://schemas.openxmlformats.org/drawingml/2006/main">
            <a:off x="457200" y="1343025"/>
            <a:ext cx="6457950" cy="4314825"/>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9E2E5"/>
            </a:solidFill>
            <a:prstDash val="solid"/>
          </a:ln>
        </p:spPr>
      </p:sp>
      <p:pic>
        <p:nvPicPr>
          <p:cNvPr id="8" name="">
            <a:extLst xmlns:a="http://schemas.openxmlformats.org/drawingml/2006/main">
              <a:ext uri="{FF2B5EF4-FFF2-40B4-BE49-F238E27FC236}">
                <a16:creationId xmlns:a16="http://schemas.microsoft.com/office/drawing/2014/main" id="{F6106ABD-ECDD-43C7-8813-83933BB55366}"/>
              </a:ext>
            </a:extLst>
          </p:cNvPr>
          <p:cNvPicPr>
            <a:picLocks xmlns:a="http://schemas.openxmlformats.org/drawingml/2006/main" noChangeAspect="1"/>
          </p:cNvPicPr>
          <p:nvPr/>
        </p:nvPicPr>
        <p:blipFill>
          <a:blip xmlns:r="http://schemas.openxmlformats.org/officeDocument/2006/relationships" xmlns:a="http://schemas.openxmlformats.org/drawingml/2006/main" r:embed="R03b960caf6014d3c"/>
          <a:stretch xmlns:a="http://schemas.openxmlformats.org/drawingml/2006/main"/>
        </p:blipFill>
        <p:spPr>
          <a:xfrm xmlns:a="http://schemas.openxmlformats.org/drawingml/2006/main">
            <a:off x="634365" y="1381125"/>
            <a:ext cx="6103620" cy="4238625"/>
          </a:xfrm>
          <a:prstGeom xmlns:a="http://schemas.openxmlformats.org/drawingml/2006/main" prst="roundRect">
            <a:avLst>
              <a:gd name="adj" fmla="val 2247"/>
            </a:avLst>
          </a:prstGeom>
        </p:spPr>
      </p:pic>
      <p:sp>
        <p:nvSpPr>
          <p:cNvPr id="9" name="advanced-python-connection">
            <a:extLst xmlns:a="http://schemas.openxmlformats.org/drawingml/2006/main">
              <a:ext uri="{FF2B5EF4-FFF2-40B4-BE49-F238E27FC236}">
                <a16:creationId xmlns:a16="http://schemas.microsoft.com/office/drawing/2014/main" id="{5AFB05E3-B8F5-41D2-B8CD-F91BDD4218B0}"/>
              </a:ext>
            </a:extLst>
          </p:cNvPr>
          <p:cNvSpPr>
            <a:spLocks xmlns:a="http://schemas.openxmlformats.org/drawingml/2006/main" noGrp="1"/>
          </p:cNvSpPr>
          <p:nvPr/>
        </p:nvSpPr>
        <p:spPr>
          <a:xfrm xmlns:a="http://schemas.openxmlformats.org/drawingml/2006/main">
            <a:off x="7124700" y="1428750"/>
            <a:ext cx="4572000" cy="4238625"/>
          </a:xfrm>
          <a:prstGeom xmlns:a="http://schemas.openxmlformats.org/drawingml/2006/main" prst="roundRect">
            <a:avLst>
              <a:gd name="adj" fmla="val 3596"/>
            </a:avLst>
          </a:prstGeom>
          <a:solidFill xmlns:a="http://schemas.openxmlformats.org/drawingml/2006/main">
            <a:srgbClr val="102B3F"/>
          </a:solidFill>
          <a:ln xmlns:a="http://schemas.openxmlformats.org/drawingml/2006/main" w="0">
            <a:noFill/>
            <a:prstDash val="solid"/>
          </a:ln>
        </p:spPr>
      </p:sp>
      <p:sp>
        <p:nvSpPr>
          <p:cNvPr id="10" name="label-pill">
            <a:extLst xmlns:a="http://schemas.openxmlformats.org/drawingml/2006/main">
              <a:ext uri="{FF2B5EF4-FFF2-40B4-BE49-F238E27FC236}">
                <a16:creationId xmlns:a16="http://schemas.microsoft.com/office/drawing/2014/main" id="{9E805FC1-9FD9-4B8E-A499-792AD4FC383B}"/>
              </a:ext>
            </a:extLst>
          </p:cNvPr>
          <p:cNvSpPr>
            <a:spLocks xmlns:a="http://schemas.openxmlformats.org/drawingml/2006/main" noGrp="1"/>
          </p:cNvSpPr>
          <p:nvPr/>
        </p:nvSpPr>
        <p:spPr>
          <a:xfrm xmlns:a="http://schemas.openxmlformats.org/drawingml/2006/main">
            <a:off x="7353300" y="1619250"/>
            <a:ext cx="2428875"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1" name="label-text">
            <a:extLst xmlns:a="http://schemas.openxmlformats.org/drawingml/2006/main">
              <a:ext uri="{FF2B5EF4-FFF2-40B4-BE49-F238E27FC236}">
                <a16:creationId xmlns:a16="http://schemas.microsoft.com/office/drawing/2014/main" id="{0B2174ED-3A43-4D73-B3A4-5297AE9032A7}"/>
              </a:ext>
            </a:extLst>
          </p:cNvPr>
          <p:cNvSpPr>
            <a:spLocks xmlns:a="http://schemas.openxmlformats.org/drawingml/2006/main" noGrp="1"/>
          </p:cNvSpPr>
          <p:nvPr/>
        </p:nvSpPr>
        <p:spPr>
          <a:xfrm xmlns:a="http://schemas.openxmlformats.org/drawingml/2006/main">
            <a:off x="7448550" y="1657350"/>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ADVANCED PYTHON CONNECTION</a:t>
            </a:r>
          </a:p>
        </p:txBody>
      </p:sp>
      <p:sp>
        <p:nvSpPr>
          <p:cNvPr id="12" name="connection-heading">
            <a:extLst xmlns:a="http://schemas.openxmlformats.org/drawingml/2006/main">
              <a:ext uri="{FF2B5EF4-FFF2-40B4-BE49-F238E27FC236}">
                <a16:creationId xmlns:a16="http://schemas.microsoft.com/office/drawing/2014/main" id="{F1EE8A4E-2581-4E0B-BCCB-E4E0A9CDD120}"/>
              </a:ext>
            </a:extLst>
          </p:cNvPr>
          <p:cNvSpPr>
            <a:spLocks xmlns:a="http://schemas.openxmlformats.org/drawingml/2006/main" noGrp="1"/>
          </p:cNvSpPr>
          <p:nvPr/>
        </p:nvSpPr>
        <p:spPr>
          <a:xfrm xmlns:a="http://schemas.openxmlformats.org/drawingml/2006/main">
            <a:off x="7353300" y="2076450"/>
            <a:ext cx="4114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Regex intent routing + SupportIntent enum</a:t>
            </a:r>
          </a:p>
        </p:txBody>
      </p:sp>
      <p:sp>
        <p:nvSpPr>
          <p:cNvPr id="13" name="connection-evidence">
            <a:extLst xmlns:a="http://schemas.openxmlformats.org/drawingml/2006/main">
              <a:ext uri="{FF2B5EF4-FFF2-40B4-BE49-F238E27FC236}">
                <a16:creationId xmlns:a16="http://schemas.microsoft.com/office/drawing/2014/main" id="{61124DFC-D79E-4630-AFCE-935695DF339C}"/>
              </a:ext>
            </a:extLst>
          </p:cNvPr>
          <p:cNvSpPr>
            <a:spLocks xmlns:a="http://schemas.openxmlformats.org/drawingml/2006/main" noGrp="1"/>
          </p:cNvSpPr>
          <p:nvPr/>
        </p:nvSpPr>
        <p:spPr>
          <a:xfrm xmlns:a="http://schemas.openxmlformats.org/drawingml/2006/main">
            <a:off x="7353300" y="2752725"/>
            <a:ext cx="41148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D5E3E8"/>
                </a:solidFill>
                <a:latin typeface="Arial"/>
                <a:ea typeface="Arial"/>
                <a:cs typeface="Arial"/>
              </a:defRPr>
            </a:defPPr>
            <a:lvl1pPr algn="l">
              <a:defRPr sz="1275" b="0">
                <a:solidFill>
                  <a:srgbClr val="D5E3E8"/>
                </a:solidFill>
                <a:latin typeface="Arial"/>
                <a:ea typeface="Arial"/>
                <a:cs typeface="Arial"/>
              </a:defRPr>
            </a:lvl1pPr>
            <a:lvl2pPr algn="l">
              <a:defRPr sz="1275" b="0">
                <a:solidFill>
                  <a:srgbClr val="D5E3E8"/>
                </a:solidFill>
                <a:latin typeface="Arial"/>
                <a:ea typeface="Arial"/>
                <a:cs typeface="Arial"/>
              </a:defRPr>
            </a:lvl2pPr>
            <a:lvl3pPr algn="l">
              <a:defRPr sz="1275" b="0">
                <a:solidFill>
                  <a:srgbClr val="D5E3E8"/>
                </a:solidFill>
                <a:latin typeface="Arial"/>
                <a:ea typeface="Arial"/>
                <a:cs typeface="Arial"/>
              </a:defRPr>
            </a:lvl3pPr>
            <a:lvl4pPr algn="l">
              <a:defRPr sz="1275" b="0">
                <a:solidFill>
                  <a:srgbClr val="D5E3E8"/>
                </a:solidFill>
                <a:latin typeface="Arial"/>
                <a:ea typeface="Arial"/>
                <a:cs typeface="Arial"/>
              </a:defRPr>
            </a:lvl4pPr>
            <a:lvl5pPr algn="l">
              <a:defRPr sz="1275" b="0">
                <a:solidFill>
                  <a:srgbClr val="D5E3E8"/>
                </a:solidFill>
                <a:latin typeface="Arial"/>
                <a:ea typeface="Arial"/>
                <a:cs typeface="Arial"/>
              </a:defRPr>
            </a:lvl5pPr>
            <a:lvl6pPr algn="l">
              <a:defRPr sz="1275" b="0">
                <a:solidFill>
                  <a:srgbClr val="D5E3E8"/>
                </a:solidFill>
                <a:latin typeface="Arial"/>
                <a:ea typeface="Arial"/>
                <a:cs typeface="Arial"/>
              </a:defRPr>
            </a:lvl6pPr>
            <a:lvl7pPr algn="l">
              <a:defRPr sz="1275" b="0">
                <a:solidFill>
                  <a:srgbClr val="D5E3E8"/>
                </a:solidFill>
                <a:latin typeface="Arial"/>
                <a:ea typeface="Arial"/>
                <a:cs typeface="Arial"/>
              </a:defRPr>
            </a:lvl7pPr>
            <a:lvl8pPr algn="l">
              <a:defRPr sz="1275" b="0">
                <a:solidFill>
                  <a:srgbClr val="D5E3E8"/>
                </a:solidFill>
                <a:latin typeface="Arial"/>
                <a:ea typeface="Arial"/>
                <a:cs typeface="Arial"/>
              </a:defRPr>
            </a:lvl8pPr>
            <a:lvl9pPr algn="l">
              <a:defRPr sz="1275" b="0">
                <a:solidFill>
                  <a:srgbClr val="D5E3E8"/>
                </a:solidFill>
                <a:latin typeface="Arial"/>
                <a:ea typeface="Arial"/>
                <a:cs typeface="Arial"/>
              </a:defRPr>
            </a:lvl9pPr>
          </a:lstStyle>
          <a:p xmlns:a="http://schemas.openxmlformats.org/drawingml/2006/main">
            <a:pPr algn="l">
              <a:lnSpc>
                <a:spcPct val="100000"/>
              </a:lnSpc>
              <a:buNone/>
              <a:defRPr sz="1275" b="0">
                <a:solidFill>
                  <a:srgbClr val="D5E3E8"/>
                </a:solidFill>
                <a:latin typeface="Arial"/>
                <a:ea typeface="Arial"/>
                <a:cs typeface="Arial"/>
              </a:defRPr>
            </a:pPr>
            <a:r>
              <a:rPr sz="1275" b="0">
                <a:solidFill>
                  <a:srgbClr val="D5E3E8"/>
                </a:solidFill>
                <a:latin typeface="Arial"/>
                <a:ea typeface="Arial"/>
                <a:cs typeface="Arial"/>
              </a:rPr>
              <a:t>support_chatbot.py checks safety-first patterns, then routes exam pressure, fees/HELB, anxiety, low mood or loneliness to a prepared SupportReply. The CAT example suggests a 25-minute reset and a human academic referral.</a:t>
            </a:r>
          </a:p>
        </p:txBody>
      </p:sp>
      <p:sp>
        <p:nvSpPr>
          <p:cNvPr id="14" name="">
            <a:extLst xmlns:a="http://schemas.openxmlformats.org/drawingml/2006/main">
              <a:ext uri="{FF2B5EF4-FFF2-40B4-BE49-F238E27FC236}">
                <a16:creationId xmlns:a16="http://schemas.microsoft.com/office/drawing/2014/main" id="{74E3571B-736B-4CC6-A47D-636BB0551998}"/>
              </a:ext>
            </a:extLst>
          </p:cNvPr>
          <p:cNvSpPr>
            <a:spLocks xmlns:a="http://schemas.openxmlformats.org/drawingml/2006/main" noGrp="1"/>
          </p:cNvSpPr>
          <p:nvPr/>
        </p:nvSpPr>
        <p:spPr>
          <a:xfrm xmlns:a="http://schemas.openxmlformats.org/drawingml/2006/main" flipH="0">
            <a:off x="7353300" y="4076700"/>
            <a:ext cx="4114800" cy="9525"/>
          </a:xfrm>
          <a:prstGeom xmlns:a="http://schemas.openxmlformats.org/drawingml/2006/main" prst="line">
            <a:avLst/>
          </a:prstGeom>
          <a:noFill xmlns:a="http://schemas.openxmlformats.org/drawingml/2006/main"/>
          <a:ln xmlns:a="http://schemas.openxmlformats.org/drawingml/2006/main" w="9525">
            <a:solidFill>
              <a:srgbClr val="47606F"/>
            </a:solidFill>
            <a:prstDash val="solid"/>
          </a:ln>
        </p:spPr>
      </p:sp>
      <p:sp>
        <p:nvSpPr>
          <p:cNvPr id="15" name="connection-benefit-label">
            <a:extLst xmlns:a="http://schemas.openxmlformats.org/drawingml/2006/main">
              <a:ext uri="{FF2B5EF4-FFF2-40B4-BE49-F238E27FC236}">
                <a16:creationId xmlns:a16="http://schemas.microsoft.com/office/drawing/2014/main" id="{1F61D81C-1177-4177-9106-6265A1E5C917}"/>
              </a:ext>
            </a:extLst>
          </p:cNvPr>
          <p:cNvSpPr>
            <a:spLocks xmlns:a="http://schemas.openxmlformats.org/drawingml/2006/main" noGrp="1"/>
          </p:cNvSpPr>
          <p:nvPr/>
        </p:nvSpPr>
        <p:spPr>
          <a:xfrm xmlns:a="http://schemas.openxmlformats.org/drawingml/2006/main">
            <a:off x="7353300" y="42672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E4B44C"/>
                </a:solidFill>
                <a:latin typeface="Arial"/>
                <a:ea typeface="Arial"/>
                <a:cs typeface="Arial"/>
              </a:defRPr>
            </a:defPPr>
            <a:lvl1pPr algn="l">
              <a:defRPr sz="900" b="1">
                <a:solidFill>
                  <a:srgbClr val="E4B44C"/>
                </a:solidFill>
                <a:latin typeface="Arial"/>
                <a:ea typeface="Arial"/>
                <a:cs typeface="Arial"/>
              </a:defRPr>
            </a:lvl1pPr>
            <a:lvl2pPr algn="l">
              <a:defRPr sz="900" b="1">
                <a:solidFill>
                  <a:srgbClr val="E4B44C"/>
                </a:solidFill>
                <a:latin typeface="Arial"/>
                <a:ea typeface="Arial"/>
                <a:cs typeface="Arial"/>
              </a:defRPr>
            </a:lvl2pPr>
            <a:lvl3pPr algn="l">
              <a:defRPr sz="900" b="1">
                <a:solidFill>
                  <a:srgbClr val="E4B44C"/>
                </a:solidFill>
                <a:latin typeface="Arial"/>
                <a:ea typeface="Arial"/>
                <a:cs typeface="Arial"/>
              </a:defRPr>
            </a:lvl3pPr>
            <a:lvl4pPr algn="l">
              <a:defRPr sz="900" b="1">
                <a:solidFill>
                  <a:srgbClr val="E4B44C"/>
                </a:solidFill>
                <a:latin typeface="Arial"/>
                <a:ea typeface="Arial"/>
                <a:cs typeface="Arial"/>
              </a:defRPr>
            </a:lvl4pPr>
            <a:lvl5pPr algn="l">
              <a:defRPr sz="900" b="1">
                <a:solidFill>
                  <a:srgbClr val="E4B44C"/>
                </a:solidFill>
                <a:latin typeface="Arial"/>
                <a:ea typeface="Arial"/>
                <a:cs typeface="Arial"/>
              </a:defRPr>
            </a:lvl5pPr>
            <a:lvl6pPr algn="l">
              <a:defRPr sz="900" b="1">
                <a:solidFill>
                  <a:srgbClr val="E4B44C"/>
                </a:solidFill>
                <a:latin typeface="Arial"/>
                <a:ea typeface="Arial"/>
                <a:cs typeface="Arial"/>
              </a:defRPr>
            </a:lvl6pPr>
            <a:lvl7pPr algn="l">
              <a:defRPr sz="900" b="1">
                <a:solidFill>
                  <a:srgbClr val="E4B44C"/>
                </a:solidFill>
                <a:latin typeface="Arial"/>
                <a:ea typeface="Arial"/>
                <a:cs typeface="Arial"/>
              </a:defRPr>
            </a:lvl7pPr>
            <a:lvl8pPr algn="l">
              <a:defRPr sz="900" b="1">
                <a:solidFill>
                  <a:srgbClr val="E4B44C"/>
                </a:solidFill>
                <a:latin typeface="Arial"/>
                <a:ea typeface="Arial"/>
                <a:cs typeface="Arial"/>
              </a:defRPr>
            </a:lvl8pPr>
            <a:lvl9pPr algn="l">
              <a:defRPr sz="900" b="1">
                <a:solidFill>
                  <a:srgbClr val="E4B44C"/>
                </a:solidFill>
                <a:latin typeface="Arial"/>
                <a:ea typeface="Arial"/>
                <a:cs typeface="Arial"/>
              </a:defRPr>
            </a:lvl9pPr>
          </a:lstStyle>
          <a:p xmlns:a="http://schemas.openxmlformats.org/drawingml/2006/main">
            <a:pPr algn="l">
              <a:lnSpc>
                <a:spcPct val="100000"/>
              </a:lnSpc>
              <a:buNone/>
              <a:defRPr sz="900" b="1">
                <a:solidFill>
                  <a:srgbClr val="E4B44C"/>
                </a:solidFill>
                <a:latin typeface="Arial"/>
                <a:ea typeface="Arial"/>
                <a:cs typeface="Arial"/>
              </a:defRPr>
            </a:pPr>
            <a:r>
              <a:rPr sz="900" b="1">
                <a:solidFill>
                  <a:srgbClr val="E4B44C"/>
                </a:solidFill>
                <a:latin typeface="Arial"/>
                <a:ea typeface="Arial"/>
                <a:cs typeface="Arial"/>
              </a:rPr>
              <a:t>WHY IT HELPS</a:t>
            </a:r>
          </a:p>
        </p:txBody>
      </p:sp>
      <p:sp>
        <p:nvSpPr>
          <p:cNvPr id="16" name="connection-benefit">
            <a:extLst xmlns:a="http://schemas.openxmlformats.org/drawingml/2006/main">
              <a:ext uri="{FF2B5EF4-FFF2-40B4-BE49-F238E27FC236}">
                <a16:creationId xmlns:a16="http://schemas.microsoft.com/office/drawing/2014/main" id="{A8073120-393A-4F6F-9B2F-F8D11AB0F2D8}"/>
              </a:ext>
            </a:extLst>
          </p:cNvPr>
          <p:cNvSpPr>
            <a:spLocks xmlns:a="http://schemas.openxmlformats.org/drawingml/2006/main" noGrp="1"/>
          </p:cNvSpPr>
          <p:nvPr/>
        </p:nvSpPr>
        <p:spPr>
          <a:xfrm xmlns:a="http://schemas.openxmlformats.org/drawingml/2006/main">
            <a:off x="7353300" y="4552950"/>
            <a:ext cx="4114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Arial"/>
                <a:ea typeface="Arial"/>
                <a:cs typeface="Arial"/>
              </a:defRPr>
            </a:defPPr>
            <a:lvl1pPr algn="l">
              <a:defRPr sz="1275" b="0">
                <a:solidFill>
                  <a:srgbClr val="FFFFFF"/>
                </a:solidFill>
                <a:latin typeface="Arial"/>
                <a:ea typeface="Arial"/>
                <a:cs typeface="Arial"/>
              </a:defRPr>
            </a:lvl1pPr>
            <a:lvl2pPr algn="l">
              <a:defRPr sz="1275" b="0">
                <a:solidFill>
                  <a:srgbClr val="FFFFFF"/>
                </a:solidFill>
                <a:latin typeface="Arial"/>
                <a:ea typeface="Arial"/>
                <a:cs typeface="Arial"/>
              </a:defRPr>
            </a:lvl2pPr>
            <a:lvl3pPr algn="l">
              <a:defRPr sz="1275" b="0">
                <a:solidFill>
                  <a:srgbClr val="FFFFFF"/>
                </a:solidFill>
                <a:latin typeface="Arial"/>
                <a:ea typeface="Arial"/>
                <a:cs typeface="Arial"/>
              </a:defRPr>
            </a:lvl3pPr>
            <a:lvl4pPr algn="l">
              <a:defRPr sz="1275" b="0">
                <a:solidFill>
                  <a:srgbClr val="FFFFFF"/>
                </a:solidFill>
                <a:latin typeface="Arial"/>
                <a:ea typeface="Arial"/>
                <a:cs typeface="Arial"/>
              </a:defRPr>
            </a:lvl4pPr>
            <a:lvl5pPr algn="l">
              <a:defRPr sz="1275" b="0">
                <a:solidFill>
                  <a:srgbClr val="FFFFFF"/>
                </a:solidFill>
                <a:latin typeface="Arial"/>
                <a:ea typeface="Arial"/>
                <a:cs typeface="Arial"/>
              </a:defRPr>
            </a:lvl5pPr>
            <a:lvl6pPr algn="l">
              <a:defRPr sz="1275" b="0">
                <a:solidFill>
                  <a:srgbClr val="FFFFFF"/>
                </a:solidFill>
                <a:latin typeface="Arial"/>
                <a:ea typeface="Arial"/>
                <a:cs typeface="Arial"/>
              </a:defRPr>
            </a:lvl6pPr>
            <a:lvl7pPr algn="l">
              <a:defRPr sz="1275" b="0">
                <a:solidFill>
                  <a:srgbClr val="FFFFFF"/>
                </a:solidFill>
                <a:latin typeface="Arial"/>
                <a:ea typeface="Arial"/>
                <a:cs typeface="Arial"/>
              </a:defRPr>
            </a:lvl7pPr>
            <a:lvl8pPr algn="l">
              <a:defRPr sz="1275" b="0">
                <a:solidFill>
                  <a:srgbClr val="FFFFFF"/>
                </a:solidFill>
                <a:latin typeface="Arial"/>
                <a:ea typeface="Arial"/>
                <a:cs typeface="Arial"/>
              </a:defRPr>
            </a:lvl8pPr>
            <a:lvl9pPr algn="l">
              <a:defRPr sz="1275" b="0">
                <a:solidFill>
                  <a:srgbClr val="FFFFFF"/>
                </a:solidFill>
                <a:latin typeface="Arial"/>
                <a:ea typeface="Arial"/>
                <a:cs typeface="Arial"/>
              </a:defRPr>
            </a:lvl9pPr>
          </a:lstStyle>
          <a:p xmlns:a="http://schemas.openxmlformats.org/drawingml/2006/main">
            <a:pPr algn="l">
              <a:lnSpc>
                <a:spcPct val="100000"/>
              </a:lnSpc>
              <a:buNone/>
              <a:defRPr sz="1275" b="0">
                <a:solidFill>
                  <a:srgbClr val="FFFFFF"/>
                </a:solidFill>
                <a:latin typeface="Arial"/>
                <a:ea typeface="Arial"/>
                <a:cs typeface="Arial"/>
              </a:defRPr>
            </a:pPr>
            <a:r>
              <a:rPr sz="1275" b="0">
                <a:solidFill>
                  <a:srgbClr val="FFFFFF"/>
                </a:solidFill>
                <a:latin typeface="Arial"/>
                <a:ea typeface="Arial"/>
                <a:cs typeface="Arial"/>
              </a:rPr>
              <a:t>Transparent rules need no remote generative-AI service and messages are session-only. The separate Support Cases page uses a validated dataclass and status enum for human-owned follow-up.</a:t>
            </a:r>
          </a:p>
        </p:txBody>
      </p:sp>
    </p:spTree>
    <p:extLst>
      <p:ext uri="{BB962C8B-B14F-4D97-AF65-F5344CB8AC3E}">
        <p14:creationId xmlns:p14="http://schemas.microsoft.com/office/powerpoint/2010/main" val="2027221206"/>
      </p:ext>
    </p:extLst>
  </p:cSld>
</p:sld>
</file>

<file path=ppt/slides/slide9.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56" name="section-label">
            <a:extLst xmlns:a="http://schemas.openxmlformats.org/drawingml/2006/main">
              <a:ext uri="{FF2B5EF4-FFF2-40B4-BE49-F238E27FC236}">
                <a16:creationId xmlns:a16="http://schemas.microsoft.com/office/drawing/2014/main" id="{74201BCF-5D69-4449-AC3D-C0CBE51CA191}"/>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6A3EBB66-8775-4360-9E21-41F6E3E0EE09}"/>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Advanced Python: evidence in the implementation</a:t>
            </a:r>
          </a:p>
        </p:txBody>
      </p:sp>
      <p:sp>
        <p:nvSpPr>
          <p:cNvPr id="3" name="">
            <a:extLst xmlns:a="http://schemas.openxmlformats.org/drawingml/2006/main">
              <a:ext uri="{FF2B5EF4-FFF2-40B4-BE49-F238E27FC236}">
                <a16:creationId xmlns:a16="http://schemas.microsoft.com/office/drawing/2014/main" id="{95FF11F8-F762-4461-B74F-0A6FCC87732A}"/>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46B50C81-2C32-490A-9E91-90AE4D272968}"/>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0BE72925-2D46-4E12-97FB-249030720138}"/>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12C257ED-26DE-485E-AE30-845D023C276C}"/>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09 / 10</a:t>
            </a:r>
          </a:p>
        </p:txBody>
      </p:sp>
      <p:sp>
        <p:nvSpPr>
          <p:cNvPr id="7" name="concept-card">
            <a:extLst xmlns:a="http://schemas.openxmlformats.org/drawingml/2006/main">
              <a:ext uri="{FF2B5EF4-FFF2-40B4-BE49-F238E27FC236}">
                <a16:creationId xmlns:a16="http://schemas.microsoft.com/office/drawing/2014/main" id="{BFAE3873-FB37-4F7A-952F-DDC8741DD647}"/>
              </a:ext>
            </a:extLst>
          </p:cNvPr>
          <p:cNvSpPr>
            <a:spLocks xmlns:a="http://schemas.openxmlformats.org/drawingml/2006/main" noGrp="1"/>
          </p:cNvSpPr>
          <p:nvPr/>
        </p:nvSpPr>
        <p:spPr>
          <a:xfrm xmlns:a="http://schemas.openxmlformats.org/drawingml/2006/main">
            <a:off x="495300" y="1428750"/>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8" name="label-pill">
            <a:extLst xmlns:a="http://schemas.openxmlformats.org/drawingml/2006/main">
              <a:ext uri="{FF2B5EF4-FFF2-40B4-BE49-F238E27FC236}">
                <a16:creationId xmlns:a16="http://schemas.microsoft.com/office/drawing/2014/main" id="{ACAE3DB4-428B-4A76-8AC1-D99CE8E6AC72}"/>
              </a:ext>
            </a:extLst>
          </p:cNvPr>
          <p:cNvSpPr>
            <a:spLocks xmlns:a="http://schemas.openxmlformats.org/drawingml/2006/main" noGrp="1"/>
          </p:cNvSpPr>
          <p:nvPr/>
        </p:nvSpPr>
        <p:spPr>
          <a:xfrm xmlns:a="http://schemas.openxmlformats.org/drawingml/2006/main">
            <a:off x="647700" y="157162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9" name="label-text">
            <a:extLst xmlns:a="http://schemas.openxmlformats.org/drawingml/2006/main">
              <a:ext uri="{FF2B5EF4-FFF2-40B4-BE49-F238E27FC236}">
                <a16:creationId xmlns:a16="http://schemas.microsoft.com/office/drawing/2014/main" id="{313DDE8D-06B7-4078-8068-F86ED44F67CD}"/>
              </a:ext>
            </a:extLst>
          </p:cNvPr>
          <p:cNvSpPr>
            <a:spLocks xmlns:a="http://schemas.openxmlformats.org/drawingml/2006/main" noGrp="1"/>
          </p:cNvSpPr>
          <p:nvPr/>
        </p:nvSpPr>
        <p:spPr>
          <a:xfrm xmlns:a="http://schemas.openxmlformats.org/drawingml/2006/main">
            <a:off x="742950" y="16097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01</a:t>
            </a:r>
          </a:p>
        </p:txBody>
      </p:sp>
      <p:sp>
        <p:nvSpPr>
          <p:cNvPr id="10" name="concept-title">
            <a:extLst xmlns:a="http://schemas.openxmlformats.org/drawingml/2006/main">
              <a:ext uri="{FF2B5EF4-FFF2-40B4-BE49-F238E27FC236}">
                <a16:creationId xmlns:a16="http://schemas.microsoft.com/office/drawing/2014/main" id="{B98A66C8-2B60-431C-A35D-28EB143984C6}"/>
              </a:ext>
            </a:extLst>
          </p:cNvPr>
          <p:cNvSpPr>
            <a:spLocks xmlns:a="http://schemas.openxmlformats.org/drawingml/2006/main" noGrp="1"/>
          </p:cNvSpPr>
          <p:nvPr/>
        </p:nvSpPr>
        <p:spPr>
          <a:xfrm xmlns:a="http://schemas.openxmlformats.org/drawingml/2006/main">
            <a:off x="1162050" y="1590675"/>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Protocol + type hints</a:t>
            </a:r>
          </a:p>
        </p:txBody>
      </p:sp>
      <p:sp>
        <p:nvSpPr>
          <p:cNvPr id="11" name="concept-source">
            <a:extLst xmlns:a="http://schemas.openxmlformats.org/drawingml/2006/main">
              <a:ext uri="{FF2B5EF4-FFF2-40B4-BE49-F238E27FC236}">
                <a16:creationId xmlns:a16="http://schemas.microsoft.com/office/drawing/2014/main" id="{011F4277-634B-475A-BF4D-3371D7087795}"/>
              </a:ext>
            </a:extLst>
          </p:cNvPr>
          <p:cNvSpPr>
            <a:spLocks xmlns:a="http://schemas.openxmlformats.org/drawingml/2006/main" noGrp="1"/>
          </p:cNvSpPr>
          <p:nvPr/>
        </p:nvSpPr>
        <p:spPr>
          <a:xfrm xmlns:a="http://schemas.openxmlformats.org/drawingml/2006/main">
            <a:off x="666750" y="20002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validate.py • FrameValidator</a:t>
            </a:r>
          </a:p>
        </p:txBody>
      </p:sp>
      <p:sp>
        <p:nvSpPr>
          <p:cNvPr id="12" name="code-evidence">
            <a:extLst xmlns:a="http://schemas.openxmlformats.org/drawingml/2006/main">
              <a:ext uri="{FF2B5EF4-FFF2-40B4-BE49-F238E27FC236}">
                <a16:creationId xmlns:a16="http://schemas.microsoft.com/office/drawing/2014/main" id="{0D46F9E4-DF0A-4440-B350-2FF414162BE1}"/>
              </a:ext>
            </a:extLst>
          </p:cNvPr>
          <p:cNvSpPr>
            <a:spLocks xmlns:a="http://schemas.openxmlformats.org/drawingml/2006/main" noGrp="1"/>
          </p:cNvSpPr>
          <p:nvPr/>
        </p:nvSpPr>
        <p:spPr>
          <a:xfrm xmlns:a="http://schemas.openxmlformats.org/drawingml/2006/main">
            <a:off x="647700" y="2324100"/>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13" name="code">
            <a:extLst xmlns:a="http://schemas.openxmlformats.org/drawingml/2006/main">
              <a:ext uri="{FF2B5EF4-FFF2-40B4-BE49-F238E27FC236}">
                <a16:creationId xmlns:a16="http://schemas.microsoft.com/office/drawing/2014/main" id="{AA57CCE3-A5E8-4B55-9636-0D5B1247AEA8}"/>
              </a:ext>
            </a:extLst>
          </p:cNvPr>
          <p:cNvSpPr>
            <a:spLocks xmlns:a="http://schemas.openxmlformats.org/drawingml/2006/main" noGrp="1"/>
          </p:cNvSpPr>
          <p:nvPr/>
        </p:nvSpPr>
        <p:spPr>
          <a:xfrm xmlns:a="http://schemas.openxmlformats.org/drawingml/2006/main">
            <a:off x="742950" y="2400300"/>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validate(frame) → None</a:t>
            </a:r>
          </a:p>
        </p:txBody>
      </p:sp>
      <p:sp>
        <p:nvSpPr>
          <p:cNvPr id="14" name="why">
            <a:extLst xmlns:a="http://schemas.openxmlformats.org/drawingml/2006/main">
              <a:ext uri="{FF2B5EF4-FFF2-40B4-BE49-F238E27FC236}">
                <a16:creationId xmlns:a16="http://schemas.microsoft.com/office/drawing/2014/main" id="{99D54ECB-387E-453A-8E3A-40CF3DBE3A68}"/>
              </a:ext>
            </a:extLst>
          </p:cNvPr>
          <p:cNvSpPr>
            <a:spLocks xmlns:a="http://schemas.openxmlformats.org/drawingml/2006/main" noGrp="1"/>
          </p:cNvSpPr>
          <p:nvPr/>
        </p:nvSpPr>
        <p:spPr>
          <a:xfrm xmlns:a="http://schemas.openxmlformats.org/drawingml/2006/main">
            <a:off x="666750" y="2790825"/>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Defines an interchangeable validation contract.</a:t>
            </a:r>
          </a:p>
        </p:txBody>
      </p:sp>
      <p:sp>
        <p:nvSpPr>
          <p:cNvPr id="15" name="concept-card">
            <a:extLst xmlns:a="http://schemas.openxmlformats.org/drawingml/2006/main">
              <a:ext uri="{FF2B5EF4-FFF2-40B4-BE49-F238E27FC236}">
                <a16:creationId xmlns:a16="http://schemas.microsoft.com/office/drawing/2014/main" id="{12814D51-FB41-4F20-8CF8-2B22048EB071}"/>
              </a:ext>
            </a:extLst>
          </p:cNvPr>
          <p:cNvSpPr>
            <a:spLocks xmlns:a="http://schemas.openxmlformats.org/drawingml/2006/main" noGrp="1"/>
          </p:cNvSpPr>
          <p:nvPr/>
        </p:nvSpPr>
        <p:spPr>
          <a:xfrm xmlns:a="http://schemas.openxmlformats.org/drawingml/2006/main">
            <a:off x="4210050" y="1428750"/>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16" name="label-pill">
            <a:extLst xmlns:a="http://schemas.openxmlformats.org/drawingml/2006/main">
              <a:ext uri="{FF2B5EF4-FFF2-40B4-BE49-F238E27FC236}">
                <a16:creationId xmlns:a16="http://schemas.microsoft.com/office/drawing/2014/main" id="{8539E27E-F43E-43AA-972B-E3DFC1DE1B35}"/>
              </a:ext>
            </a:extLst>
          </p:cNvPr>
          <p:cNvSpPr>
            <a:spLocks xmlns:a="http://schemas.openxmlformats.org/drawingml/2006/main" noGrp="1"/>
          </p:cNvSpPr>
          <p:nvPr/>
        </p:nvSpPr>
        <p:spPr>
          <a:xfrm xmlns:a="http://schemas.openxmlformats.org/drawingml/2006/main">
            <a:off x="4362450" y="157162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17" name="label-text">
            <a:extLst xmlns:a="http://schemas.openxmlformats.org/drawingml/2006/main">
              <a:ext uri="{FF2B5EF4-FFF2-40B4-BE49-F238E27FC236}">
                <a16:creationId xmlns:a16="http://schemas.microsoft.com/office/drawing/2014/main" id="{4641F1FD-67EF-4B1B-AE34-C76AFD95C081}"/>
              </a:ext>
            </a:extLst>
          </p:cNvPr>
          <p:cNvSpPr>
            <a:spLocks xmlns:a="http://schemas.openxmlformats.org/drawingml/2006/main" noGrp="1"/>
          </p:cNvSpPr>
          <p:nvPr/>
        </p:nvSpPr>
        <p:spPr>
          <a:xfrm xmlns:a="http://schemas.openxmlformats.org/drawingml/2006/main">
            <a:off x="4457700" y="16097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02</a:t>
            </a:r>
          </a:p>
        </p:txBody>
      </p:sp>
      <p:sp>
        <p:nvSpPr>
          <p:cNvPr id="18" name="concept-title">
            <a:extLst xmlns:a="http://schemas.openxmlformats.org/drawingml/2006/main">
              <a:ext uri="{FF2B5EF4-FFF2-40B4-BE49-F238E27FC236}">
                <a16:creationId xmlns:a16="http://schemas.microsoft.com/office/drawing/2014/main" id="{8BC1DAC9-11C7-4AE0-B35A-6AE462BC17DD}"/>
              </a:ext>
            </a:extLst>
          </p:cNvPr>
          <p:cNvSpPr>
            <a:spLocks xmlns:a="http://schemas.openxmlformats.org/drawingml/2006/main" noGrp="1"/>
          </p:cNvSpPr>
          <p:nvPr/>
        </p:nvSpPr>
        <p:spPr>
          <a:xfrm xmlns:a="http://schemas.openxmlformats.org/drawingml/2006/main">
            <a:off x="4876800" y="1590675"/>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Dataclass + StrEnum</a:t>
            </a:r>
          </a:p>
        </p:txBody>
      </p:sp>
      <p:sp>
        <p:nvSpPr>
          <p:cNvPr id="19" name="concept-source">
            <a:extLst xmlns:a="http://schemas.openxmlformats.org/drawingml/2006/main">
              <a:ext uri="{FF2B5EF4-FFF2-40B4-BE49-F238E27FC236}">
                <a16:creationId xmlns:a16="http://schemas.microsoft.com/office/drawing/2014/main" id="{5CEA4262-ADAB-4276-B7D1-E94F5D2BBB11}"/>
              </a:ext>
            </a:extLst>
          </p:cNvPr>
          <p:cNvSpPr>
            <a:spLocks xmlns:a="http://schemas.openxmlformats.org/drawingml/2006/main" noGrp="1"/>
          </p:cNvSpPr>
          <p:nvPr/>
        </p:nvSpPr>
        <p:spPr>
          <a:xfrm xmlns:a="http://schemas.openxmlformats.org/drawingml/2006/main">
            <a:off x="4381500" y="20002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config.py • PipelineConfig / RunStage</a:t>
            </a:r>
          </a:p>
        </p:txBody>
      </p:sp>
      <p:sp>
        <p:nvSpPr>
          <p:cNvPr id="20" name="code-evidence">
            <a:extLst xmlns:a="http://schemas.openxmlformats.org/drawingml/2006/main">
              <a:ext uri="{FF2B5EF4-FFF2-40B4-BE49-F238E27FC236}">
                <a16:creationId xmlns:a16="http://schemas.microsoft.com/office/drawing/2014/main" id="{929C3F2B-DA0E-4B5E-8700-1FBEC2E056B0}"/>
              </a:ext>
            </a:extLst>
          </p:cNvPr>
          <p:cNvSpPr>
            <a:spLocks xmlns:a="http://schemas.openxmlformats.org/drawingml/2006/main" noGrp="1"/>
          </p:cNvSpPr>
          <p:nvPr/>
        </p:nvSpPr>
        <p:spPr>
          <a:xfrm xmlns:a="http://schemas.openxmlformats.org/drawingml/2006/main">
            <a:off x="4362450" y="2324100"/>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21" name="code">
            <a:extLst xmlns:a="http://schemas.openxmlformats.org/drawingml/2006/main">
              <a:ext uri="{FF2B5EF4-FFF2-40B4-BE49-F238E27FC236}">
                <a16:creationId xmlns:a16="http://schemas.microsoft.com/office/drawing/2014/main" id="{38793150-6166-4992-B500-7D3DB319034B}"/>
              </a:ext>
            </a:extLst>
          </p:cNvPr>
          <p:cNvSpPr>
            <a:spLocks xmlns:a="http://schemas.openxmlformats.org/drawingml/2006/main" noGrp="1"/>
          </p:cNvSpPr>
          <p:nvPr/>
        </p:nvSpPr>
        <p:spPr>
          <a:xfrm xmlns:a="http://schemas.openxmlformats.org/drawingml/2006/main">
            <a:off x="4457700" y="2400300"/>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@dataclass(frozen=True)</a:t>
            </a:r>
          </a:p>
        </p:txBody>
      </p:sp>
      <p:sp>
        <p:nvSpPr>
          <p:cNvPr id="22" name="why">
            <a:extLst xmlns:a="http://schemas.openxmlformats.org/drawingml/2006/main">
              <a:ext uri="{FF2B5EF4-FFF2-40B4-BE49-F238E27FC236}">
                <a16:creationId xmlns:a16="http://schemas.microsoft.com/office/drawing/2014/main" id="{955338C8-758C-4ADE-8DB1-9A85221F5F45}"/>
              </a:ext>
            </a:extLst>
          </p:cNvPr>
          <p:cNvSpPr>
            <a:spLocks xmlns:a="http://schemas.openxmlformats.org/drawingml/2006/main" noGrp="1"/>
          </p:cNvSpPr>
          <p:nvPr/>
        </p:nvSpPr>
        <p:spPr>
          <a:xfrm xmlns:a="http://schemas.openxmlformats.org/drawingml/2006/main">
            <a:off x="4381500" y="2790825"/>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Typed, stable run configuration and stages.</a:t>
            </a:r>
          </a:p>
        </p:txBody>
      </p:sp>
      <p:sp>
        <p:nvSpPr>
          <p:cNvPr id="23" name="concept-card">
            <a:extLst xmlns:a="http://schemas.openxmlformats.org/drawingml/2006/main">
              <a:ext uri="{FF2B5EF4-FFF2-40B4-BE49-F238E27FC236}">
                <a16:creationId xmlns:a16="http://schemas.microsoft.com/office/drawing/2014/main" id="{0EABBDDC-F415-4053-A3BF-C16D5A3F8AC9}"/>
              </a:ext>
            </a:extLst>
          </p:cNvPr>
          <p:cNvSpPr>
            <a:spLocks xmlns:a="http://schemas.openxmlformats.org/drawingml/2006/main" noGrp="1"/>
          </p:cNvSpPr>
          <p:nvPr/>
        </p:nvSpPr>
        <p:spPr>
          <a:xfrm xmlns:a="http://schemas.openxmlformats.org/drawingml/2006/main">
            <a:off x="7924800" y="1428750"/>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24" name="label-pill">
            <a:extLst xmlns:a="http://schemas.openxmlformats.org/drawingml/2006/main">
              <a:ext uri="{FF2B5EF4-FFF2-40B4-BE49-F238E27FC236}">
                <a16:creationId xmlns:a16="http://schemas.microsoft.com/office/drawing/2014/main" id="{4FCF242C-A74F-465A-BAA6-3E40726FD859}"/>
              </a:ext>
            </a:extLst>
          </p:cNvPr>
          <p:cNvSpPr>
            <a:spLocks xmlns:a="http://schemas.openxmlformats.org/drawingml/2006/main" noGrp="1"/>
          </p:cNvSpPr>
          <p:nvPr/>
        </p:nvSpPr>
        <p:spPr>
          <a:xfrm xmlns:a="http://schemas.openxmlformats.org/drawingml/2006/main">
            <a:off x="8077200" y="1571625"/>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25" name="label-text">
            <a:extLst xmlns:a="http://schemas.openxmlformats.org/drawingml/2006/main">
              <a:ext uri="{FF2B5EF4-FFF2-40B4-BE49-F238E27FC236}">
                <a16:creationId xmlns:a16="http://schemas.microsoft.com/office/drawing/2014/main" id="{C1FB2FF4-3271-4F92-B0C5-4DF926EAFF72}"/>
              </a:ext>
            </a:extLst>
          </p:cNvPr>
          <p:cNvSpPr>
            <a:spLocks xmlns:a="http://schemas.openxmlformats.org/drawingml/2006/main" noGrp="1"/>
          </p:cNvSpPr>
          <p:nvPr/>
        </p:nvSpPr>
        <p:spPr>
          <a:xfrm xmlns:a="http://schemas.openxmlformats.org/drawingml/2006/main">
            <a:off x="8172450" y="16097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03</a:t>
            </a:r>
          </a:p>
        </p:txBody>
      </p:sp>
      <p:sp>
        <p:nvSpPr>
          <p:cNvPr id="26" name="concept-title">
            <a:extLst xmlns:a="http://schemas.openxmlformats.org/drawingml/2006/main">
              <a:ext uri="{FF2B5EF4-FFF2-40B4-BE49-F238E27FC236}">
                <a16:creationId xmlns:a16="http://schemas.microsoft.com/office/drawing/2014/main" id="{9D8F3BC2-0672-492A-A5F8-5E6A0C646EB2}"/>
              </a:ext>
            </a:extLst>
          </p:cNvPr>
          <p:cNvSpPr>
            <a:spLocks xmlns:a="http://schemas.openxmlformats.org/drawingml/2006/main" noGrp="1"/>
          </p:cNvSpPr>
          <p:nvPr/>
        </p:nvSpPr>
        <p:spPr>
          <a:xfrm xmlns:a="http://schemas.openxmlformats.org/drawingml/2006/main">
            <a:off x="8591550" y="1590675"/>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Context managers</a:t>
            </a:r>
          </a:p>
        </p:txBody>
      </p:sp>
      <p:sp>
        <p:nvSpPr>
          <p:cNvPr id="27" name="concept-source">
            <a:extLst xmlns:a="http://schemas.openxmlformats.org/drawingml/2006/main">
              <a:ext uri="{FF2B5EF4-FFF2-40B4-BE49-F238E27FC236}">
                <a16:creationId xmlns:a16="http://schemas.microsoft.com/office/drawing/2014/main" id="{A6B52871-2FDA-4390-9BB6-120854050E91}"/>
              </a:ext>
            </a:extLst>
          </p:cNvPr>
          <p:cNvSpPr>
            <a:spLocks xmlns:a="http://schemas.openxmlformats.org/drawingml/2006/main" noGrp="1"/>
          </p:cNvSpPr>
          <p:nvPr/>
        </p:nvSpPr>
        <p:spPr>
          <a:xfrm xmlns:a="http://schemas.openxmlformats.org/drawingml/2006/main">
            <a:off x="8096250" y="2000250"/>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extract.py • _fetch / ZIP read</a:t>
            </a:r>
          </a:p>
        </p:txBody>
      </p:sp>
      <p:sp>
        <p:nvSpPr>
          <p:cNvPr id="28" name="code-evidence">
            <a:extLst xmlns:a="http://schemas.openxmlformats.org/drawingml/2006/main">
              <a:ext uri="{FF2B5EF4-FFF2-40B4-BE49-F238E27FC236}">
                <a16:creationId xmlns:a16="http://schemas.microsoft.com/office/drawing/2014/main" id="{B4F7263E-78A1-4D93-A91E-16D514E1BC40}"/>
              </a:ext>
            </a:extLst>
          </p:cNvPr>
          <p:cNvSpPr>
            <a:spLocks xmlns:a="http://schemas.openxmlformats.org/drawingml/2006/main" noGrp="1"/>
          </p:cNvSpPr>
          <p:nvPr/>
        </p:nvSpPr>
        <p:spPr>
          <a:xfrm xmlns:a="http://schemas.openxmlformats.org/drawingml/2006/main">
            <a:off x="8077200" y="2324100"/>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29" name="code">
            <a:extLst xmlns:a="http://schemas.openxmlformats.org/drawingml/2006/main">
              <a:ext uri="{FF2B5EF4-FFF2-40B4-BE49-F238E27FC236}">
                <a16:creationId xmlns:a16="http://schemas.microsoft.com/office/drawing/2014/main" id="{4085EED3-9718-4D85-AE94-05EA1EBD6FE4}"/>
              </a:ext>
            </a:extLst>
          </p:cNvPr>
          <p:cNvSpPr>
            <a:spLocks xmlns:a="http://schemas.openxmlformats.org/drawingml/2006/main" noGrp="1"/>
          </p:cNvSpPr>
          <p:nvPr/>
        </p:nvSpPr>
        <p:spPr>
          <a:xfrm xmlns:a="http://schemas.openxmlformats.org/drawingml/2006/main">
            <a:off x="8172450" y="2400300"/>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with urlopen(...) as response</a:t>
            </a:r>
          </a:p>
        </p:txBody>
      </p:sp>
      <p:sp>
        <p:nvSpPr>
          <p:cNvPr id="30" name="why">
            <a:extLst xmlns:a="http://schemas.openxmlformats.org/drawingml/2006/main">
              <a:ext uri="{FF2B5EF4-FFF2-40B4-BE49-F238E27FC236}">
                <a16:creationId xmlns:a16="http://schemas.microsoft.com/office/drawing/2014/main" id="{37BBBC60-7CE5-422D-AF28-F19A87D6B33A}"/>
              </a:ext>
            </a:extLst>
          </p:cNvPr>
          <p:cNvSpPr>
            <a:spLocks xmlns:a="http://schemas.openxmlformats.org/drawingml/2006/main" noGrp="1"/>
          </p:cNvSpPr>
          <p:nvPr/>
        </p:nvSpPr>
        <p:spPr>
          <a:xfrm xmlns:a="http://schemas.openxmlformats.org/drawingml/2006/main">
            <a:off x="8096250" y="2790825"/>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Closes network/archive resources reliably.</a:t>
            </a:r>
          </a:p>
        </p:txBody>
      </p:sp>
      <p:sp>
        <p:nvSpPr>
          <p:cNvPr id="31" name="concept-card">
            <a:extLst xmlns:a="http://schemas.openxmlformats.org/drawingml/2006/main">
              <a:ext uri="{FF2B5EF4-FFF2-40B4-BE49-F238E27FC236}">
                <a16:creationId xmlns:a16="http://schemas.microsoft.com/office/drawing/2014/main" id="{BED8D847-9AF0-4689-A2AD-BA04B5DB01B5}"/>
              </a:ext>
            </a:extLst>
          </p:cNvPr>
          <p:cNvSpPr>
            <a:spLocks xmlns:a="http://schemas.openxmlformats.org/drawingml/2006/main" noGrp="1"/>
          </p:cNvSpPr>
          <p:nvPr/>
        </p:nvSpPr>
        <p:spPr>
          <a:xfrm xmlns:a="http://schemas.openxmlformats.org/drawingml/2006/main">
            <a:off x="495300" y="3571875"/>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32" name="label-pill">
            <a:extLst xmlns:a="http://schemas.openxmlformats.org/drawingml/2006/main">
              <a:ext uri="{FF2B5EF4-FFF2-40B4-BE49-F238E27FC236}">
                <a16:creationId xmlns:a16="http://schemas.microsoft.com/office/drawing/2014/main" id="{95AF9CD8-DF8C-4181-92EE-ED00949E32B6}"/>
              </a:ext>
            </a:extLst>
          </p:cNvPr>
          <p:cNvSpPr>
            <a:spLocks xmlns:a="http://schemas.openxmlformats.org/drawingml/2006/main" noGrp="1"/>
          </p:cNvSpPr>
          <p:nvPr/>
        </p:nvSpPr>
        <p:spPr>
          <a:xfrm xmlns:a="http://schemas.openxmlformats.org/drawingml/2006/main">
            <a:off x="647700" y="371475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33" name="label-text">
            <a:extLst xmlns:a="http://schemas.openxmlformats.org/drawingml/2006/main">
              <a:ext uri="{FF2B5EF4-FFF2-40B4-BE49-F238E27FC236}">
                <a16:creationId xmlns:a16="http://schemas.microsoft.com/office/drawing/2014/main" id="{5CEF09E8-7013-485B-A534-03EDCEDE3A60}"/>
              </a:ext>
            </a:extLst>
          </p:cNvPr>
          <p:cNvSpPr>
            <a:spLocks xmlns:a="http://schemas.openxmlformats.org/drawingml/2006/main" noGrp="1"/>
          </p:cNvSpPr>
          <p:nvPr/>
        </p:nvSpPr>
        <p:spPr>
          <a:xfrm xmlns:a="http://schemas.openxmlformats.org/drawingml/2006/main">
            <a:off x="742950" y="375285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04</a:t>
            </a:r>
          </a:p>
        </p:txBody>
      </p:sp>
      <p:sp>
        <p:nvSpPr>
          <p:cNvPr id="34" name="concept-title">
            <a:extLst xmlns:a="http://schemas.openxmlformats.org/drawingml/2006/main">
              <a:ext uri="{FF2B5EF4-FFF2-40B4-BE49-F238E27FC236}">
                <a16:creationId xmlns:a16="http://schemas.microsoft.com/office/drawing/2014/main" id="{FA356120-D0AD-4241-A3EB-53B3E90F0382}"/>
              </a:ext>
            </a:extLst>
          </p:cNvPr>
          <p:cNvSpPr>
            <a:spLocks xmlns:a="http://schemas.openxmlformats.org/drawingml/2006/main" noGrp="1"/>
          </p:cNvSpPr>
          <p:nvPr/>
        </p:nvSpPr>
        <p:spPr>
          <a:xfrm xmlns:a="http://schemas.openxmlformats.org/drawingml/2006/main">
            <a:off x="1162050" y="3733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Decorator + ParamSpec</a:t>
            </a:r>
          </a:p>
        </p:txBody>
      </p:sp>
      <p:sp>
        <p:nvSpPr>
          <p:cNvPr id="35" name="concept-source">
            <a:extLst xmlns:a="http://schemas.openxmlformats.org/drawingml/2006/main">
              <a:ext uri="{FF2B5EF4-FFF2-40B4-BE49-F238E27FC236}">
                <a16:creationId xmlns:a16="http://schemas.microsoft.com/office/drawing/2014/main" id="{5D3E4469-A29E-47EE-8F3E-4D6BB0BC656E}"/>
              </a:ext>
            </a:extLst>
          </p:cNvPr>
          <p:cNvSpPr>
            <a:spLocks xmlns:a="http://schemas.openxmlformats.org/drawingml/2006/main" noGrp="1"/>
          </p:cNvSpPr>
          <p:nvPr/>
        </p:nvSpPr>
        <p:spPr>
          <a:xfrm xmlns:a="http://schemas.openxmlformats.org/drawingml/2006/main">
            <a:off x="666750" y="4143375"/>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extract.py • bounded_retry</a:t>
            </a:r>
          </a:p>
        </p:txBody>
      </p:sp>
      <p:sp>
        <p:nvSpPr>
          <p:cNvPr id="36" name="code-evidence">
            <a:extLst xmlns:a="http://schemas.openxmlformats.org/drawingml/2006/main">
              <a:ext uri="{FF2B5EF4-FFF2-40B4-BE49-F238E27FC236}">
                <a16:creationId xmlns:a16="http://schemas.microsoft.com/office/drawing/2014/main" id="{D2F701E3-6B03-4F79-AEAA-63C9F55F6598}"/>
              </a:ext>
            </a:extLst>
          </p:cNvPr>
          <p:cNvSpPr>
            <a:spLocks xmlns:a="http://schemas.openxmlformats.org/drawingml/2006/main" noGrp="1"/>
          </p:cNvSpPr>
          <p:nvPr/>
        </p:nvSpPr>
        <p:spPr>
          <a:xfrm xmlns:a="http://schemas.openxmlformats.org/drawingml/2006/main">
            <a:off x="647700" y="4467225"/>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37" name="code">
            <a:extLst xmlns:a="http://schemas.openxmlformats.org/drawingml/2006/main">
              <a:ext uri="{FF2B5EF4-FFF2-40B4-BE49-F238E27FC236}">
                <a16:creationId xmlns:a16="http://schemas.microsoft.com/office/drawing/2014/main" id="{E5C6239B-E58E-4E3B-83DD-9E74EA1C8920}"/>
              </a:ext>
            </a:extLst>
          </p:cNvPr>
          <p:cNvSpPr>
            <a:spLocks xmlns:a="http://schemas.openxmlformats.org/drawingml/2006/main" noGrp="1"/>
          </p:cNvSpPr>
          <p:nvPr/>
        </p:nvSpPr>
        <p:spPr>
          <a:xfrm xmlns:a="http://schemas.openxmlformats.org/drawingml/2006/main">
            <a:off x="742950" y="4543425"/>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@wraps(function)</a:t>
            </a:r>
          </a:p>
        </p:txBody>
      </p:sp>
      <p:sp>
        <p:nvSpPr>
          <p:cNvPr id="38" name="why">
            <a:extLst xmlns:a="http://schemas.openxmlformats.org/drawingml/2006/main">
              <a:ext uri="{FF2B5EF4-FFF2-40B4-BE49-F238E27FC236}">
                <a16:creationId xmlns:a16="http://schemas.microsoft.com/office/drawing/2014/main" id="{5B5ED258-E799-4041-82F2-0FA450608D0C}"/>
              </a:ext>
            </a:extLst>
          </p:cNvPr>
          <p:cNvSpPr>
            <a:spLocks xmlns:a="http://schemas.openxmlformats.org/drawingml/2006/main" noGrp="1"/>
          </p:cNvSpPr>
          <p:nvPr/>
        </p:nvSpPr>
        <p:spPr>
          <a:xfrm xmlns:a="http://schemas.openxmlformats.org/drawingml/2006/main">
            <a:off x="666750" y="4933950"/>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Retries transient I/O while preserving signature.</a:t>
            </a:r>
          </a:p>
        </p:txBody>
      </p:sp>
      <p:sp>
        <p:nvSpPr>
          <p:cNvPr id="39" name="concept-card">
            <a:extLst xmlns:a="http://schemas.openxmlformats.org/drawingml/2006/main">
              <a:ext uri="{FF2B5EF4-FFF2-40B4-BE49-F238E27FC236}">
                <a16:creationId xmlns:a16="http://schemas.microsoft.com/office/drawing/2014/main" id="{72DADB74-779B-4705-A5EA-686592442D36}"/>
              </a:ext>
            </a:extLst>
          </p:cNvPr>
          <p:cNvSpPr>
            <a:spLocks xmlns:a="http://schemas.openxmlformats.org/drawingml/2006/main" noGrp="1"/>
          </p:cNvSpPr>
          <p:nvPr/>
        </p:nvSpPr>
        <p:spPr>
          <a:xfrm xmlns:a="http://schemas.openxmlformats.org/drawingml/2006/main">
            <a:off x="4210050" y="3571875"/>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40" name="label-pill">
            <a:extLst xmlns:a="http://schemas.openxmlformats.org/drawingml/2006/main">
              <a:ext uri="{FF2B5EF4-FFF2-40B4-BE49-F238E27FC236}">
                <a16:creationId xmlns:a16="http://schemas.microsoft.com/office/drawing/2014/main" id="{3F65839D-C074-4461-8464-435B4009CCB7}"/>
              </a:ext>
            </a:extLst>
          </p:cNvPr>
          <p:cNvSpPr>
            <a:spLocks xmlns:a="http://schemas.openxmlformats.org/drawingml/2006/main" noGrp="1"/>
          </p:cNvSpPr>
          <p:nvPr/>
        </p:nvSpPr>
        <p:spPr>
          <a:xfrm xmlns:a="http://schemas.openxmlformats.org/drawingml/2006/main">
            <a:off x="4362450" y="371475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41" name="label-text">
            <a:extLst xmlns:a="http://schemas.openxmlformats.org/drawingml/2006/main">
              <a:ext uri="{FF2B5EF4-FFF2-40B4-BE49-F238E27FC236}">
                <a16:creationId xmlns:a16="http://schemas.microsoft.com/office/drawing/2014/main" id="{41FB9C0C-3E71-4779-A6B1-FED803E00CC8}"/>
              </a:ext>
            </a:extLst>
          </p:cNvPr>
          <p:cNvSpPr>
            <a:spLocks xmlns:a="http://schemas.openxmlformats.org/drawingml/2006/main" noGrp="1"/>
          </p:cNvSpPr>
          <p:nvPr/>
        </p:nvSpPr>
        <p:spPr>
          <a:xfrm xmlns:a="http://schemas.openxmlformats.org/drawingml/2006/main">
            <a:off x="4457700" y="375285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05</a:t>
            </a:r>
          </a:p>
        </p:txBody>
      </p:sp>
      <p:sp>
        <p:nvSpPr>
          <p:cNvPr id="42" name="concept-title">
            <a:extLst xmlns:a="http://schemas.openxmlformats.org/drawingml/2006/main">
              <a:ext uri="{FF2B5EF4-FFF2-40B4-BE49-F238E27FC236}">
                <a16:creationId xmlns:a16="http://schemas.microsoft.com/office/drawing/2014/main" id="{DD484B5F-EEBE-4A76-891F-73F60268128D}"/>
              </a:ext>
            </a:extLst>
          </p:cNvPr>
          <p:cNvSpPr>
            <a:spLocks xmlns:a="http://schemas.openxmlformats.org/drawingml/2006/main" noGrp="1"/>
          </p:cNvSpPr>
          <p:nvPr/>
        </p:nvSpPr>
        <p:spPr>
          <a:xfrm xmlns:a="http://schemas.openxmlformats.org/drawingml/2006/main">
            <a:off x="4876800" y="3733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Generator + iterator</a:t>
            </a:r>
          </a:p>
        </p:txBody>
      </p:sp>
      <p:sp>
        <p:nvSpPr>
          <p:cNvPr id="43" name="concept-source">
            <a:extLst xmlns:a="http://schemas.openxmlformats.org/drawingml/2006/main">
              <a:ext uri="{FF2B5EF4-FFF2-40B4-BE49-F238E27FC236}">
                <a16:creationId xmlns:a16="http://schemas.microsoft.com/office/drawing/2014/main" id="{2E0A6924-292B-4A6E-88E2-6C26E0C5AF1B}"/>
              </a:ext>
            </a:extLst>
          </p:cNvPr>
          <p:cNvSpPr>
            <a:spLocks xmlns:a="http://schemas.openxmlformats.org/drawingml/2006/main" noGrp="1"/>
          </p:cNvSpPr>
          <p:nvPr/>
        </p:nvSpPr>
        <p:spPr>
          <a:xfrm xmlns:a="http://schemas.openxmlformats.org/drawingml/2006/main">
            <a:off x="4381500" y="4143375"/>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extract.py • iter_nonempty_lines</a:t>
            </a:r>
          </a:p>
        </p:txBody>
      </p:sp>
      <p:sp>
        <p:nvSpPr>
          <p:cNvPr id="44" name="code-evidence">
            <a:extLst xmlns:a="http://schemas.openxmlformats.org/drawingml/2006/main">
              <a:ext uri="{FF2B5EF4-FFF2-40B4-BE49-F238E27FC236}">
                <a16:creationId xmlns:a16="http://schemas.microsoft.com/office/drawing/2014/main" id="{D3B89727-317A-4C7C-B546-E92CE3143897}"/>
              </a:ext>
            </a:extLst>
          </p:cNvPr>
          <p:cNvSpPr>
            <a:spLocks xmlns:a="http://schemas.openxmlformats.org/drawingml/2006/main" noGrp="1"/>
          </p:cNvSpPr>
          <p:nvPr/>
        </p:nvSpPr>
        <p:spPr>
          <a:xfrm xmlns:a="http://schemas.openxmlformats.org/drawingml/2006/main">
            <a:off x="4362450" y="4467225"/>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45" name="code">
            <a:extLst xmlns:a="http://schemas.openxmlformats.org/drawingml/2006/main">
              <a:ext uri="{FF2B5EF4-FFF2-40B4-BE49-F238E27FC236}">
                <a16:creationId xmlns:a16="http://schemas.microsoft.com/office/drawing/2014/main" id="{AEE542F2-8F80-47D6-8A4A-9472141E7854}"/>
              </a:ext>
            </a:extLst>
          </p:cNvPr>
          <p:cNvSpPr>
            <a:spLocks xmlns:a="http://schemas.openxmlformats.org/drawingml/2006/main" noGrp="1"/>
          </p:cNvSpPr>
          <p:nvPr/>
        </p:nvSpPr>
        <p:spPr>
          <a:xfrm xmlns:a="http://schemas.openxmlformats.org/drawingml/2006/main">
            <a:off x="4457700" y="4543425"/>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yield number, line</a:t>
            </a:r>
          </a:p>
        </p:txBody>
      </p:sp>
      <p:sp>
        <p:nvSpPr>
          <p:cNvPr id="46" name="why">
            <a:extLst xmlns:a="http://schemas.openxmlformats.org/drawingml/2006/main">
              <a:ext uri="{FF2B5EF4-FFF2-40B4-BE49-F238E27FC236}">
                <a16:creationId xmlns:a16="http://schemas.microsoft.com/office/drawing/2014/main" id="{198895A1-E791-443B-8271-C210F2EA610C}"/>
              </a:ext>
            </a:extLst>
          </p:cNvPr>
          <p:cNvSpPr>
            <a:spLocks xmlns:a="http://schemas.openxmlformats.org/drawingml/2006/main" noGrp="1"/>
          </p:cNvSpPr>
          <p:nvPr/>
        </p:nvSpPr>
        <p:spPr>
          <a:xfrm xmlns:a="http://schemas.openxmlformats.org/drawingml/2006/main">
            <a:off x="4381500" y="4933950"/>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Streams diagnostic lines on demand.</a:t>
            </a:r>
          </a:p>
        </p:txBody>
      </p:sp>
      <p:sp>
        <p:nvSpPr>
          <p:cNvPr id="47" name="concept-card">
            <a:extLst xmlns:a="http://schemas.openxmlformats.org/drawingml/2006/main">
              <a:ext uri="{FF2B5EF4-FFF2-40B4-BE49-F238E27FC236}">
                <a16:creationId xmlns:a16="http://schemas.microsoft.com/office/drawing/2014/main" id="{BDFDC86D-1193-4486-B834-34DEFAA3B48F}"/>
              </a:ext>
            </a:extLst>
          </p:cNvPr>
          <p:cNvSpPr>
            <a:spLocks xmlns:a="http://schemas.openxmlformats.org/drawingml/2006/main" noGrp="1"/>
          </p:cNvSpPr>
          <p:nvPr/>
        </p:nvSpPr>
        <p:spPr>
          <a:xfrm xmlns:a="http://schemas.openxmlformats.org/drawingml/2006/main">
            <a:off x="7924800" y="3571875"/>
            <a:ext cx="3524250" cy="1952625"/>
          </a:xfrm>
          <a:prstGeom xmlns:a="http://schemas.openxmlformats.org/drawingml/2006/main" prst="roundRect">
            <a:avLst>
              <a:gd name="adj" fmla="val 6829"/>
            </a:avLst>
          </a:prstGeom>
          <a:solidFill xmlns:a="http://schemas.openxmlformats.org/drawingml/2006/main">
            <a:srgbClr val="FFFFFF"/>
          </a:solidFill>
          <a:ln xmlns:a="http://schemas.openxmlformats.org/drawingml/2006/main" w="9525">
            <a:solidFill>
              <a:srgbClr val="D9E2E5"/>
            </a:solidFill>
            <a:prstDash val="solid"/>
          </a:ln>
        </p:spPr>
      </p:sp>
      <p:sp>
        <p:nvSpPr>
          <p:cNvPr id="48" name="label-pill">
            <a:extLst xmlns:a="http://schemas.openxmlformats.org/drawingml/2006/main">
              <a:ext uri="{FF2B5EF4-FFF2-40B4-BE49-F238E27FC236}">
                <a16:creationId xmlns:a16="http://schemas.microsoft.com/office/drawing/2014/main" id="{04DA2B37-F47F-4F11-8529-F991529932C7}"/>
              </a:ext>
            </a:extLst>
          </p:cNvPr>
          <p:cNvSpPr>
            <a:spLocks xmlns:a="http://schemas.openxmlformats.org/drawingml/2006/main" noGrp="1"/>
          </p:cNvSpPr>
          <p:nvPr/>
        </p:nvSpPr>
        <p:spPr>
          <a:xfrm xmlns:a="http://schemas.openxmlformats.org/drawingml/2006/main">
            <a:off x="8077200" y="3714750"/>
            <a:ext cx="400050" cy="266700"/>
          </a:xfrm>
          <a:prstGeom xmlns:a="http://schemas.openxmlformats.org/drawingml/2006/main" prst="roundRect">
            <a:avLst>
              <a:gd name="adj" fmla="val 50000"/>
            </a:avLst>
          </a:prstGeom>
          <a:solidFill xmlns:a="http://schemas.openxmlformats.org/drawingml/2006/main">
            <a:srgbClr val="D9F0EA"/>
          </a:solidFill>
          <a:ln xmlns:a="http://schemas.openxmlformats.org/drawingml/2006/main" w="0">
            <a:noFill/>
            <a:prstDash val="solid"/>
          </a:ln>
        </p:spPr>
      </p:sp>
      <p:sp>
        <p:nvSpPr>
          <p:cNvPr id="49" name="label-text">
            <a:extLst xmlns:a="http://schemas.openxmlformats.org/drawingml/2006/main">
              <a:ext uri="{FF2B5EF4-FFF2-40B4-BE49-F238E27FC236}">
                <a16:creationId xmlns:a16="http://schemas.microsoft.com/office/drawing/2014/main" id="{A77B6ED4-94BF-4083-8FA2-48F4B5D2B4F1}"/>
              </a:ext>
            </a:extLst>
          </p:cNvPr>
          <p:cNvSpPr>
            <a:spLocks xmlns:a="http://schemas.openxmlformats.org/drawingml/2006/main" noGrp="1"/>
          </p:cNvSpPr>
          <p:nvPr/>
        </p:nvSpPr>
        <p:spPr>
          <a:xfrm xmlns:a="http://schemas.openxmlformats.org/drawingml/2006/main">
            <a:off x="8172450" y="3752850"/>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06</a:t>
            </a:r>
          </a:p>
        </p:txBody>
      </p:sp>
      <p:sp>
        <p:nvSpPr>
          <p:cNvPr id="50" name="concept-title">
            <a:extLst xmlns:a="http://schemas.openxmlformats.org/drawingml/2006/main">
              <a:ext uri="{FF2B5EF4-FFF2-40B4-BE49-F238E27FC236}">
                <a16:creationId xmlns:a16="http://schemas.microsoft.com/office/drawing/2014/main" id="{F43D2D7F-206A-4DE2-8390-F3D559B28352}"/>
              </a:ext>
            </a:extLst>
          </p:cNvPr>
          <p:cNvSpPr>
            <a:spLocks xmlns:a="http://schemas.openxmlformats.org/drawingml/2006/main" noGrp="1"/>
          </p:cNvSpPr>
          <p:nvPr/>
        </p:nvSpPr>
        <p:spPr>
          <a:xfrm xmlns:a="http://schemas.openxmlformats.org/drawingml/2006/main">
            <a:off x="8591550" y="37338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B3F"/>
                </a:solidFill>
                <a:latin typeface="Arial"/>
                <a:ea typeface="Arial"/>
                <a:cs typeface="Arial"/>
              </a:defRPr>
            </a:defPPr>
            <a:lvl1pPr algn="l">
              <a:defRPr sz="1350" b="1">
                <a:solidFill>
                  <a:srgbClr val="102B3F"/>
                </a:solidFill>
                <a:latin typeface="Arial"/>
                <a:ea typeface="Arial"/>
                <a:cs typeface="Arial"/>
              </a:defRPr>
            </a:lvl1pPr>
            <a:lvl2pPr algn="l">
              <a:defRPr sz="1350" b="1">
                <a:solidFill>
                  <a:srgbClr val="102B3F"/>
                </a:solidFill>
                <a:latin typeface="Arial"/>
                <a:ea typeface="Arial"/>
                <a:cs typeface="Arial"/>
              </a:defRPr>
            </a:lvl2pPr>
            <a:lvl3pPr algn="l">
              <a:defRPr sz="1350" b="1">
                <a:solidFill>
                  <a:srgbClr val="102B3F"/>
                </a:solidFill>
                <a:latin typeface="Arial"/>
                <a:ea typeface="Arial"/>
                <a:cs typeface="Arial"/>
              </a:defRPr>
            </a:lvl3pPr>
            <a:lvl4pPr algn="l">
              <a:defRPr sz="1350" b="1">
                <a:solidFill>
                  <a:srgbClr val="102B3F"/>
                </a:solidFill>
                <a:latin typeface="Arial"/>
                <a:ea typeface="Arial"/>
                <a:cs typeface="Arial"/>
              </a:defRPr>
            </a:lvl4pPr>
            <a:lvl5pPr algn="l">
              <a:defRPr sz="1350" b="1">
                <a:solidFill>
                  <a:srgbClr val="102B3F"/>
                </a:solidFill>
                <a:latin typeface="Arial"/>
                <a:ea typeface="Arial"/>
                <a:cs typeface="Arial"/>
              </a:defRPr>
            </a:lvl5pPr>
            <a:lvl6pPr algn="l">
              <a:defRPr sz="1350" b="1">
                <a:solidFill>
                  <a:srgbClr val="102B3F"/>
                </a:solidFill>
                <a:latin typeface="Arial"/>
                <a:ea typeface="Arial"/>
                <a:cs typeface="Arial"/>
              </a:defRPr>
            </a:lvl6pPr>
            <a:lvl7pPr algn="l">
              <a:defRPr sz="1350" b="1">
                <a:solidFill>
                  <a:srgbClr val="102B3F"/>
                </a:solidFill>
                <a:latin typeface="Arial"/>
                <a:ea typeface="Arial"/>
                <a:cs typeface="Arial"/>
              </a:defRPr>
            </a:lvl7pPr>
            <a:lvl8pPr algn="l">
              <a:defRPr sz="1350" b="1">
                <a:solidFill>
                  <a:srgbClr val="102B3F"/>
                </a:solidFill>
                <a:latin typeface="Arial"/>
                <a:ea typeface="Arial"/>
                <a:cs typeface="Arial"/>
              </a:defRPr>
            </a:lvl8pPr>
            <a:lvl9pPr algn="l">
              <a:defRPr sz="1350" b="1">
                <a:solidFill>
                  <a:srgbClr val="102B3F"/>
                </a:solidFill>
                <a:latin typeface="Arial"/>
                <a:ea typeface="Arial"/>
                <a:cs typeface="Arial"/>
              </a:defRPr>
            </a:lvl9pPr>
          </a:lstStyle>
          <a:p xmlns:a="http://schemas.openxmlformats.org/drawingml/2006/main">
            <a:pPr algn="l">
              <a:lnSpc>
                <a:spcPct val="100000"/>
              </a:lnSpc>
              <a:buNone/>
              <a:defRPr sz="1350" b="1">
                <a:solidFill>
                  <a:srgbClr val="102B3F"/>
                </a:solidFill>
                <a:latin typeface="Arial"/>
                <a:ea typeface="Arial"/>
                <a:cs typeface="Arial"/>
              </a:defRPr>
            </a:pPr>
            <a:r>
              <a:rPr sz="1350" b="1">
                <a:solidFill>
                  <a:srgbClr val="102B3F"/>
                </a:solidFill>
                <a:latin typeface="Arial"/>
                <a:ea typeface="Arial"/>
                <a:cs typeface="Arial"/>
              </a:rPr>
              <a:t>match / case</a:t>
            </a:r>
          </a:p>
        </p:txBody>
      </p:sp>
      <p:sp>
        <p:nvSpPr>
          <p:cNvPr id="51" name="concept-source">
            <a:extLst xmlns:a="http://schemas.openxmlformats.org/drawingml/2006/main">
              <a:ext uri="{FF2B5EF4-FFF2-40B4-BE49-F238E27FC236}">
                <a16:creationId xmlns:a16="http://schemas.microsoft.com/office/drawing/2014/main" id="{050C3F49-5CB2-4C7F-98A1-ECEDC9BDDC42}"/>
              </a:ext>
            </a:extLst>
          </p:cNvPr>
          <p:cNvSpPr>
            <a:spLocks xmlns:a="http://schemas.openxmlformats.org/drawingml/2006/main" noGrp="1"/>
          </p:cNvSpPr>
          <p:nvPr/>
        </p:nvSpPr>
        <p:spPr>
          <a:xfrm xmlns:a="http://schemas.openxmlformats.org/drawingml/2006/main">
            <a:off x="8096250" y="4143375"/>
            <a:ext cx="3181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87F78"/>
                </a:solidFill>
                <a:latin typeface="Arial"/>
                <a:ea typeface="Arial"/>
                <a:cs typeface="Arial"/>
              </a:defRPr>
            </a:defPPr>
            <a:lvl1pPr algn="l">
              <a:defRPr sz="975" b="1">
                <a:solidFill>
                  <a:srgbClr val="087F78"/>
                </a:solidFill>
                <a:latin typeface="Arial"/>
                <a:ea typeface="Arial"/>
                <a:cs typeface="Arial"/>
              </a:defRPr>
            </a:lvl1pPr>
            <a:lvl2pPr algn="l">
              <a:defRPr sz="975" b="1">
                <a:solidFill>
                  <a:srgbClr val="087F78"/>
                </a:solidFill>
                <a:latin typeface="Arial"/>
                <a:ea typeface="Arial"/>
                <a:cs typeface="Arial"/>
              </a:defRPr>
            </a:lvl2pPr>
            <a:lvl3pPr algn="l">
              <a:defRPr sz="975" b="1">
                <a:solidFill>
                  <a:srgbClr val="087F78"/>
                </a:solidFill>
                <a:latin typeface="Arial"/>
                <a:ea typeface="Arial"/>
                <a:cs typeface="Arial"/>
              </a:defRPr>
            </a:lvl3pPr>
            <a:lvl4pPr algn="l">
              <a:defRPr sz="975" b="1">
                <a:solidFill>
                  <a:srgbClr val="087F78"/>
                </a:solidFill>
                <a:latin typeface="Arial"/>
                <a:ea typeface="Arial"/>
                <a:cs typeface="Arial"/>
              </a:defRPr>
            </a:lvl4pPr>
            <a:lvl5pPr algn="l">
              <a:defRPr sz="975" b="1">
                <a:solidFill>
                  <a:srgbClr val="087F78"/>
                </a:solidFill>
                <a:latin typeface="Arial"/>
                <a:ea typeface="Arial"/>
                <a:cs typeface="Arial"/>
              </a:defRPr>
            </a:lvl5pPr>
            <a:lvl6pPr algn="l">
              <a:defRPr sz="975" b="1">
                <a:solidFill>
                  <a:srgbClr val="087F78"/>
                </a:solidFill>
                <a:latin typeface="Arial"/>
                <a:ea typeface="Arial"/>
                <a:cs typeface="Arial"/>
              </a:defRPr>
            </a:lvl6pPr>
            <a:lvl7pPr algn="l">
              <a:defRPr sz="975" b="1">
                <a:solidFill>
                  <a:srgbClr val="087F78"/>
                </a:solidFill>
                <a:latin typeface="Arial"/>
                <a:ea typeface="Arial"/>
                <a:cs typeface="Arial"/>
              </a:defRPr>
            </a:lvl7pPr>
            <a:lvl8pPr algn="l">
              <a:defRPr sz="975" b="1">
                <a:solidFill>
                  <a:srgbClr val="087F78"/>
                </a:solidFill>
                <a:latin typeface="Arial"/>
                <a:ea typeface="Arial"/>
                <a:cs typeface="Arial"/>
              </a:defRPr>
            </a:lvl8pPr>
            <a:lvl9pPr algn="l">
              <a:defRPr sz="975" b="1">
                <a:solidFill>
                  <a:srgbClr val="087F78"/>
                </a:solidFill>
                <a:latin typeface="Arial"/>
                <a:ea typeface="Arial"/>
                <a:cs typeface="Arial"/>
              </a:defRPr>
            </a:lvl9pPr>
          </a:lstStyle>
          <a:p xmlns:a="http://schemas.openxmlformats.org/drawingml/2006/main">
            <a:pPr algn="l">
              <a:lnSpc>
                <a:spcPct val="100000"/>
              </a:lnSpc>
              <a:buNone/>
              <a:defRPr sz="975" b="1">
                <a:solidFill>
                  <a:srgbClr val="087F78"/>
                </a:solidFill>
                <a:latin typeface="Arial"/>
                <a:ea typeface="Arial"/>
                <a:cs typeface="Arial"/>
              </a:defRPr>
            </a:pPr>
            <a:r>
              <a:rPr sz="975" b="1">
                <a:solidFill>
                  <a:srgbClr val="087F78"/>
                </a:solidFill>
                <a:latin typeface="Arial"/>
                <a:ea typeface="Arial"/>
                <a:cs typeface="Arial"/>
              </a:rPr>
              <a:t>evaluate.py • _interpret_outcome</a:t>
            </a:r>
          </a:p>
        </p:txBody>
      </p:sp>
      <p:sp>
        <p:nvSpPr>
          <p:cNvPr id="52" name="code-evidence">
            <a:extLst xmlns:a="http://schemas.openxmlformats.org/drawingml/2006/main">
              <a:ext uri="{FF2B5EF4-FFF2-40B4-BE49-F238E27FC236}">
                <a16:creationId xmlns:a16="http://schemas.microsoft.com/office/drawing/2014/main" id="{414393C6-52EC-4197-BEBB-CC8CF1100916}"/>
              </a:ext>
            </a:extLst>
          </p:cNvPr>
          <p:cNvSpPr>
            <a:spLocks xmlns:a="http://schemas.openxmlformats.org/drawingml/2006/main" noGrp="1"/>
          </p:cNvSpPr>
          <p:nvPr/>
        </p:nvSpPr>
        <p:spPr>
          <a:xfrm xmlns:a="http://schemas.openxmlformats.org/drawingml/2006/main">
            <a:off x="8077200" y="4467225"/>
            <a:ext cx="3219450" cy="323850"/>
          </a:xfrm>
          <a:prstGeom xmlns:a="http://schemas.openxmlformats.org/drawingml/2006/main" prst="roundRect">
            <a:avLst>
              <a:gd name="adj" fmla="val 20588"/>
            </a:avLst>
          </a:prstGeom>
          <a:solidFill xmlns:a="http://schemas.openxmlformats.org/drawingml/2006/main">
            <a:srgbClr val="102B3F"/>
          </a:solidFill>
          <a:ln xmlns:a="http://schemas.openxmlformats.org/drawingml/2006/main" w="0">
            <a:noFill/>
            <a:prstDash val="solid"/>
          </a:ln>
        </p:spPr>
      </p:sp>
      <p:sp>
        <p:nvSpPr>
          <p:cNvPr id="53" name="code">
            <a:extLst xmlns:a="http://schemas.openxmlformats.org/drawingml/2006/main">
              <a:ext uri="{FF2B5EF4-FFF2-40B4-BE49-F238E27FC236}">
                <a16:creationId xmlns:a16="http://schemas.microsoft.com/office/drawing/2014/main" id="{E89EB4C4-F6F4-4C68-A4AA-D75EB535D764}"/>
              </a:ext>
            </a:extLst>
          </p:cNvPr>
          <p:cNvSpPr>
            <a:spLocks xmlns:a="http://schemas.openxmlformats.org/drawingml/2006/main" noGrp="1"/>
          </p:cNvSpPr>
          <p:nvPr/>
        </p:nvSpPr>
        <p:spPr>
          <a:xfrm xmlns:a="http://schemas.openxmlformats.org/drawingml/2006/main">
            <a:off x="8172450" y="4543425"/>
            <a:ext cx="3028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E4B44C"/>
                </a:solidFill>
                <a:latin typeface="Arial"/>
                <a:ea typeface="Arial"/>
                <a:cs typeface="Arial"/>
              </a:defRPr>
            </a:defPPr>
            <a:lvl1pPr algn="l">
              <a:defRPr sz="975" b="1">
                <a:solidFill>
                  <a:srgbClr val="E4B44C"/>
                </a:solidFill>
                <a:latin typeface="Arial"/>
                <a:ea typeface="Arial"/>
                <a:cs typeface="Arial"/>
              </a:defRPr>
            </a:lvl1pPr>
            <a:lvl2pPr algn="l">
              <a:defRPr sz="975" b="1">
                <a:solidFill>
                  <a:srgbClr val="E4B44C"/>
                </a:solidFill>
                <a:latin typeface="Arial"/>
                <a:ea typeface="Arial"/>
                <a:cs typeface="Arial"/>
              </a:defRPr>
            </a:lvl2pPr>
            <a:lvl3pPr algn="l">
              <a:defRPr sz="975" b="1">
                <a:solidFill>
                  <a:srgbClr val="E4B44C"/>
                </a:solidFill>
                <a:latin typeface="Arial"/>
                <a:ea typeface="Arial"/>
                <a:cs typeface="Arial"/>
              </a:defRPr>
            </a:lvl3pPr>
            <a:lvl4pPr algn="l">
              <a:defRPr sz="975" b="1">
                <a:solidFill>
                  <a:srgbClr val="E4B44C"/>
                </a:solidFill>
                <a:latin typeface="Arial"/>
                <a:ea typeface="Arial"/>
                <a:cs typeface="Arial"/>
              </a:defRPr>
            </a:lvl4pPr>
            <a:lvl5pPr algn="l">
              <a:defRPr sz="975" b="1">
                <a:solidFill>
                  <a:srgbClr val="E4B44C"/>
                </a:solidFill>
                <a:latin typeface="Arial"/>
                <a:ea typeface="Arial"/>
                <a:cs typeface="Arial"/>
              </a:defRPr>
            </a:lvl5pPr>
            <a:lvl6pPr algn="l">
              <a:defRPr sz="975" b="1">
                <a:solidFill>
                  <a:srgbClr val="E4B44C"/>
                </a:solidFill>
                <a:latin typeface="Arial"/>
                <a:ea typeface="Arial"/>
                <a:cs typeface="Arial"/>
              </a:defRPr>
            </a:lvl6pPr>
            <a:lvl7pPr algn="l">
              <a:defRPr sz="975" b="1">
                <a:solidFill>
                  <a:srgbClr val="E4B44C"/>
                </a:solidFill>
                <a:latin typeface="Arial"/>
                <a:ea typeface="Arial"/>
                <a:cs typeface="Arial"/>
              </a:defRPr>
            </a:lvl7pPr>
            <a:lvl8pPr algn="l">
              <a:defRPr sz="975" b="1">
                <a:solidFill>
                  <a:srgbClr val="E4B44C"/>
                </a:solidFill>
                <a:latin typeface="Arial"/>
                <a:ea typeface="Arial"/>
                <a:cs typeface="Arial"/>
              </a:defRPr>
            </a:lvl8pPr>
            <a:lvl9pPr algn="l">
              <a:defRPr sz="975" b="1">
                <a:solidFill>
                  <a:srgbClr val="E4B44C"/>
                </a:solidFill>
                <a:latin typeface="Arial"/>
                <a:ea typeface="Arial"/>
                <a:cs typeface="Arial"/>
              </a:defRPr>
            </a:lvl9pPr>
          </a:lstStyle>
          <a:p xmlns:a="http://schemas.openxmlformats.org/drawingml/2006/main">
            <a:pPr algn="l">
              <a:lnSpc>
                <a:spcPct val="100000"/>
              </a:lnSpc>
              <a:buNone/>
              <a:defRPr sz="975" b="1">
                <a:solidFill>
                  <a:srgbClr val="E4B44C"/>
                </a:solidFill>
                <a:latin typeface="Arial"/>
                <a:ea typeface="Arial"/>
                <a:cs typeface="Arial"/>
              </a:defRPr>
            </a:pPr>
            <a:r>
              <a:rPr sz="975" b="1">
                <a:solidFill>
                  <a:srgbClr val="E4B44C"/>
                </a:solidFill>
                <a:latin typeface="Arial"/>
                <a:ea typeface="Arial"/>
                <a:cs typeface="Arial"/>
              </a:rPr>
              <a:t>match label: case "Dropout":</a:t>
            </a:r>
          </a:p>
        </p:txBody>
      </p:sp>
      <p:sp>
        <p:nvSpPr>
          <p:cNvPr id="54" name="why">
            <a:extLst xmlns:a="http://schemas.openxmlformats.org/drawingml/2006/main">
              <a:ext uri="{FF2B5EF4-FFF2-40B4-BE49-F238E27FC236}">
                <a16:creationId xmlns:a16="http://schemas.microsoft.com/office/drawing/2014/main" id="{BC08BB50-F1E1-4EC1-897E-F5AF278FFF5C}"/>
              </a:ext>
            </a:extLst>
          </p:cNvPr>
          <p:cNvSpPr>
            <a:spLocks xmlns:a="http://schemas.openxmlformats.org/drawingml/2006/main" noGrp="1"/>
          </p:cNvSpPr>
          <p:nvPr/>
        </p:nvSpPr>
        <p:spPr>
          <a:xfrm xmlns:a="http://schemas.openxmlformats.org/drawingml/2006/main">
            <a:off x="8096250" y="4933950"/>
            <a:ext cx="3181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182F41"/>
                </a:solidFill>
                <a:latin typeface="Arial"/>
                <a:ea typeface="Arial"/>
                <a:cs typeface="Arial"/>
              </a:defRPr>
            </a:defPPr>
            <a:lvl1pPr algn="l">
              <a:defRPr sz="1125" b="0">
                <a:solidFill>
                  <a:srgbClr val="182F41"/>
                </a:solidFill>
                <a:latin typeface="Arial"/>
                <a:ea typeface="Arial"/>
                <a:cs typeface="Arial"/>
              </a:defRPr>
            </a:lvl1pPr>
            <a:lvl2pPr algn="l">
              <a:defRPr sz="1125" b="0">
                <a:solidFill>
                  <a:srgbClr val="182F41"/>
                </a:solidFill>
                <a:latin typeface="Arial"/>
                <a:ea typeface="Arial"/>
                <a:cs typeface="Arial"/>
              </a:defRPr>
            </a:lvl2pPr>
            <a:lvl3pPr algn="l">
              <a:defRPr sz="1125" b="0">
                <a:solidFill>
                  <a:srgbClr val="182F41"/>
                </a:solidFill>
                <a:latin typeface="Arial"/>
                <a:ea typeface="Arial"/>
                <a:cs typeface="Arial"/>
              </a:defRPr>
            </a:lvl3pPr>
            <a:lvl4pPr algn="l">
              <a:defRPr sz="1125" b="0">
                <a:solidFill>
                  <a:srgbClr val="182F41"/>
                </a:solidFill>
                <a:latin typeface="Arial"/>
                <a:ea typeface="Arial"/>
                <a:cs typeface="Arial"/>
              </a:defRPr>
            </a:lvl4pPr>
            <a:lvl5pPr algn="l">
              <a:defRPr sz="1125" b="0">
                <a:solidFill>
                  <a:srgbClr val="182F41"/>
                </a:solidFill>
                <a:latin typeface="Arial"/>
                <a:ea typeface="Arial"/>
                <a:cs typeface="Arial"/>
              </a:defRPr>
            </a:lvl5pPr>
            <a:lvl6pPr algn="l">
              <a:defRPr sz="1125" b="0">
                <a:solidFill>
                  <a:srgbClr val="182F41"/>
                </a:solidFill>
                <a:latin typeface="Arial"/>
                <a:ea typeface="Arial"/>
                <a:cs typeface="Arial"/>
              </a:defRPr>
            </a:lvl6pPr>
            <a:lvl7pPr algn="l">
              <a:defRPr sz="1125" b="0">
                <a:solidFill>
                  <a:srgbClr val="182F41"/>
                </a:solidFill>
                <a:latin typeface="Arial"/>
                <a:ea typeface="Arial"/>
                <a:cs typeface="Arial"/>
              </a:defRPr>
            </a:lvl7pPr>
            <a:lvl8pPr algn="l">
              <a:defRPr sz="1125" b="0">
                <a:solidFill>
                  <a:srgbClr val="182F41"/>
                </a:solidFill>
                <a:latin typeface="Arial"/>
                <a:ea typeface="Arial"/>
                <a:cs typeface="Arial"/>
              </a:defRPr>
            </a:lvl8pPr>
            <a:lvl9pPr algn="l">
              <a:defRPr sz="1125" b="0">
                <a:solidFill>
                  <a:srgbClr val="182F41"/>
                </a:solidFill>
                <a:latin typeface="Arial"/>
                <a:ea typeface="Arial"/>
                <a:cs typeface="Arial"/>
              </a:defRPr>
            </a:lvl9pPr>
          </a:lstStyle>
          <a:p xmlns:a="http://schemas.openxmlformats.org/drawingml/2006/main">
            <a:pPr algn="l">
              <a:lnSpc>
                <a:spcPct val="100000"/>
              </a:lnSpc>
              <a:buNone/>
              <a:defRPr sz="1125" b="0">
                <a:solidFill>
                  <a:srgbClr val="182F41"/>
                </a:solidFill>
                <a:latin typeface="Arial"/>
                <a:ea typeface="Arial"/>
                <a:cs typeface="Arial"/>
              </a:defRPr>
            </a:pPr>
            <a:r>
              <a:rPr sz="1125" b="0">
                <a:solidFill>
                  <a:srgbClr val="182F41"/>
                </a:solidFill>
                <a:latin typeface="Arial"/>
                <a:ea typeface="Arial"/>
                <a:cs typeface="Arial"/>
              </a:rPr>
              <a:t>Maps labels to display text exhaustively.</a:t>
            </a:r>
          </a:p>
        </p:txBody>
      </p:sp>
      <p:sp>
        <p:nvSpPr>
          <p:cNvPr id="55" name="python-caveat">
            <a:extLst xmlns:a="http://schemas.openxmlformats.org/drawingml/2006/main">
              <a:ext uri="{FF2B5EF4-FFF2-40B4-BE49-F238E27FC236}">
                <a16:creationId xmlns:a16="http://schemas.microsoft.com/office/drawing/2014/main" id="{AF8187E9-9039-46AC-A6AC-D8645C249EEF}"/>
              </a:ext>
            </a:extLst>
          </p:cNvPr>
          <p:cNvSpPr>
            <a:spLocks xmlns:a="http://schemas.openxmlformats.org/drawingml/2006/main" noGrp="1"/>
          </p:cNvSpPr>
          <p:nvPr/>
        </p:nvSpPr>
        <p:spPr>
          <a:xfrm xmlns:a="http://schemas.openxmlformats.org/drawingml/2006/main">
            <a:off x="495300" y="5934075"/>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64038"/>
                </a:solidFill>
                <a:latin typeface="Arial"/>
                <a:ea typeface="Arial"/>
                <a:cs typeface="Arial"/>
              </a:defRPr>
            </a:defPPr>
            <a:lvl1pPr algn="l">
              <a:defRPr sz="1125" b="1">
                <a:solidFill>
                  <a:srgbClr val="A64038"/>
                </a:solidFill>
                <a:latin typeface="Arial"/>
                <a:ea typeface="Arial"/>
                <a:cs typeface="Arial"/>
              </a:defRPr>
            </a:lvl1pPr>
            <a:lvl2pPr algn="l">
              <a:defRPr sz="1125" b="1">
                <a:solidFill>
                  <a:srgbClr val="A64038"/>
                </a:solidFill>
                <a:latin typeface="Arial"/>
                <a:ea typeface="Arial"/>
                <a:cs typeface="Arial"/>
              </a:defRPr>
            </a:lvl2pPr>
            <a:lvl3pPr algn="l">
              <a:defRPr sz="1125" b="1">
                <a:solidFill>
                  <a:srgbClr val="A64038"/>
                </a:solidFill>
                <a:latin typeface="Arial"/>
                <a:ea typeface="Arial"/>
                <a:cs typeface="Arial"/>
              </a:defRPr>
            </a:lvl3pPr>
            <a:lvl4pPr algn="l">
              <a:defRPr sz="1125" b="1">
                <a:solidFill>
                  <a:srgbClr val="A64038"/>
                </a:solidFill>
                <a:latin typeface="Arial"/>
                <a:ea typeface="Arial"/>
                <a:cs typeface="Arial"/>
              </a:defRPr>
            </a:lvl4pPr>
            <a:lvl5pPr algn="l">
              <a:defRPr sz="1125" b="1">
                <a:solidFill>
                  <a:srgbClr val="A64038"/>
                </a:solidFill>
                <a:latin typeface="Arial"/>
                <a:ea typeface="Arial"/>
                <a:cs typeface="Arial"/>
              </a:defRPr>
            </a:lvl5pPr>
            <a:lvl6pPr algn="l">
              <a:defRPr sz="1125" b="1">
                <a:solidFill>
                  <a:srgbClr val="A64038"/>
                </a:solidFill>
                <a:latin typeface="Arial"/>
                <a:ea typeface="Arial"/>
                <a:cs typeface="Arial"/>
              </a:defRPr>
            </a:lvl6pPr>
            <a:lvl7pPr algn="l">
              <a:defRPr sz="1125" b="1">
                <a:solidFill>
                  <a:srgbClr val="A64038"/>
                </a:solidFill>
                <a:latin typeface="Arial"/>
                <a:ea typeface="Arial"/>
                <a:cs typeface="Arial"/>
              </a:defRPr>
            </a:lvl7pPr>
            <a:lvl8pPr algn="l">
              <a:defRPr sz="1125" b="1">
                <a:solidFill>
                  <a:srgbClr val="A64038"/>
                </a:solidFill>
                <a:latin typeface="Arial"/>
                <a:ea typeface="Arial"/>
                <a:cs typeface="Arial"/>
              </a:defRPr>
            </a:lvl8pPr>
            <a:lvl9pPr algn="l">
              <a:defRPr sz="1125" b="1">
                <a:solidFill>
                  <a:srgbClr val="A64038"/>
                </a:solidFill>
                <a:latin typeface="Arial"/>
                <a:ea typeface="Arial"/>
                <a:cs typeface="Arial"/>
              </a:defRPr>
            </a:lvl9pPr>
          </a:lstStyle>
          <a:p xmlns:a="http://schemas.openxmlformats.org/drawingml/2006/main">
            <a:pPr algn="l">
              <a:lnSpc>
                <a:spcPct val="100000"/>
              </a:lnSpc>
              <a:buNone/>
              <a:defRPr sz="1125" b="1">
                <a:solidFill>
                  <a:srgbClr val="A64038"/>
                </a:solidFill>
                <a:latin typeface="Arial"/>
                <a:ea typeface="Arial"/>
                <a:cs typeface="Arial"/>
              </a:defRPr>
            </a:pPr>
            <a:r>
              <a:rPr sz="1125" b="1">
                <a:solidFill>
                  <a:srgbClr val="A64038"/>
                </a:solidFill>
                <a:latin typeface="Arial"/>
                <a:ea typeface="Arial"/>
                <a:cs typeface="Arial"/>
              </a:rPr>
              <a:t>scikit-learn Pipeline is a model-composition pattern; it is not itself a Python language feature.</a:t>
            </a:r>
          </a:p>
        </p:txBody>
      </p:sp>
    </p:spTree>
    <p:extLst>
      <p:ext uri="{BB962C8B-B14F-4D97-AF65-F5344CB8AC3E}">
        <p14:creationId xmlns:p14="http://schemas.microsoft.com/office/powerpoint/2010/main" val="164202548"/>
      </p:ext>
    </p:extLst>
  </p:cSld>
</p:sld>
</file>

<file path=ppt/slides/slide10.xml><?xml version="1.0" encoding="utf-8"?>
<p:sld xmlns:p="http://schemas.openxmlformats.org/presentationml/2006/main">
  <p:cSld>
    <p:bg>
      <p:bgPr>
        <a:solidFill xmlns:a="http://schemas.openxmlformats.org/drawingml/2006/main">
          <a:srgbClr val="F4F6F4"/>
        </a:solidFill>
      </p:bgPr>
    </p:bg>
    <p:spTree>
      <p:nvGrpSpPr>
        <p:cNvPr id="1" name=""/>
        <p:cNvGrpSpPr/>
        <p:nvPr/>
      </p:nvGrpSpPr>
      <p:grpSpPr>
        <a:xfrm xmlns:a="http://schemas.openxmlformats.org/drawingml/2006/main"/>
      </p:grpSpPr>
      <p:sp>
        <p:nvSpPr>
          <p:cNvPr id="19" name="section-label">
            <a:extLst xmlns:a="http://schemas.openxmlformats.org/drawingml/2006/main">
              <a:ext uri="{FF2B5EF4-FFF2-40B4-BE49-F238E27FC236}">
                <a16:creationId xmlns:a16="http://schemas.microsoft.com/office/drawing/2014/main" id="{20494B41-9B51-4C7A-B1DA-E1F30C2B4B58}"/>
              </a:ext>
            </a:extLst>
          </p:cNvPr>
          <p:cNvSpPr>
            <a:spLocks xmlns:a="http://schemas.openxmlformats.org/drawingml/2006/main" noGrp="1"/>
          </p:cNvSpPr>
          <p:nvPr/>
        </p:nvSpPr>
        <p:spPr>
          <a:xfrm xmlns:a="http://schemas.openxmlformats.org/drawingml/2006/main">
            <a:off x="495300" y="24765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087F78"/>
                </a:solidFill>
                <a:latin typeface="Arial"/>
                <a:ea typeface="Arial"/>
                <a:cs typeface="Arial"/>
              </a:defRPr>
            </a:defPPr>
            <a:lvl1pPr algn="l">
              <a:defRPr sz="900" b="1">
                <a:solidFill>
                  <a:srgbClr val="087F78"/>
                </a:solidFill>
                <a:latin typeface="Arial"/>
                <a:ea typeface="Arial"/>
                <a:cs typeface="Arial"/>
              </a:defRPr>
            </a:lvl1pPr>
            <a:lvl2pPr algn="l">
              <a:defRPr sz="900" b="1">
                <a:solidFill>
                  <a:srgbClr val="087F78"/>
                </a:solidFill>
                <a:latin typeface="Arial"/>
                <a:ea typeface="Arial"/>
                <a:cs typeface="Arial"/>
              </a:defRPr>
            </a:lvl2pPr>
            <a:lvl3pPr algn="l">
              <a:defRPr sz="900" b="1">
                <a:solidFill>
                  <a:srgbClr val="087F78"/>
                </a:solidFill>
                <a:latin typeface="Arial"/>
                <a:ea typeface="Arial"/>
                <a:cs typeface="Arial"/>
              </a:defRPr>
            </a:lvl3pPr>
            <a:lvl4pPr algn="l">
              <a:defRPr sz="900" b="1">
                <a:solidFill>
                  <a:srgbClr val="087F78"/>
                </a:solidFill>
                <a:latin typeface="Arial"/>
                <a:ea typeface="Arial"/>
                <a:cs typeface="Arial"/>
              </a:defRPr>
            </a:lvl4pPr>
            <a:lvl5pPr algn="l">
              <a:defRPr sz="900" b="1">
                <a:solidFill>
                  <a:srgbClr val="087F78"/>
                </a:solidFill>
                <a:latin typeface="Arial"/>
                <a:ea typeface="Arial"/>
                <a:cs typeface="Arial"/>
              </a:defRPr>
            </a:lvl5pPr>
            <a:lvl6pPr algn="l">
              <a:defRPr sz="900" b="1">
                <a:solidFill>
                  <a:srgbClr val="087F78"/>
                </a:solidFill>
                <a:latin typeface="Arial"/>
                <a:ea typeface="Arial"/>
                <a:cs typeface="Arial"/>
              </a:defRPr>
            </a:lvl6pPr>
            <a:lvl7pPr algn="l">
              <a:defRPr sz="900" b="1">
                <a:solidFill>
                  <a:srgbClr val="087F78"/>
                </a:solidFill>
                <a:latin typeface="Arial"/>
                <a:ea typeface="Arial"/>
                <a:cs typeface="Arial"/>
              </a:defRPr>
            </a:lvl7pPr>
            <a:lvl8pPr algn="l">
              <a:defRPr sz="900" b="1">
                <a:solidFill>
                  <a:srgbClr val="087F78"/>
                </a:solidFill>
                <a:latin typeface="Arial"/>
                <a:ea typeface="Arial"/>
                <a:cs typeface="Arial"/>
              </a:defRPr>
            </a:lvl8pPr>
            <a:lvl9pPr algn="l">
              <a:defRPr sz="900" b="1">
                <a:solidFill>
                  <a:srgbClr val="087F78"/>
                </a:solidFill>
                <a:latin typeface="Arial"/>
                <a:ea typeface="Arial"/>
                <a:cs typeface="Arial"/>
              </a:defRPr>
            </a:lvl9pPr>
          </a:lstStyle>
          <a:p xmlns:a="http://schemas.openxmlformats.org/drawingml/2006/main">
            <a:pPr algn="l">
              <a:lnSpc>
                <a:spcPct val="100000"/>
              </a:lnSpc>
              <a:buNone/>
              <a:defRPr sz="900" b="1">
                <a:solidFill>
                  <a:srgbClr val="087F78"/>
                </a:solidFill>
                <a:latin typeface="Arial"/>
                <a:ea typeface="Arial"/>
                <a:cs typeface="Arial"/>
              </a:defRPr>
            </a:pPr>
            <a:r>
              <a:rPr sz="900" b="1">
                <a:solidFill>
                  <a:srgbClr val="087F78"/>
                </a:solidFill>
                <a:latin typeface="Arial"/>
                <a:ea typeface="Arial"/>
                <a:cs typeface="Arial"/>
              </a:rPr>
              <a:t>PROJECT PRESENTATION</a:t>
            </a:r>
          </a:p>
        </p:txBody>
      </p:sp>
      <p:sp>
        <p:nvSpPr>
          <p:cNvPr id="2" name="slide-title">
            <a:extLst xmlns:a="http://schemas.openxmlformats.org/drawingml/2006/main">
              <a:ext uri="{FF2B5EF4-FFF2-40B4-BE49-F238E27FC236}">
                <a16:creationId xmlns:a16="http://schemas.microsoft.com/office/drawing/2014/main" id="{A55482FA-BC8A-4AC3-BD0B-1BAA4A705FE3}"/>
              </a:ext>
            </a:extLst>
          </p:cNvPr>
          <p:cNvSpPr>
            <a:spLocks xmlns:a="http://schemas.openxmlformats.org/drawingml/2006/main" noGrp="1"/>
          </p:cNvSpPr>
          <p:nvPr/>
        </p:nvSpPr>
        <p:spPr>
          <a:xfrm xmlns:a="http://schemas.openxmlformats.org/drawingml/2006/main">
            <a:off x="495300" y="5143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B3F"/>
                </a:solidFill>
                <a:latin typeface="Arial"/>
                <a:ea typeface="Arial"/>
                <a:cs typeface="Arial"/>
              </a:defRPr>
            </a:defPPr>
            <a:lvl1pPr algn="l">
              <a:defRPr sz="2550" b="1">
                <a:solidFill>
                  <a:srgbClr val="102B3F"/>
                </a:solidFill>
                <a:latin typeface="Arial"/>
                <a:ea typeface="Arial"/>
                <a:cs typeface="Arial"/>
              </a:defRPr>
            </a:lvl1pPr>
            <a:lvl2pPr algn="l">
              <a:defRPr sz="2550" b="1">
                <a:solidFill>
                  <a:srgbClr val="102B3F"/>
                </a:solidFill>
                <a:latin typeface="Arial"/>
                <a:ea typeface="Arial"/>
                <a:cs typeface="Arial"/>
              </a:defRPr>
            </a:lvl2pPr>
            <a:lvl3pPr algn="l">
              <a:defRPr sz="2550" b="1">
                <a:solidFill>
                  <a:srgbClr val="102B3F"/>
                </a:solidFill>
                <a:latin typeface="Arial"/>
                <a:ea typeface="Arial"/>
                <a:cs typeface="Arial"/>
              </a:defRPr>
            </a:lvl3pPr>
            <a:lvl4pPr algn="l">
              <a:defRPr sz="2550" b="1">
                <a:solidFill>
                  <a:srgbClr val="102B3F"/>
                </a:solidFill>
                <a:latin typeface="Arial"/>
                <a:ea typeface="Arial"/>
                <a:cs typeface="Arial"/>
              </a:defRPr>
            </a:lvl4pPr>
            <a:lvl5pPr algn="l">
              <a:defRPr sz="2550" b="1">
                <a:solidFill>
                  <a:srgbClr val="102B3F"/>
                </a:solidFill>
                <a:latin typeface="Arial"/>
                <a:ea typeface="Arial"/>
                <a:cs typeface="Arial"/>
              </a:defRPr>
            </a:lvl5pPr>
            <a:lvl6pPr algn="l">
              <a:defRPr sz="2550" b="1">
                <a:solidFill>
                  <a:srgbClr val="102B3F"/>
                </a:solidFill>
                <a:latin typeface="Arial"/>
                <a:ea typeface="Arial"/>
                <a:cs typeface="Arial"/>
              </a:defRPr>
            </a:lvl6pPr>
            <a:lvl7pPr algn="l">
              <a:defRPr sz="2550" b="1">
                <a:solidFill>
                  <a:srgbClr val="102B3F"/>
                </a:solidFill>
                <a:latin typeface="Arial"/>
                <a:ea typeface="Arial"/>
                <a:cs typeface="Arial"/>
              </a:defRPr>
            </a:lvl7pPr>
            <a:lvl8pPr algn="l">
              <a:defRPr sz="2550" b="1">
                <a:solidFill>
                  <a:srgbClr val="102B3F"/>
                </a:solidFill>
                <a:latin typeface="Arial"/>
                <a:ea typeface="Arial"/>
                <a:cs typeface="Arial"/>
              </a:defRPr>
            </a:lvl8pPr>
            <a:lvl9pPr algn="l">
              <a:defRPr sz="2550" b="1">
                <a:solidFill>
                  <a:srgbClr val="102B3F"/>
                </a:solidFill>
                <a:latin typeface="Arial"/>
                <a:ea typeface="Arial"/>
                <a:cs typeface="Arial"/>
              </a:defRPr>
            </a:lvl9pPr>
          </a:lstStyle>
          <a:p xmlns:a="http://schemas.openxmlformats.org/drawingml/2006/main">
            <a:pPr algn="l">
              <a:lnSpc>
                <a:spcPct val="100000"/>
              </a:lnSpc>
              <a:buNone/>
              <a:defRPr sz="2550" b="1">
                <a:solidFill>
                  <a:srgbClr val="102B3F"/>
                </a:solidFill>
                <a:latin typeface="Arial"/>
                <a:ea typeface="Arial"/>
                <a:cs typeface="Arial"/>
              </a:defRPr>
            </a:pPr>
            <a:r>
              <a:rPr sz="2550" b="1">
                <a:solidFill>
                  <a:srgbClr val="102B3F"/>
                </a:solidFill>
                <a:latin typeface="Arial"/>
                <a:ea typeface="Arial"/>
                <a:cs typeface="Arial"/>
              </a:rPr>
              <a:t>What the prototype demonstrates—and what comes next</a:t>
            </a:r>
          </a:p>
        </p:txBody>
      </p:sp>
      <p:sp>
        <p:nvSpPr>
          <p:cNvPr id="3" name="">
            <a:extLst xmlns:a="http://schemas.openxmlformats.org/drawingml/2006/main">
              <a:ext uri="{FF2B5EF4-FFF2-40B4-BE49-F238E27FC236}">
                <a16:creationId xmlns:a16="http://schemas.microsoft.com/office/drawing/2014/main" id="{8A4F5C29-6FC7-4800-A958-A5955ED86B0F}"/>
              </a:ext>
            </a:extLst>
          </p:cNvPr>
          <p:cNvSpPr>
            <a:spLocks xmlns:a="http://schemas.openxmlformats.org/drawingml/2006/main" noGrp="1"/>
          </p:cNvSpPr>
          <p:nvPr/>
        </p:nvSpPr>
        <p:spPr>
          <a:xfrm xmlns:a="http://schemas.openxmlformats.org/drawingml/2006/main" flipH="0">
            <a:off x="495300" y="112395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4" name="">
            <a:extLst xmlns:a="http://schemas.openxmlformats.org/drawingml/2006/main">
              <a:ext uri="{FF2B5EF4-FFF2-40B4-BE49-F238E27FC236}">
                <a16:creationId xmlns:a16="http://schemas.microsoft.com/office/drawing/2014/main" id="{842BAFBB-BE36-4357-97AA-84D4671DC067}"/>
              </a:ext>
            </a:extLst>
          </p:cNvPr>
          <p:cNvSpPr>
            <a:spLocks xmlns:a="http://schemas.openxmlformats.org/drawingml/2006/main" noGrp="1"/>
          </p:cNvSpPr>
          <p:nvPr/>
        </p:nvSpPr>
        <p:spPr>
          <a:xfrm xmlns:a="http://schemas.openxmlformats.org/drawingml/2006/main" flipH="0">
            <a:off x="495300" y="6477000"/>
            <a:ext cx="11201400" cy="9525"/>
          </a:xfrm>
          <a:prstGeom xmlns:a="http://schemas.openxmlformats.org/drawingml/2006/main" prst="line">
            <a:avLst/>
          </a:prstGeom>
          <a:noFill xmlns:a="http://schemas.openxmlformats.org/drawingml/2006/main"/>
          <a:ln xmlns:a="http://schemas.openxmlformats.org/drawingml/2006/main" w="9525">
            <a:solidFill>
              <a:srgbClr val="D9E2E5"/>
            </a:solidFill>
            <a:prstDash val="solid"/>
          </a:ln>
        </p:spPr>
      </p:sp>
      <p:sp>
        <p:nvSpPr>
          <p:cNvPr id="5" name="footer-left">
            <a:extLst xmlns:a="http://schemas.openxmlformats.org/drawingml/2006/main">
              <a:ext uri="{FF2B5EF4-FFF2-40B4-BE49-F238E27FC236}">
                <a16:creationId xmlns:a16="http://schemas.microsoft.com/office/drawing/2014/main" id="{03067E0E-690D-4473-8592-67CD8F6CABC2}"/>
              </a:ext>
            </a:extLst>
          </p:cNvPr>
          <p:cNvSpPr>
            <a:spLocks xmlns:a="http://schemas.openxmlformats.org/drawingml/2006/main" noGrp="1"/>
          </p:cNvSpPr>
          <p:nvPr/>
        </p:nvSpPr>
        <p:spPr>
          <a:xfrm xmlns:a="http://schemas.openxmlformats.org/drawingml/2006/main">
            <a:off x="495300" y="6572250"/>
            <a:ext cx="8382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a:solidFill>
                  <a:srgbClr val="5C7180"/>
                </a:solidFill>
                <a:latin typeface="Arial"/>
                <a:ea typeface="Arial"/>
                <a:cs typeface="Arial"/>
              </a:defRPr>
            </a:defPPr>
            <a:lvl1pPr algn="l">
              <a:defRPr sz="825" b="0">
                <a:solidFill>
                  <a:srgbClr val="5C7180"/>
                </a:solidFill>
                <a:latin typeface="Arial"/>
                <a:ea typeface="Arial"/>
                <a:cs typeface="Arial"/>
              </a:defRPr>
            </a:lvl1pPr>
            <a:lvl2pPr algn="l">
              <a:defRPr sz="825" b="0">
                <a:solidFill>
                  <a:srgbClr val="5C7180"/>
                </a:solidFill>
                <a:latin typeface="Arial"/>
                <a:ea typeface="Arial"/>
                <a:cs typeface="Arial"/>
              </a:defRPr>
            </a:lvl2pPr>
            <a:lvl3pPr algn="l">
              <a:defRPr sz="825" b="0">
                <a:solidFill>
                  <a:srgbClr val="5C7180"/>
                </a:solidFill>
                <a:latin typeface="Arial"/>
                <a:ea typeface="Arial"/>
                <a:cs typeface="Arial"/>
              </a:defRPr>
            </a:lvl3pPr>
            <a:lvl4pPr algn="l">
              <a:defRPr sz="825" b="0">
                <a:solidFill>
                  <a:srgbClr val="5C7180"/>
                </a:solidFill>
                <a:latin typeface="Arial"/>
                <a:ea typeface="Arial"/>
                <a:cs typeface="Arial"/>
              </a:defRPr>
            </a:lvl4pPr>
            <a:lvl5pPr algn="l">
              <a:defRPr sz="825" b="0">
                <a:solidFill>
                  <a:srgbClr val="5C7180"/>
                </a:solidFill>
                <a:latin typeface="Arial"/>
                <a:ea typeface="Arial"/>
                <a:cs typeface="Arial"/>
              </a:defRPr>
            </a:lvl5pPr>
            <a:lvl6pPr algn="l">
              <a:defRPr sz="825" b="0">
                <a:solidFill>
                  <a:srgbClr val="5C7180"/>
                </a:solidFill>
                <a:latin typeface="Arial"/>
                <a:ea typeface="Arial"/>
                <a:cs typeface="Arial"/>
              </a:defRPr>
            </a:lvl6pPr>
            <a:lvl7pPr algn="l">
              <a:defRPr sz="825" b="0">
                <a:solidFill>
                  <a:srgbClr val="5C7180"/>
                </a:solidFill>
                <a:latin typeface="Arial"/>
                <a:ea typeface="Arial"/>
                <a:cs typeface="Arial"/>
              </a:defRPr>
            </a:lvl7pPr>
            <a:lvl8pPr algn="l">
              <a:defRPr sz="825" b="0">
                <a:solidFill>
                  <a:srgbClr val="5C7180"/>
                </a:solidFill>
                <a:latin typeface="Arial"/>
                <a:ea typeface="Arial"/>
                <a:cs typeface="Arial"/>
              </a:defRPr>
            </a:lvl8pPr>
            <a:lvl9pPr algn="l">
              <a:defRPr sz="825" b="0">
                <a:solidFill>
                  <a:srgbClr val="5C7180"/>
                </a:solidFill>
                <a:latin typeface="Arial"/>
                <a:ea typeface="Arial"/>
                <a:cs typeface="Arial"/>
              </a:defRPr>
            </a:lvl9pPr>
          </a:lstStyle>
          <a:p xmlns:a="http://schemas.openxmlformats.org/drawingml/2006/main">
            <a:pPr algn="l">
              <a:lnSpc>
                <a:spcPct val="100000"/>
              </a:lnSpc>
              <a:buNone/>
              <a:defRPr sz="825" b="0">
                <a:solidFill>
                  <a:srgbClr val="5C7180"/>
                </a:solidFill>
                <a:latin typeface="Arial"/>
                <a:ea typeface="Arial"/>
                <a:cs typeface="Arial"/>
              </a:defRPr>
            </a:pPr>
            <a:r>
              <a:rPr sz="825" b="0">
                <a:solidFill>
                  <a:srgbClr val="5C7180"/>
                </a:solidFill>
                <a:latin typeface="Arial"/>
                <a:ea typeface="Arial"/>
                <a:cs typeface="Arial"/>
              </a:rPr>
              <a:t>KCA University  •  CPP 4201  •  Advanced Python Programming</a:t>
            </a:r>
          </a:p>
        </p:txBody>
      </p:sp>
      <p:sp>
        <p:nvSpPr>
          <p:cNvPr id="6" name="slide-number">
            <a:extLst xmlns:a="http://schemas.openxmlformats.org/drawingml/2006/main">
              <a:ext uri="{FF2B5EF4-FFF2-40B4-BE49-F238E27FC236}">
                <a16:creationId xmlns:a16="http://schemas.microsoft.com/office/drawing/2014/main" id="{456190C8-AFF7-45EB-B191-F016C1A61A0D}"/>
              </a:ext>
            </a:extLst>
          </p:cNvPr>
          <p:cNvSpPr>
            <a:spLocks xmlns:a="http://schemas.openxmlformats.org/drawingml/2006/main" noGrp="1"/>
          </p:cNvSpPr>
          <p:nvPr/>
        </p:nvSpPr>
        <p:spPr>
          <a:xfrm xmlns:a="http://schemas.openxmlformats.org/drawingml/2006/main">
            <a:off x="10858500" y="65532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1">
                <a:solidFill>
                  <a:srgbClr val="5C7180"/>
                </a:solidFill>
                <a:latin typeface="Arial"/>
                <a:ea typeface="Arial"/>
                <a:cs typeface="Arial"/>
              </a:defRPr>
            </a:defPPr>
            <a:lvl1pPr algn="r">
              <a:defRPr sz="900" b="1">
                <a:solidFill>
                  <a:srgbClr val="5C7180"/>
                </a:solidFill>
                <a:latin typeface="Arial"/>
                <a:ea typeface="Arial"/>
                <a:cs typeface="Arial"/>
              </a:defRPr>
            </a:lvl1pPr>
            <a:lvl2pPr algn="r">
              <a:defRPr sz="900" b="1">
                <a:solidFill>
                  <a:srgbClr val="5C7180"/>
                </a:solidFill>
                <a:latin typeface="Arial"/>
                <a:ea typeface="Arial"/>
                <a:cs typeface="Arial"/>
              </a:defRPr>
            </a:lvl2pPr>
            <a:lvl3pPr algn="r">
              <a:defRPr sz="900" b="1">
                <a:solidFill>
                  <a:srgbClr val="5C7180"/>
                </a:solidFill>
                <a:latin typeface="Arial"/>
                <a:ea typeface="Arial"/>
                <a:cs typeface="Arial"/>
              </a:defRPr>
            </a:lvl3pPr>
            <a:lvl4pPr algn="r">
              <a:defRPr sz="900" b="1">
                <a:solidFill>
                  <a:srgbClr val="5C7180"/>
                </a:solidFill>
                <a:latin typeface="Arial"/>
                <a:ea typeface="Arial"/>
                <a:cs typeface="Arial"/>
              </a:defRPr>
            </a:lvl4pPr>
            <a:lvl5pPr algn="r">
              <a:defRPr sz="900" b="1">
                <a:solidFill>
                  <a:srgbClr val="5C7180"/>
                </a:solidFill>
                <a:latin typeface="Arial"/>
                <a:ea typeface="Arial"/>
                <a:cs typeface="Arial"/>
              </a:defRPr>
            </a:lvl5pPr>
            <a:lvl6pPr algn="r">
              <a:defRPr sz="900" b="1">
                <a:solidFill>
                  <a:srgbClr val="5C7180"/>
                </a:solidFill>
                <a:latin typeface="Arial"/>
                <a:ea typeface="Arial"/>
                <a:cs typeface="Arial"/>
              </a:defRPr>
            </a:lvl6pPr>
            <a:lvl7pPr algn="r">
              <a:defRPr sz="900" b="1">
                <a:solidFill>
                  <a:srgbClr val="5C7180"/>
                </a:solidFill>
                <a:latin typeface="Arial"/>
                <a:ea typeface="Arial"/>
                <a:cs typeface="Arial"/>
              </a:defRPr>
            </a:lvl7pPr>
            <a:lvl8pPr algn="r">
              <a:defRPr sz="900" b="1">
                <a:solidFill>
                  <a:srgbClr val="5C7180"/>
                </a:solidFill>
                <a:latin typeface="Arial"/>
                <a:ea typeface="Arial"/>
                <a:cs typeface="Arial"/>
              </a:defRPr>
            </a:lvl8pPr>
            <a:lvl9pPr algn="r">
              <a:defRPr sz="900" b="1">
                <a:solidFill>
                  <a:srgbClr val="5C7180"/>
                </a:solidFill>
                <a:latin typeface="Arial"/>
                <a:ea typeface="Arial"/>
                <a:cs typeface="Arial"/>
              </a:defRPr>
            </a:lvl9pPr>
          </a:lstStyle>
          <a:p xmlns:a="http://schemas.openxmlformats.org/drawingml/2006/main">
            <a:pPr algn="r">
              <a:lnSpc>
                <a:spcPct val="100000"/>
              </a:lnSpc>
              <a:buNone/>
              <a:defRPr sz="900" b="1">
                <a:solidFill>
                  <a:srgbClr val="5C7180"/>
                </a:solidFill>
                <a:latin typeface="Arial"/>
                <a:ea typeface="Arial"/>
                <a:cs typeface="Arial"/>
              </a:defRPr>
            </a:pPr>
            <a:r>
              <a:rPr sz="900" b="1">
                <a:solidFill>
                  <a:srgbClr val="5C7180"/>
                </a:solidFill>
                <a:latin typeface="Arial"/>
                <a:ea typeface="Arial"/>
                <a:cs typeface="Arial"/>
              </a:rPr>
              <a:t>10 / 10</a:t>
            </a:r>
          </a:p>
        </p:txBody>
      </p:sp>
      <p:sp>
        <p:nvSpPr>
          <p:cNvPr id="7" name="closing-column">
            <a:extLst xmlns:a="http://schemas.openxmlformats.org/drawingml/2006/main">
              <a:ext uri="{FF2B5EF4-FFF2-40B4-BE49-F238E27FC236}">
                <a16:creationId xmlns:a16="http://schemas.microsoft.com/office/drawing/2014/main" id="{BEE88053-3D0C-456C-9548-2AE2385D2F8F}"/>
              </a:ext>
            </a:extLst>
          </p:cNvPr>
          <p:cNvSpPr>
            <a:spLocks xmlns:a="http://schemas.openxmlformats.org/drawingml/2006/main" noGrp="1"/>
          </p:cNvSpPr>
          <p:nvPr/>
        </p:nvSpPr>
        <p:spPr>
          <a:xfrm xmlns:a="http://schemas.openxmlformats.org/drawingml/2006/main">
            <a:off x="495300" y="1466850"/>
            <a:ext cx="3581400" cy="3590925"/>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9E2E5"/>
            </a:solidFill>
            <a:prstDash val="solid"/>
          </a:ln>
        </p:spPr>
      </p:sp>
      <p:sp>
        <p:nvSpPr>
          <p:cNvPr id="8" name="closing-title">
            <a:extLst xmlns:a="http://schemas.openxmlformats.org/drawingml/2006/main">
              <a:ext uri="{FF2B5EF4-FFF2-40B4-BE49-F238E27FC236}">
                <a16:creationId xmlns:a16="http://schemas.microsoft.com/office/drawing/2014/main" id="{AF1CB688-C41D-48A8-A2DD-52E1C4C29190}"/>
              </a:ext>
            </a:extLst>
          </p:cNvPr>
          <p:cNvSpPr>
            <a:spLocks xmlns:a="http://schemas.openxmlformats.org/drawingml/2006/main" noGrp="1"/>
          </p:cNvSpPr>
          <p:nvPr/>
        </p:nvSpPr>
        <p:spPr>
          <a:xfrm xmlns:a="http://schemas.openxmlformats.org/drawingml/2006/main">
            <a:off x="704850" y="169545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F78"/>
                </a:solidFill>
                <a:latin typeface="Arial"/>
                <a:ea typeface="Arial"/>
                <a:cs typeface="Arial"/>
              </a:defRPr>
            </a:defPPr>
            <a:lvl1pPr algn="l">
              <a:defRPr sz="1125" b="1">
                <a:solidFill>
                  <a:srgbClr val="087F78"/>
                </a:solidFill>
                <a:latin typeface="Arial"/>
                <a:ea typeface="Arial"/>
                <a:cs typeface="Arial"/>
              </a:defRPr>
            </a:lvl1pPr>
            <a:lvl2pPr algn="l">
              <a:defRPr sz="1125" b="1">
                <a:solidFill>
                  <a:srgbClr val="087F78"/>
                </a:solidFill>
                <a:latin typeface="Arial"/>
                <a:ea typeface="Arial"/>
                <a:cs typeface="Arial"/>
              </a:defRPr>
            </a:lvl2pPr>
            <a:lvl3pPr algn="l">
              <a:defRPr sz="1125" b="1">
                <a:solidFill>
                  <a:srgbClr val="087F78"/>
                </a:solidFill>
                <a:latin typeface="Arial"/>
                <a:ea typeface="Arial"/>
                <a:cs typeface="Arial"/>
              </a:defRPr>
            </a:lvl3pPr>
            <a:lvl4pPr algn="l">
              <a:defRPr sz="1125" b="1">
                <a:solidFill>
                  <a:srgbClr val="087F78"/>
                </a:solidFill>
                <a:latin typeface="Arial"/>
                <a:ea typeface="Arial"/>
                <a:cs typeface="Arial"/>
              </a:defRPr>
            </a:lvl4pPr>
            <a:lvl5pPr algn="l">
              <a:defRPr sz="1125" b="1">
                <a:solidFill>
                  <a:srgbClr val="087F78"/>
                </a:solidFill>
                <a:latin typeface="Arial"/>
                <a:ea typeface="Arial"/>
                <a:cs typeface="Arial"/>
              </a:defRPr>
            </a:lvl5pPr>
            <a:lvl6pPr algn="l">
              <a:defRPr sz="1125" b="1">
                <a:solidFill>
                  <a:srgbClr val="087F78"/>
                </a:solidFill>
                <a:latin typeface="Arial"/>
                <a:ea typeface="Arial"/>
                <a:cs typeface="Arial"/>
              </a:defRPr>
            </a:lvl6pPr>
            <a:lvl7pPr algn="l">
              <a:defRPr sz="1125" b="1">
                <a:solidFill>
                  <a:srgbClr val="087F78"/>
                </a:solidFill>
                <a:latin typeface="Arial"/>
                <a:ea typeface="Arial"/>
                <a:cs typeface="Arial"/>
              </a:defRPr>
            </a:lvl7pPr>
            <a:lvl8pPr algn="l">
              <a:defRPr sz="1125" b="1">
                <a:solidFill>
                  <a:srgbClr val="087F78"/>
                </a:solidFill>
                <a:latin typeface="Arial"/>
                <a:ea typeface="Arial"/>
                <a:cs typeface="Arial"/>
              </a:defRPr>
            </a:lvl8pPr>
            <a:lvl9pPr algn="l">
              <a:defRPr sz="1125" b="1">
                <a:solidFill>
                  <a:srgbClr val="087F78"/>
                </a:solidFill>
                <a:latin typeface="Arial"/>
                <a:ea typeface="Arial"/>
                <a:cs typeface="Arial"/>
              </a:defRPr>
            </a:lvl9pPr>
          </a:lstStyle>
          <a:p xmlns:a="http://schemas.openxmlformats.org/drawingml/2006/main">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LIVE DEMO • 3 MIN</a:t>
            </a:r>
          </a:p>
        </p:txBody>
      </p:sp>
      <p:sp>
        <p:nvSpPr>
          <p:cNvPr id="9" name="closing-copy">
            <a:extLst xmlns:a="http://schemas.openxmlformats.org/drawingml/2006/main">
              <a:ext uri="{FF2B5EF4-FFF2-40B4-BE49-F238E27FC236}">
                <a16:creationId xmlns:a16="http://schemas.microsoft.com/office/drawing/2014/main" id="{BCE12686-76BC-4725-A555-CC8B19FC8BDB}"/>
              </a:ext>
            </a:extLst>
          </p:cNvPr>
          <p:cNvSpPr>
            <a:spLocks xmlns:a="http://schemas.openxmlformats.org/drawingml/2006/main" noGrp="1"/>
          </p:cNvSpPr>
          <p:nvPr/>
        </p:nvSpPr>
        <p:spPr>
          <a:xfrm xmlns:a="http://schemas.openxmlformats.org/drawingml/2006/main">
            <a:off x="704850" y="2152650"/>
            <a:ext cx="3162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82F41"/>
                </a:solidFill>
                <a:latin typeface="Arial"/>
                <a:ea typeface="Arial"/>
                <a:cs typeface="Arial"/>
              </a:defRPr>
            </a:defPPr>
            <a:lvl1pPr algn="l">
              <a:defRPr sz="1275" b="0">
                <a:solidFill>
                  <a:srgbClr val="182F41"/>
                </a:solidFill>
                <a:latin typeface="Arial"/>
                <a:ea typeface="Arial"/>
                <a:cs typeface="Arial"/>
              </a:defRPr>
            </a:lvl1pPr>
            <a:lvl2pPr algn="l">
              <a:defRPr sz="1275" b="0">
                <a:solidFill>
                  <a:srgbClr val="182F41"/>
                </a:solidFill>
                <a:latin typeface="Arial"/>
                <a:ea typeface="Arial"/>
                <a:cs typeface="Arial"/>
              </a:defRPr>
            </a:lvl2pPr>
            <a:lvl3pPr algn="l">
              <a:defRPr sz="1275" b="0">
                <a:solidFill>
                  <a:srgbClr val="182F41"/>
                </a:solidFill>
                <a:latin typeface="Arial"/>
                <a:ea typeface="Arial"/>
                <a:cs typeface="Arial"/>
              </a:defRPr>
            </a:lvl3pPr>
            <a:lvl4pPr algn="l">
              <a:defRPr sz="1275" b="0">
                <a:solidFill>
                  <a:srgbClr val="182F41"/>
                </a:solidFill>
                <a:latin typeface="Arial"/>
                <a:ea typeface="Arial"/>
                <a:cs typeface="Arial"/>
              </a:defRPr>
            </a:lvl4pPr>
            <a:lvl5pPr algn="l">
              <a:defRPr sz="1275" b="0">
                <a:solidFill>
                  <a:srgbClr val="182F41"/>
                </a:solidFill>
                <a:latin typeface="Arial"/>
                <a:ea typeface="Arial"/>
                <a:cs typeface="Arial"/>
              </a:defRPr>
            </a:lvl5pPr>
            <a:lvl6pPr algn="l">
              <a:defRPr sz="1275" b="0">
                <a:solidFill>
                  <a:srgbClr val="182F41"/>
                </a:solidFill>
                <a:latin typeface="Arial"/>
                <a:ea typeface="Arial"/>
                <a:cs typeface="Arial"/>
              </a:defRPr>
            </a:lvl6pPr>
            <a:lvl7pPr algn="l">
              <a:defRPr sz="1275" b="0">
                <a:solidFill>
                  <a:srgbClr val="182F41"/>
                </a:solidFill>
                <a:latin typeface="Arial"/>
                <a:ea typeface="Arial"/>
                <a:cs typeface="Arial"/>
              </a:defRPr>
            </a:lvl7pPr>
            <a:lvl8pPr algn="l">
              <a:defRPr sz="1275" b="0">
                <a:solidFill>
                  <a:srgbClr val="182F41"/>
                </a:solidFill>
                <a:latin typeface="Arial"/>
                <a:ea typeface="Arial"/>
                <a:cs typeface="Arial"/>
              </a:defRPr>
            </a:lvl8pPr>
            <a:lvl9pPr algn="l">
              <a:defRPr sz="1275" b="0">
                <a:solidFill>
                  <a:srgbClr val="182F41"/>
                </a:solidFill>
                <a:latin typeface="Arial"/>
                <a:ea typeface="Arial"/>
                <a:cs typeface="Arial"/>
              </a:defRPr>
            </a:lvl9pPr>
          </a:lstStyle>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1  University overview</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2  Model transparency</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3  Support Chat: “I’m overwhelmed by CATs and revision.”</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4  Support Directory and Study Reset</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5  Pseudonymous case workflow</a:t>
            </a:r>
          </a:p>
        </p:txBody>
      </p:sp>
      <p:sp>
        <p:nvSpPr>
          <p:cNvPr id="10" name="closing-column">
            <a:extLst xmlns:a="http://schemas.openxmlformats.org/drawingml/2006/main">
              <a:ext uri="{FF2B5EF4-FFF2-40B4-BE49-F238E27FC236}">
                <a16:creationId xmlns:a16="http://schemas.microsoft.com/office/drawing/2014/main" id="{38D95DA1-4C74-4CC8-9D62-B81B71799536}"/>
              </a:ext>
            </a:extLst>
          </p:cNvPr>
          <p:cNvSpPr>
            <a:spLocks xmlns:a="http://schemas.openxmlformats.org/drawingml/2006/main" noGrp="1"/>
          </p:cNvSpPr>
          <p:nvPr/>
        </p:nvSpPr>
        <p:spPr>
          <a:xfrm xmlns:a="http://schemas.openxmlformats.org/drawingml/2006/main">
            <a:off x="4305300" y="1466850"/>
            <a:ext cx="3581400" cy="3590925"/>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9E2E5"/>
            </a:solidFill>
            <a:prstDash val="solid"/>
          </a:ln>
        </p:spPr>
      </p:sp>
      <p:sp>
        <p:nvSpPr>
          <p:cNvPr id="11" name="closing-title">
            <a:extLst xmlns:a="http://schemas.openxmlformats.org/drawingml/2006/main">
              <a:ext uri="{FF2B5EF4-FFF2-40B4-BE49-F238E27FC236}">
                <a16:creationId xmlns:a16="http://schemas.microsoft.com/office/drawing/2014/main" id="{53732862-003F-4CCD-A1F3-8936C01D390A}"/>
              </a:ext>
            </a:extLst>
          </p:cNvPr>
          <p:cNvSpPr>
            <a:spLocks xmlns:a="http://schemas.openxmlformats.org/drawingml/2006/main" noGrp="1"/>
          </p:cNvSpPr>
          <p:nvPr/>
        </p:nvSpPr>
        <p:spPr>
          <a:xfrm xmlns:a="http://schemas.openxmlformats.org/drawingml/2006/main">
            <a:off x="4514850" y="169545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F78"/>
                </a:solidFill>
                <a:latin typeface="Arial"/>
                <a:ea typeface="Arial"/>
                <a:cs typeface="Arial"/>
              </a:defRPr>
            </a:defPPr>
            <a:lvl1pPr algn="l">
              <a:defRPr sz="1125" b="1">
                <a:solidFill>
                  <a:srgbClr val="087F78"/>
                </a:solidFill>
                <a:latin typeface="Arial"/>
                <a:ea typeface="Arial"/>
                <a:cs typeface="Arial"/>
              </a:defRPr>
            </a:lvl1pPr>
            <a:lvl2pPr algn="l">
              <a:defRPr sz="1125" b="1">
                <a:solidFill>
                  <a:srgbClr val="087F78"/>
                </a:solidFill>
                <a:latin typeface="Arial"/>
                <a:ea typeface="Arial"/>
                <a:cs typeface="Arial"/>
              </a:defRPr>
            </a:lvl2pPr>
            <a:lvl3pPr algn="l">
              <a:defRPr sz="1125" b="1">
                <a:solidFill>
                  <a:srgbClr val="087F78"/>
                </a:solidFill>
                <a:latin typeface="Arial"/>
                <a:ea typeface="Arial"/>
                <a:cs typeface="Arial"/>
              </a:defRPr>
            </a:lvl3pPr>
            <a:lvl4pPr algn="l">
              <a:defRPr sz="1125" b="1">
                <a:solidFill>
                  <a:srgbClr val="087F78"/>
                </a:solidFill>
                <a:latin typeface="Arial"/>
                <a:ea typeface="Arial"/>
                <a:cs typeface="Arial"/>
              </a:defRPr>
            </a:lvl4pPr>
            <a:lvl5pPr algn="l">
              <a:defRPr sz="1125" b="1">
                <a:solidFill>
                  <a:srgbClr val="087F78"/>
                </a:solidFill>
                <a:latin typeface="Arial"/>
                <a:ea typeface="Arial"/>
                <a:cs typeface="Arial"/>
              </a:defRPr>
            </a:lvl5pPr>
            <a:lvl6pPr algn="l">
              <a:defRPr sz="1125" b="1">
                <a:solidFill>
                  <a:srgbClr val="087F78"/>
                </a:solidFill>
                <a:latin typeface="Arial"/>
                <a:ea typeface="Arial"/>
                <a:cs typeface="Arial"/>
              </a:defRPr>
            </a:lvl6pPr>
            <a:lvl7pPr algn="l">
              <a:defRPr sz="1125" b="1">
                <a:solidFill>
                  <a:srgbClr val="087F78"/>
                </a:solidFill>
                <a:latin typeface="Arial"/>
                <a:ea typeface="Arial"/>
                <a:cs typeface="Arial"/>
              </a:defRPr>
            </a:lvl7pPr>
            <a:lvl8pPr algn="l">
              <a:defRPr sz="1125" b="1">
                <a:solidFill>
                  <a:srgbClr val="087F78"/>
                </a:solidFill>
                <a:latin typeface="Arial"/>
                <a:ea typeface="Arial"/>
                <a:cs typeface="Arial"/>
              </a:defRPr>
            </a:lvl8pPr>
            <a:lvl9pPr algn="l">
              <a:defRPr sz="1125" b="1">
                <a:solidFill>
                  <a:srgbClr val="087F78"/>
                </a:solidFill>
                <a:latin typeface="Arial"/>
                <a:ea typeface="Arial"/>
                <a:cs typeface="Arial"/>
              </a:defRPr>
            </a:lvl9pPr>
          </a:lstStyle>
          <a:p xmlns:a="http://schemas.openxmlformats.org/drawingml/2006/main">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ENGINEERING LESSONS</a:t>
            </a:r>
          </a:p>
        </p:txBody>
      </p:sp>
      <p:sp>
        <p:nvSpPr>
          <p:cNvPr id="12" name="closing-copy">
            <a:extLst xmlns:a="http://schemas.openxmlformats.org/drawingml/2006/main">
              <a:ext uri="{FF2B5EF4-FFF2-40B4-BE49-F238E27FC236}">
                <a16:creationId xmlns:a16="http://schemas.microsoft.com/office/drawing/2014/main" id="{2C491BD5-D362-4A27-8FFF-19B4ADA49008}"/>
              </a:ext>
            </a:extLst>
          </p:cNvPr>
          <p:cNvSpPr>
            <a:spLocks xmlns:a="http://schemas.openxmlformats.org/drawingml/2006/main" noGrp="1"/>
          </p:cNvSpPr>
          <p:nvPr/>
        </p:nvSpPr>
        <p:spPr>
          <a:xfrm xmlns:a="http://schemas.openxmlformats.org/drawingml/2006/main">
            <a:off x="4514850" y="2152650"/>
            <a:ext cx="3162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82F41"/>
                </a:solidFill>
                <a:latin typeface="Arial"/>
                <a:ea typeface="Arial"/>
                <a:cs typeface="Arial"/>
              </a:defRPr>
            </a:defPPr>
            <a:lvl1pPr algn="l">
              <a:defRPr sz="1275" b="0">
                <a:solidFill>
                  <a:srgbClr val="182F41"/>
                </a:solidFill>
                <a:latin typeface="Arial"/>
                <a:ea typeface="Arial"/>
                <a:cs typeface="Arial"/>
              </a:defRPr>
            </a:lvl1pPr>
            <a:lvl2pPr algn="l">
              <a:defRPr sz="1275" b="0">
                <a:solidFill>
                  <a:srgbClr val="182F41"/>
                </a:solidFill>
                <a:latin typeface="Arial"/>
                <a:ea typeface="Arial"/>
                <a:cs typeface="Arial"/>
              </a:defRPr>
            </a:lvl2pPr>
            <a:lvl3pPr algn="l">
              <a:defRPr sz="1275" b="0">
                <a:solidFill>
                  <a:srgbClr val="182F41"/>
                </a:solidFill>
                <a:latin typeface="Arial"/>
                <a:ea typeface="Arial"/>
                <a:cs typeface="Arial"/>
              </a:defRPr>
            </a:lvl3pPr>
            <a:lvl4pPr algn="l">
              <a:defRPr sz="1275" b="0">
                <a:solidFill>
                  <a:srgbClr val="182F41"/>
                </a:solidFill>
                <a:latin typeface="Arial"/>
                <a:ea typeface="Arial"/>
                <a:cs typeface="Arial"/>
              </a:defRPr>
            </a:lvl4pPr>
            <a:lvl5pPr algn="l">
              <a:defRPr sz="1275" b="0">
                <a:solidFill>
                  <a:srgbClr val="182F41"/>
                </a:solidFill>
                <a:latin typeface="Arial"/>
                <a:ea typeface="Arial"/>
                <a:cs typeface="Arial"/>
              </a:defRPr>
            </a:lvl5pPr>
            <a:lvl6pPr algn="l">
              <a:defRPr sz="1275" b="0">
                <a:solidFill>
                  <a:srgbClr val="182F41"/>
                </a:solidFill>
                <a:latin typeface="Arial"/>
                <a:ea typeface="Arial"/>
                <a:cs typeface="Arial"/>
              </a:defRPr>
            </a:lvl6pPr>
            <a:lvl7pPr algn="l">
              <a:defRPr sz="1275" b="0">
                <a:solidFill>
                  <a:srgbClr val="182F41"/>
                </a:solidFill>
                <a:latin typeface="Arial"/>
                <a:ea typeface="Arial"/>
                <a:cs typeface="Arial"/>
              </a:defRPr>
            </a:lvl7pPr>
            <a:lvl8pPr algn="l">
              <a:defRPr sz="1275" b="0">
                <a:solidFill>
                  <a:srgbClr val="182F41"/>
                </a:solidFill>
                <a:latin typeface="Arial"/>
                <a:ea typeface="Arial"/>
                <a:cs typeface="Arial"/>
              </a:defRPr>
            </a:lvl8pPr>
            <a:lvl9pPr algn="l">
              <a:defRPr sz="1275" b="0">
                <a:solidFill>
                  <a:srgbClr val="182F41"/>
                </a:solidFill>
                <a:latin typeface="Arial"/>
                <a:ea typeface="Arial"/>
                <a:cs typeface="Arial"/>
              </a:defRPr>
            </a:lvl9pPr>
          </a:lstStyle>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Keep ETL, model, UI and support modules distinct</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Validate inputs and preserve reproducible outputs</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Inspect per-class metrics, not accuracy alone</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Build human review into the workflow</a:t>
            </a:r>
          </a:p>
        </p:txBody>
      </p:sp>
      <p:sp>
        <p:nvSpPr>
          <p:cNvPr id="13" name="closing-column">
            <a:extLst xmlns:a="http://schemas.openxmlformats.org/drawingml/2006/main">
              <a:ext uri="{FF2B5EF4-FFF2-40B4-BE49-F238E27FC236}">
                <a16:creationId xmlns:a16="http://schemas.microsoft.com/office/drawing/2014/main" id="{FC9C958D-9668-4D8D-BAFF-9B2A00385840}"/>
              </a:ext>
            </a:extLst>
          </p:cNvPr>
          <p:cNvSpPr>
            <a:spLocks xmlns:a="http://schemas.openxmlformats.org/drawingml/2006/main" noGrp="1"/>
          </p:cNvSpPr>
          <p:nvPr/>
        </p:nvSpPr>
        <p:spPr>
          <a:xfrm xmlns:a="http://schemas.openxmlformats.org/drawingml/2006/main">
            <a:off x="8115300" y="1466850"/>
            <a:ext cx="3581400" cy="3590925"/>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9E2E5"/>
            </a:solidFill>
            <a:prstDash val="solid"/>
          </a:ln>
        </p:spPr>
      </p:sp>
      <p:sp>
        <p:nvSpPr>
          <p:cNvPr id="14" name="closing-title">
            <a:extLst xmlns:a="http://schemas.openxmlformats.org/drawingml/2006/main">
              <a:ext uri="{FF2B5EF4-FFF2-40B4-BE49-F238E27FC236}">
                <a16:creationId xmlns:a16="http://schemas.microsoft.com/office/drawing/2014/main" id="{C551661B-3B62-47A7-99E3-0EF177644972}"/>
              </a:ext>
            </a:extLst>
          </p:cNvPr>
          <p:cNvSpPr>
            <a:spLocks xmlns:a="http://schemas.openxmlformats.org/drawingml/2006/main" noGrp="1"/>
          </p:cNvSpPr>
          <p:nvPr/>
        </p:nvSpPr>
        <p:spPr>
          <a:xfrm xmlns:a="http://schemas.openxmlformats.org/drawingml/2006/main">
            <a:off x="8324850" y="1695450"/>
            <a:ext cx="3162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87F78"/>
                </a:solidFill>
                <a:latin typeface="Arial"/>
                <a:ea typeface="Arial"/>
                <a:cs typeface="Arial"/>
              </a:defRPr>
            </a:defPPr>
            <a:lvl1pPr algn="l">
              <a:defRPr sz="1125" b="1">
                <a:solidFill>
                  <a:srgbClr val="087F78"/>
                </a:solidFill>
                <a:latin typeface="Arial"/>
                <a:ea typeface="Arial"/>
                <a:cs typeface="Arial"/>
              </a:defRPr>
            </a:lvl1pPr>
            <a:lvl2pPr algn="l">
              <a:defRPr sz="1125" b="1">
                <a:solidFill>
                  <a:srgbClr val="087F78"/>
                </a:solidFill>
                <a:latin typeface="Arial"/>
                <a:ea typeface="Arial"/>
                <a:cs typeface="Arial"/>
              </a:defRPr>
            </a:lvl2pPr>
            <a:lvl3pPr algn="l">
              <a:defRPr sz="1125" b="1">
                <a:solidFill>
                  <a:srgbClr val="087F78"/>
                </a:solidFill>
                <a:latin typeface="Arial"/>
                <a:ea typeface="Arial"/>
                <a:cs typeface="Arial"/>
              </a:defRPr>
            </a:lvl3pPr>
            <a:lvl4pPr algn="l">
              <a:defRPr sz="1125" b="1">
                <a:solidFill>
                  <a:srgbClr val="087F78"/>
                </a:solidFill>
                <a:latin typeface="Arial"/>
                <a:ea typeface="Arial"/>
                <a:cs typeface="Arial"/>
              </a:defRPr>
            </a:lvl4pPr>
            <a:lvl5pPr algn="l">
              <a:defRPr sz="1125" b="1">
                <a:solidFill>
                  <a:srgbClr val="087F78"/>
                </a:solidFill>
                <a:latin typeface="Arial"/>
                <a:ea typeface="Arial"/>
                <a:cs typeface="Arial"/>
              </a:defRPr>
            </a:lvl5pPr>
            <a:lvl6pPr algn="l">
              <a:defRPr sz="1125" b="1">
                <a:solidFill>
                  <a:srgbClr val="087F78"/>
                </a:solidFill>
                <a:latin typeface="Arial"/>
                <a:ea typeface="Arial"/>
                <a:cs typeface="Arial"/>
              </a:defRPr>
            </a:lvl6pPr>
            <a:lvl7pPr algn="l">
              <a:defRPr sz="1125" b="1">
                <a:solidFill>
                  <a:srgbClr val="087F78"/>
                </a:solidFill>
                <a:latin typeface="Arial"/>
                <a:ea typeface="Arial"/>
                <a:cs typeface="Arial"/>
              </a:defRPr>
            </a:lvl7pPr>
            <a:lvl8pPr algn="l">
              <a:defRPr sz="1125" b="1">
                <a:solidFill>
                  <a:srgbClr val="087F78"/>
                </a:solidFill>
                <a:latin typeface="Arial"/>
                <a:ea typeface="Arial"/>
                <a:cs typeface="Arial"/>
              </a:defRPr>
            </a:lvl8pPr>
            <a:lvl9pPr algn="l">
              <a:defRPr sz="1125" b="1">
                <a:solidFill>
                  <a:srgbClr val="087F78"/>
                </a:solidFill>
                <a:latin typeface="Arial"/>
                <a:ea typeface="Arial"/>
                <a:cs typeface="Arial"/>
              </a:defRPr>
            </a:lvl9pPr>
          </a:lstStyle>
          <a:p xmlns:a="http://schemas.openxmlformats.org/drawingml/2006/main">
            <a:pPr algn="l">
              <a:lnSpc>
                <a:spcPct val="100000"/>
              </a:lnSpc>
              <a:buNone/>
              <a:defRPr sz="1125" b="1">
                <a:solidFill>
                  <a:srgbClr val="087F78"/>
                </a:solidFill>
                <a:latin typeface="Arial"/>
                <a:ea typeface="Arial"/>
                <a:cs typeface="Arial"/>
              </a:defRPr>
            </a:pPr>
            <a:r>
              <a:rPr sz="1125" b="1">
                <a:solidFill>
                  <a:srgbClr val="087F78"/>
                </a:solidFill>
                <a:latin typeface="Arial"/>
                <a:ea typeface="Arial"/>
                <a:cs typeface="Arial"/>
              </a:rPr>
              <a:t>BEFORE KENYAN DEPLOYMENT</a:t>
            </a:r>
          </a:p>
        </p:txBody>
      </p:sp>
      <p:sp>
        <p:nvSpPr>
          <p:cNvPr id="15" name="closing-copy">
            <a:extLst xmlns:a="http://schemas.openxmlformats.org/drawingml/2006/main">
              <a:ext uri="{FF2B5EF4-FFF2-40B4-BE49-F238E27FC236}">
                <a16:creationId xmlns:a16="http://schemas.microsoft.com/office/drawing/2014/main" id="{0D0F6C3B-6756-41C4-851A-1C1FC1015ED4}"/>
              </a:ext>
            </a:extLst>
          </p:cNvPr>
          <p:cNvSpPr>
            <a:spLocks xmlns:a="http://schemas.openxmlformats.org/drawingml/2006/main" noGrp="1"/>
          </p:cNvSpPr>
          <p:nvPr/>
        </p:nvSpPr>
        <p:spPr>
          <a:xfrm xmlns:a="http://schemas.openxmlformats.org/drawingml/2006/main">
            <a:off x="8324850" y="2152650"/>
            <a:ext cx="31623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82F41"/>
                </a:solidFill>
                <a:latin typeface="Arial"/>
                <a:ea typeface="Arial"/>
                <a:cs typeface="Arial"/>
              </a:defRPr>
            </a:defPPr>
            <a:lvl1pPr algn="l">
              <a:defRPr sz="1275" b="0">
                <a:solidFill>
                  <a:srgbClr val="182F41"/>
                </a:solidFill>
                <a:latin typeface="Arial"/>
                <a:ea typeface="Arial"/>
                <a:cs typeface="Arial"/>
              </a:defRPr>
            </a:lvl1pPr>
            <a:lvl2pPr algn="l">
              <a:defRPr sz="1275" b="0">
                <a:solidFill>
                  <a:srgbClr val="182F41"/>
                </a:solidFill>
                <a:latin typeface="Arial"/>
                <a:ea typeface="Arial"/>
                <a:cs typeface="Arial"/>
              </a:defRPr>
            </a:lvl2pPr>
            <a:lvl3pPr algn="l">
              <a:defRPr sz="1275" b="0">
                <a:solidFill>
                  <a:srgbClr val="182F41"/>
                </a:solidFill>
                <a:latin typeface="Arial"/>
                <a:ea typeface="Arial"/>
                <a:cs typeface="Arial"/>
              </a:defRPr>
            </a:lvl3pPr>
            <a:lvl4pPr algn="l">
              <a:defRPr sz="1275" b="0">
                <a:solidFill>
                  <a:srgbClr val="182F41"/>
                </a:solidFill>
                <a:latin typeface="Arial"/>
                <a:ea typeface="Arial"/>
                <a:cs typeface="Arial"/>
              </a:defRPr>
            </a:lvl4pPr>
            <a:lvl5pPr algn="l">
              <a:defRPr sz="1275" b="0">
                <a:solidFill>
                  <a:srgbClr val="182F41"/>
                </a:solidFill>
                <a:latin typeface="Arial"/>
                <a:ea typeface="Arial"/>
                <a:cs typeface="Arial"/>
              </a:defRPr>
            </a:lvl5pPr>
            <a:lvl6pPr algn="l">
              <a:defRPr sz="1275" b="0">
                <a:solidFill>
                  <a:srgbClr val="182F41"/>
                </a:solidFill>
                <a:latin typeface="Arial"/>
                <a:ea typeface="Arial"/>
                <a:cs typeface="Arial"/>
              </a:defRPr>
            </a:lvl6pPr>
            <a:lvl7pPr algn="l">
              <a:defRPr sz="1275" b="0">
                <a:solidFill>
                  <a:srgbClr val="182F41"/>
                </a:solidFill>
                <a:latin typeface="Arial"/>
                <a:ea typeface="Arial"/>
                <a:cs typeface="Arial"/>
              </a:defRPr>
            </a:lvl7pPr>
            <a:lvl8pPr algn="l">
              <a:defRPr sz="1275" b="0">
                <a:solidFill>
                  <a:srgbClr val="182F41"/>
                </a:solidFill>
                <a:latin typeface="Arial"/>
                <a:ea typeface="Arial"/>
                <a:cs typeface="Arial"/>
              </a:defRPr>
            </a:lvl8pPr>
            <a:lvl9pPr algn="l">
              <a:defRPr sz="1275" b="0">
                <a:solidFill>
                  <a:srgbClr val="182F41"/>
                </a:solidFill>
                <a:latin typeface="Arial"/>
                <a:ea typeface="Arial"/>
                <a:cs typeface="Arial"/>
              </a:defRPr>
            </a:lvl9pPr>
          </a:lstStyle>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Collect lawful, locally representative data</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Validate across institutions and student groups</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Assess fairness, privacy and security</a:t>
            </a:r>
          </a:p>
          <a:p xmlns:a="http://schemas.openxmlformats.org/drawingml/2006/main">
            <a:pPr algn="l">
              <a:lnSpc>
                <a:spcPct val="108000"/>
              </a:lnSpc>
              <a:buNone/>
              <a:defRPr sz="1275" b="0">
                <a:solidFill>
                  <a:srgbClr val="182F41"/>
                </a:solidFill>
                <a:latin typeface="Arial"/>
                <a:ea typeface="Arial"/>
                <a:cs typeface="Arial"/>
              </a:defRPr>
            </a:pPr>
            <a:r>
              <a:rPr sz="1275" b="0">
                <a:solidFill>
                  <a:srgbClr val="182F41"/>
                </a:solidFill>
                <a:latin typeface="Arial"/>
                <a:ea typeface="Arial"/>
                <a:cs typeface="Arial"/>
              </a:rPr>
              <a:t>• Co-design referral pathways with campus teams</a:t>
            </a:r>
          </a:p>
        </p:txBody>
      </p:sp>
      <p:sp>
        <p:nvSpPr>
          <p:cNvPr id="16" name="closing-statement">
            <a:extLst xmlns:a="http://schemas.openxmlformats.org/drawingml/2006/main">
              <a:ext uri="{FF2B5EF4-FFF2-40B4-BE49-F238E27FC236}">
                <a16:creationId xmlns:a16="http://schemas.microsoft.com/office/drawing/2014/main" id="{7BCC51B7-09BE-4271-9EC7-2ED393C70A47}"/>
              </a:ext>
            </a:extLst>
          </p:cNvPr>
          <p:cNvSpPr>
            <a:spLocks xmlns:a="http://schemas.openxmlformats.org/drawingml/2006/main" noGrp="1"/>
          </p:cNvSpPr>
          <p:nvPr/>
        </p:nvSpPr>
        <p:spPr>
          <a:xfrm xmlns:a="http://schemas.openxmlformats.org/drawingml/2006/main">
            <a:off x="495300" y="5305425"/>
            <a:ext cx="11201400" cy="771525"/>
          </a:xfrm>
          <a:prstGeom xmlns:a="http://schemas.openxmlformats.org/drawingml/2006/main" prst="roundRect">
            <a:avLst>
              <a:gd name="adj" fmla="val 18519"/>
            </a:avLst>
          </a:prstGeom>
          <a:solidFill xmlns:a="http://schemas.openxmlformats.org/drawingml/2006/main">
            <a:srgbClr val="102B3F"/>
          </a:solidFill>
          <a:ln xmlns:a="http://schemas.openxmlformats.org/drawingml/2006/main" w="0">
            <a:noFill/>
            <a:prstDash val="solid"/>
          </a:ln>
        </p:spPr>
      </p:sp>
      <p:sp>
        <p:nvSpPr>
          <p:cNvPr id="17" name="closing-quote">
            <a:extLst xmlns:a="http://schemas.openxmlformats.org/drawingml/2006/main">
              <a:ext uri="{FF2B5EF4-FFF2-40B4-BE49-F238E27FC236}">
                <a16:creationId xmlns:a16="http://schemas.microsoft.com/office/drawing/2014/main" id="{E07A82BA-6D81-4491-AA77-46F0C9637967}"/>
              </a:ext>
            </a:extLst>
          </p:cNvPr>
          <p:cNvSpPr>
            <a:spLocks xmlns:a="http://schemas.openxmlformats.org/drawingml/2006/main" noGrp="1"/>
          </p:cNvSpPr>
          <p:nvPr/>
        </p:nvSpPr>
        <p:spPr>
          <a:xfrm xmlns:a="http://schemas.openxmlformats.org/drawingml/2006/main">
            <a:off x="723900" y="5514975"/>
            <a:ext cx="10744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79"/>
          </a:bodyP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lnSpc>
                <a:spcPct val="100000"/>
              </a:lnSpc>
              <a:buNone/>
              <a:defRPr sz="1650" b="1">
                <a:solidFill>
                  <a:srgbClr val="FFFFFF"/>
                </a:solidFill>
                <a:latin typeface="Arial"/>
                <a:ea typeface="Arial"/>
                <a:cs typeface="Arial"/>
              </a:defRPr>
            </a:pPr>
            <a:r>
              <a:rPr sz="1650" b="1">
                <a:solidFill>
                  <a:srgbClr val="FFFFFF"/>
                </a:solidFill>
                <a:latin typeface="Arial"/>
                <a:ea typeface="Arial"/>
                <a:cs typeface="Arial"/>
              </a:rPr>
              <a:t>A useful early-warning prototype should open a supportive conversation—not make a decision about a student.</a:t>
            </a:r>
          </a:p>
        </p:txBody>
      </p:sp>
      <p:sp>
        <p:nvSpPr>
          <p:cNvPr id="18" name="checks">
            <a:extLst xmlns:a="http://schemas.openxmlformats.org/drawingml/2006/main">
              <a:ext uri="{FF2B5EF4-FFF2-40B4-BE49-F238E27FC236}">
                <a16:creationId xmlns:a16="http://schemas.microsoft.com/office/drawing/2014/main" id="{EEC2379F-40B1-4D55-AA1A-0FC482C5D19B}"/>
              </a:ext>
            </a:extLst>
          </p:cNvPr>
          <p:cNvSpPr>
            <a:spLocks xmlns:a="http://schemas.openxmlformats.org/drawingml/2006/main" noGrp="1"/>
          </p:cNvSpPr>
          <p:nvPr/>
        </p:nvSpPr>
        <p:spPr>
          <a:xfrm xmlns:a="http://schemas.openxmlformats.org/drawingml/2006/main">
            <a:off x="495300" y="6162675"/>
            <a:ext cx="11201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C7180"/>
                </a:solidFill>
                <a:latin typeface="Arial"/>
                <a:ea typeface="Arial"/>
                <a:cs typeface="Arial"/>
              </a:defRPr>
            </a:defPPr>
            <a:lvl1pPr algn="ctr">
              <a:defRPr sz="975" b="0">
                <a:solidFill>
                  <a:srgbClr val="5C7180"/>
                </a:solidFill>
                <a:latin typeface="Arial"/>
                <a:ea typeface="Arial"/>
                <a:cs typeface="Arial"/>
              </a:defRPr>
            </a:lvl1pPr>
            <a:lvl2pPr algn="ctr">
              <a:defRPr sz="975" b="0">
                <a:solidFill>
                  <a:srgbClr val="5C7180"/>
                </a:solidFill>
                <a:latin typeface="Arial"/>
                <a:ea typeface="Arial"/>
                <a:cs typeface="Arial"/>
              </a:defRPr>
            </a:lvl2pPr>
            <a:lvl3pPr algn="ctr">
              <a:defRPr sz="975" b="0">
                <a:solidFill>
                  <a:srgbClr val="5C7180"/>
                </a:solidFill>
                <a:latin typeface="Arial"/>
                <a:ea typeface="Arial"/>
                <a:cs typeface="Arial"/>
              </a:defRPr>
            </a:lvl3pPr>
            <a:lvl4pPr algn="ctr">
              <a:defRPr sz="975" b="0">
                <a:solidFill>
                  <a:srgbClr val="5C7180"/>
                </a:solidFill>
                <a:latin typeface="Arial"/>
                <a:ea typeface="Arial"/>
                <a:cs typeface="Arial"/>
              </a:defRPr>
            </a:lvl4pPr>
            <a:lvl5pPr algn="ctr">
              <a:defRPr sz="975" b="0">
                <a:solidFill>
                  <a:srgbClr val="5C7180"/>
                </a:solidFill>
                <a:latin typeface="Arial"/>
                <a:ea typeface="Arial"/>
                <a:cs typeface="Arial"/>
              </a:defRPr>
            </a:lvl5pPr>
            <a:lvl6pPr algn="ctr">
              <a:defRPr sz="975" b="0">
                <a:solidFill>
                  <a:srgbClr val="5C7180"/>
                </a:solidFill>
                <a:latin typeface="Arial"/>
                <a:ea typeface="Arial"/>
                <a:cs typeface="Arial"/>
              </a:defRPr>
            </a:lvl6pPr>
            <a:lvl7pPr algn="ctr">
              <a:defRPr sz="975" b="0">
                <a:solidFill>
                  <a:srgbClr val="5C7180"/>
                </a:solidFill>
                <a:latin typeface="Arial"/>
                <a:ea typeface="Arial"/>
                <a:cs typeface="Arial"/>
              </a:defRPr>
            </a:lvl7pPr>
            <a:lvl8pPr algn="ctr">
              <a:defRPr sz="975" b="0">
                <a:solidFill>
                  <a:srgbClr val="5C7180"/>
                </a:solidFill>
                <a:latin typeface="Arial"/>
                <a:ea typeface="Arial"/>
                <a:cs typeface="Arial"/>
              </a:defRPr>
            </a:lvl8pPr>
            <a:lvl9pPr algn="ctr">
              <a:defRPr sz="975" b="0">
                <a:solidFill>
                  <a:srgbClr val="5C7180"/>
                </a:solidFill>
                <a:latin typeface="Arial"/>
                <a:ea typeface="Arial"/>
                <a:cs typeface="Arial"/>
              </a:defRPr>
            </a:lvl9pPr>
          </a:lstStyle>
          <a:p xmlns:a="http://schemas.openxmlformats.org/drawingml/2006/main">
            <a:pPr algn="ctr">
              <a:lnSpc>
                <a:spcPct val="100000"/>
              </a:lnSpc>
              <a:buNone/>
              <a:defRPr sz="975" b="0">
                <a:solidFill>
                  <a:srgbClr val="5C7180"/>
                </a:solidFill>
                <a:latin typeface="Arial"/>
                <a:ea typeface="Arial"/>
                <a:cs typeface="Arial"/>
              </a:defRPr>
            </a:pPr>
            <a:r>
              <a:rPr sz="975" b="0">
                <a:solidFill>
                  <a:srgbClr val="5C7180"/>
                </a:solidFill>
                <a:latin typeface="Arial"/>
                <a:ea typeface="Arial"/>
                <a:cs typeface="Arial"/>
              </a:rPr>
              <a:t>Repository checks previously verified: 34 pytest tests • Ruff check/format • mypy src/</a:t>
            </a:r>
          </a:p>
        </p:txBody>
      </p:sp>
    </p:spTree>
    <p:extLst>
      <p:ext uri="{BB962C8B-B14F-4D97-AF65-F5344CB8AC3E}">
        <p14:creationId xmlns:p14="http://schemas.microsoft.com/office/powerpoint/2010/main" val="1051736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2026-10-21T16:23:04.0460000Z</dcterms:created>
  <dcterms:modified xsi:type="dcterms:W3CDTF">2026-10-21T16:23:04.0460000Z</dcterms:modified>
</coreProperties>
</file>